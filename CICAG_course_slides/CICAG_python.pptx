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slide+xml" PartName="/ppt/slides/slide60.xml"/>
  <Override ContentType="application/vnd.openxmlformats-officedocument.presentationml.slide+xml" PartName="/ppt/slides/slide61.xml"/>
  <Override ContentType="application/vnd.openxmlformats-officedocument.presentationml.slide+xml" PartName="/ppt/slides/slide62.xml"/>
  <Override ContentType="application/vnd.openxmlformats-officedocument.presentationml.slide+xml" PartName="/ppt/slides/slide63.xml"/>
  <Override ContentType="application/vnd.openxmlformats-officedocument.presentationml.slide+xml" PartName="/ppt/slides/slide64.xml"/>
  <Override ContentType="application/vnd.openxmlformats-officedocument.presentationml.slide+xml" PartName="/ppt/slides/slide65.xml"/>
  <Override ContentType="application/vnd.openxmlformats-officedocument.presentationml.slide+xml" PartName="/ppt/slides/slide66.xml"/>
  <Override ContentType="application/vnd.openxmlformats-officedocument.presentationml.slide+xml" PartName="/ppt/slides/slide67.xml"/>
  <Override ContentType="application/vnd.openxmlformats-officedocument.presentationml.slide+xml" PartName="/ppt/slides/slide68.xml"/>
  <Override ContentType="application/vnd.openxmlformats-officedocument.presentationml.slide+xml" PartName="/ppt/slides/slide69.xml"/>
  <Override ContentType="application/vnd.openxmlformats-officedocument.presentationml.slide+xml" PartName="/ppt/slides/slide70.xml"/>
  <Override ContentType="application/vnd.openxmlformats-officedocument.presentationml.slide+xml" PartName="/ppt/slides/slide71.xml"/>
  <Override ContentType="application/vnd.openxmlformats-officedocument.presentationml.slide+xml" PartName="/ppt/slides/slide72.xml"/>
  <Override ContentType="application/vnd.openxmlformats-officedocument.presentationml.slide+xml" PartName="/ppt/slides/slide73.xml"/>
  <Override ContentType="application/vnd.openxmlformats-officedocument.presentationml.slide+xml" PartName="/ppt/slides/slide74.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77.xml"/>
  <Override ContentType="application/vnd.openxmlformats-officedocument.presentationml.slide+xml" PartName="/ppt/slides/slide78.xml"/>
  <Override ContentType="application/vnd.openxmlformats-officedocument.presentationml.slide+xml" PartName="/ppt/slides/slide79.xml"/>
  <Override ContentType="application/vnd.openxmlformats-officedocument.presentationml.slide+xml" PartName="/ppt/slides/slide80.xml"/>
  <Override ContentType="application/vnd.openxmlformats-officedocument.presentationml.slide+xml" PartName="/ppt/slides/slide81.xml"/>
  <Override ContentType="application/vnd.openxmlformats-officedocument.presentationml.slide+xml" PartName="/ppt/slides/slide82.xml"/>
  <Override ContentType="application/vnd.openxmlformats-officedocument.presentationml.slide+xml" PartName="/ppt/slides/slide83.xml"/>
  <Override ContentType="application/vnd.openxmlformats-officedocument.presentationml.slide+xml" PartName="/ppt/slides/slide84.xml"/>
  <Override ContentType="application/vnd.openxmlformats-officedocument.presentationml.slide+xml" PartName="/ppt/slides/slide85.xml"/>
  <Override ContentType="application/vnd.openxmlformats-officedocument.presentationml.slide+xml" PartName="/ppt/slides/slide86.xml"/>
  <Override ContentType="application/vnd.openxmlformats-officedocument.presentationml.slide+xml" PartName="/ppt/slides/slide87.xml"/>
  <Override ContentType="application/vnd.openxmlformats-officedocument.presentationml.slide+xml" PartName="/ppt/slides/slide88.xml"/>
  <Override ContentType="application/vnd.openxmlformats-officedocument.presentationml.slide+xml" PartName="/ppt/slides/slide89.xml"/>
  <Override ContentType="application/vnd.openxmlformats-officedocument.presentationml.slide+xml" PartName="/ppt/slides/slide90.xml"/>
  <Override ContentType="application/vnd.openxmlformats-officedocument.presentationml.slide+xml" PartName="/ppt/slides/slide91.xml"/>
  <Override ContentType="application/vnd.openxmlformats-officedocument.presentationml.slide+xml" PartName="/ppt/slides/slide92.xml"/>
  <Override ContentType="application/vnd.openxmlformats-officedocument.presentationml.slide+xml" PartName="/ppt/slides/slide93.xml"/>
  <Override ContentType="application/vnd.openxmlformats-officedocument.presentationml.slide+xml" PartName="/ppt/slides/slide94.xml"/>
  <Override ContentType="application/vnd.openxmlformats-officedocument.presentationml.slide+xml" PartName="/ppt/slides/slide95.xml"/>
  <Override ContentType="application/vnd.openxmlformats-officedocument.presentationml.slide+xml" PartName="/ppt/slides/slide96.xml"/>
  <Override ContentType="application/vnd.openxmlformats-officedocument.presentationml.slide+xml" PartName="/ppt/slides/slide97.xml"/>
  <Override ContentType="application/vnd.openxmlformats-officedocument.presentationml.slide+xml" PartName="/ppt/slides/slide98.xml"/>
  <Override ContentType="application/vnd.openxmlformats-officedocument.presentationml.slide+xml" PartName="/ppt/slides/slide99.xml"/>
  <Override ContentType="application/vnd.openxmlformats-officedocument.presentationml.slide+xml" PartName="/ppt/slides/slide100.xml"/>
  <Override ContentType="application/vnd.openxmlformats-officedocument.presentationml.slide+xml" PartName="/ppt/slides/slide101.xml"/>
  <Override ContentType="application/vnd.openxmlformats-officedocument.presentationml.slide+xml" PartName="/ppt/slides/slide102.xml"/>
  <Override ContentType="application/vnd.openxmlformats-officedocument.presentationml.slide+xml" PartName="/ppt/slides/slide10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Lst>
  <p:sldSz cx="18288000" cy="10287000"/>
  <p:notesSz cx="6858000" cy="9144000"/>
  <p:embeddedFontLst>
    <p:embeddedFont>
      <p:font typeface="Days" charset="1" panose="02000505050000020004"/>
      <p:regular r:id="rId109"/>
    </p:embeddedFont>
    <p:embeddedFont>
      <p:font typeface="Open Sauce Medium" charset="1" panose="00000600000000000000"/>
      <p:regular r:id="rId110"/>
    </p:embeddedFont>
    <p:embeddedFont>
      <p:font typeface="Agrandir Narrow" charset="1" panose="00000506000000000000"/>
      <p:regular r:id="rId111"/>
    </p:embeddedFont>
    <p:embeddedFont>
      <p:font typeface="Open Sauce Bold" charset="1" panose="00000800000000000000"/>
      <p:regular r:id="rId112"/>
    </p:embeddedFont>
    <p:embeddedFont>
      <p:font typeface="Open Sauce" charset="1" panose="00000500000000000000"/>
      <p:regular r:id="rId113"/>
    </p:embeddedFont>
    <p:embeddedFont>
      <p:font typeface="Open Sauce Light" charset="1" panose="00000400000000000000"/>
      <p:regular r:id="rId114"/>
    </p:embeddedFont>
    <p:embeddedFont>
      <p:font typeface="Canva Sans" charset="1" panose="020B0503030501040103"/>
      <p:regular r:id="rId115"/>
    </p:embeddedFont>
    <p:embeddedFont>
      <p:font typeface="Canva Sans Bold" charset="1" panose="020B0803030501040103"/>
      <p:regular r:id="rId1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00" Target="slides/slide95.xml" Type="http://schemas.openxmlformats.org/officeDocument/2006/relationships/slide"/><Relationship Id="rId101" Target="slides/slide96.xml" Type="http://schemas.openxmlformats.org/officeDocument/2006/relationships/slide"/><Relationship Id="rId102" Target="slides/slide97.xml" Type="http://schemas.openxmlformats.org/officeDocument/2006/relationships/slide"/><Relationship Id="rId103" Target="slides/slide98.xml" Type="http://schemas.openxmlformats.org/officeDocument/2006/relationships/slide"/><Relationship Id="rId104" Target="slides/slide99.xml" Type="http://schemas.openxmlformats.org/officeDocument/2006/relationships/slide"/><Relationship Id="rId105" Target="slides/slide100.xml" Type="http://schemas.openxmlformats.org/officeDocument/2006/relationships/slide"/><Relationship Id="rId106" Target="slides/slide101.xml" Type="http://schemas.openxmlformats.org/officeDocument/2006/relationships/slide"/><Relationship Id="rId107" Target="slides/slide102.xml" Type="http://schemas.openxmlformats.org/officeDocument/2006/relationships/slide"/><Relationship Id="rId108" Target="slides/slide103.xml" Type="http://schemas.openxmlformats.org/officeDocument/2006/relationships/slide"/><Relationship Id="rId109" Target="fonts/font109.fntdata" Type="http://schemas.openxmlformats.org/officeDocument/2006/relationships/font"/><Relationship Id="rId11" Target="slides/slide6.xml" Type="http://schemas.openxmlformats.org/officeDocument/2006/relationships/slide"/><Relationship Id="rId110" Target="fonts/font110.fntdata" Type="http://schemas.openxmlformats.org/officeDocument/2006/relationships/font"/><Relationship Id="rId111" Target="fonts/font111.fntdata" Type="http://schemas.openxmlformats.org/officeDocument/2006/relationships/font"/><Relationship Id="rId112" Target="fonts/font112.fntdata" Type="http://schemas.openxmlformats.org/officeDocument/2006/relationships/font"/><Relationship Id="rId113" Target="fonts/font113.fntdata" Type="http://schemas.openxmlformats.org/officeDocument/2006/relationships/font"/><Relationship Id="rId114" Target="fonts/font114.fntdata" Type="http://schemas.openxmlformats.org/officeDocument/2006/relationships/font"/><Relationship Id="rId115" Target="fonts/font115.fntdata" Type="http://schemas.openxmlformats.org/officeDocument/2006/relationships/font"/><Relationship Id="rId116" Target="fonts/font116.fntdata" Type="http://schemas.openxmlformats.org/officeDocument/2006/relationships/font"/><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slides/slide56.xml" Type="http://schemas.openxmlformats.org/officeDocument/2006/relationships/slide"/><Relationship Id="rId62" Target="slides/slide57.xml" Type="http://schemas.openxmlformats.org/officeDocument/2006/relationships/slide"/><Relationship Id="rId63" Target="slides/slide58.xml" Type="http://schemas.openxmlformats.org/officeDocument/2006/relationships/slide"/><Relationship Id="rId64" Target="slides/slide59.xml" Type="http://schemas.openxmlformats.org/officeDocument/2006/relationships/slide"/><Relationship Id="rId65" Target="slides/slide60.xml" Type="http://schemas.openxmlformats.org/officeDocument/2006/relationships/slide"/><Relationship Id="rId66" Target="slides/slide61.xml" Type="http://schemas.openxmlformats.org/officeDocument/2006/relationships/slide"/><Relationship Id="rId67" Target="slides/slide62.xml" Type="http://schemas.openxmlformats.org/officeDocument/2006/relationships/slide"/><Relationship Id="rId68" Target="slides/slide63.xml" Type="http://schemas.openxmlformats.org/officeDocument/2006/relationships/slide"/><Relationship Id="rId69" Target="slides/slide64.xml" Type="http://schemas.openxmlformats.org/officeDocument/2006/relationships/slide"/><Relationship Id="rId7" Target="slides/slide2.xml" Type="http://schemas.openxmlformats.org/officeDocument/2006/relationships/slide"/><Relationship Id="rId70" Target="slides/slide65.xml" Type="http://schemas.openxmlformats.org/officeDocument/2006/relationships/slide"/><Relationship Id="rId71" Target="slides/slide66.xml" Type="http://schemas.openxmlformats.org/officeDocument/2006/relationships/slide"/><Relationship Id="rId72" Target="slides/slide67.xml" Type="http://schemas.openxmlformats.org/officeDocument/2006/relationships/slide"/><Relationship Id="rId73" Target="slides/slide68.xml" Type="http://schemas.openxmlformats.org/officeDocument/2006/relationships/slide"/><Relationship Id="rId74" Target="slides/slide69.xml" Type="http://schemas.openxmlformats.org/officeDocument/2006/relationships/slide"/><Relationship Id="rId75" Target="slides/slide70.xml" Type="http://schemas.openxmlformats.org/officeDocument/2006/relationships/slide"/><Relationship Id="rId76" Target="slides/slide71.xml" Type="http://schemas.openxmlformats.org/officeDocument/2006/relationships/slide"/><Relationship Id="rId77" Target="slides/slide72.xml" Type="http://schemas.openxmlformats.org/officeDocument/2006/relationships/slide"/><Relationship Id="rId78" Target="slides/slide73.xml" Type="http://schemas.openxmlformats.org/officeDocument/2006/relationships/slide"/><Relationship Id="rId79" Target="slides/slide74.xml" Type="http://schemas.openxmlformats.org/officeDocument/2006/relationships/slide"/><Relationship Id="rId8" Target="slides/slide3.xml" Type="http://schemas.openxmlformats.org/officeDocument/2006/relationships/slide"/><Relationship Id="rId80" Target="slides/slide75.xml" Type="http://schemas.openxmlformats.org/officeDocument/2006/relationships/slide"/><Relationship Id="rId81" Target="slides/slide76.xml" Type="http://schemas.openxmlformats.org/officeDocument/2006/relationships/slide"/><Relationship Id="rId82" Target="slides/slide77.xml" Type="http://schemas.openxmlformats.org/officeDocument/2006/relationships/slide"/><Relationship Id="rId83" Target="slides/slide78.xml" Type="http://schemas.openxmlformats.org/officeDocument/2006/relationships/slide"/><Relationship Id="rId84" Target="slides/slide79.xml" Type="http://schemas.openxmlformats.org/officeDocument/2006/relationships/slide"/><Relationship Id="rId85" Target="slides/slide80.xml" Type="http://schemas.openxmlformats.org/officeDocument/2006/relationships/slide"/><Relationship Id="rId86" Target="slides/slide81.xml" Type="http://schemas.openxmlformats.org/officeDocument/2006/relationships/slide"/><Relationship Id="rId87" Target="slides/slide82.xml" Type="http://schemas.openxmlformats.org/officeDocument/2006/relationships/slide"/><Relationship Id="rId88" Target="slides/slide83.xml" Type="http://schemas.openxmlformats.org/officeDocument/2006/relationships/slide"/><Relationship Id="rId89" Target="slides/slide84.xml" Type="http://schemas.openxmlformats.org/officeDocument/2006/relationships/slide"/><Relationship Id="rId9" Target="slides/slide4.xml" Type="http://schemas.openxmlformats.org/officeDocument/2006/relationships/slide"/><Relationship Id="rId90" Target="slides/slide85.xml" Type="http://schemas.openxmlformats.org/officeDocument/2006/relationships/slide"/><Relationship Id="rId91" Target="slides/slide86.xml" Type="http://schemas.openxmlformats.org/officeDocument/2006/relationships/slide"/><Relationship Id="rId92" Target="slides/slide87.xml" Type="http://schemas.openxmlformats.org/officeDocument/2006/relationships/slide"/><Relationship Id="rId93" Target="slides/slide88.xml" Type="http://schemas.openxmlformats.org/officeDocument/2006/relationships/slide"/><Relationship Id="rId94" Target="slides/slide89.xml" Type="http://schemas.openxmlformats.org/officeDocument/2006/relationships/slide"/><Relationship Id="rId95" Target="slides/slide90.xml" Type="http://schemas.openxmlformats.org/officeDocument/2006/relationships/slide"/><Relationship Id="rId96" Target="slides/slide91.xml" Type="http://schemas.openxmlformats.org/officeDocument/2006/relationships/slide"/><Relationship Id="rId97" Target="slides/slide92.xml" Type="http://schemas.openxmlformats.org/officeDocument/2006/relationships/slide"/><Relationship Id="rId98" Target="slides/slide93.xml" Type="http://schemas.openxmlformats.org/officeDocument/2006/relationships/slide"/><Relationship Id="rId99" Target="slides/slide9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 Id="rId5" Target="../media/image10.png" Type="http://schemas.openxmlformats.org/officeDocument/2006/relationships/image"/><Relationship Id="rId6" Target="../media/image2.png" Type="http://schemas.openxmlformats.org/officeDocument/2006/relationships/image"/><Relationship Id="rId7" Target="../media/image1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2.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2.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2.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3.png" Type="http://schemas.openxmlformats.org/officeDocument/2006/relationships/image"/><Relationship Id="rId5" Target="../media/image2.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 Id="rId6" Target="../media/image2.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 Id="rId6" Target="../media/image2.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8.png" Type="http://schemas.openxmlformats.org/officeDocument/2006/relationships/image"/><Relationship Id="rId5" Target="../media/image2.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9.png" Type="http://schemas.openxmlformats.org/officeDocument/2006/relationships/image"/><Relationship Id="rId5" Target="../media/image2.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0.png" Type="http://schemas.openxmlformats.org/officeDocument/2006/relationships/image"/><Relationship Id="rId5" Target="../media/image2.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1.png" Type="http://schemas.openxmlformats.org/officeDocument/2006/relationships/image"/><Relationship Id="rId5" Target="../media/image2.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2.png" Type="http://schemas.openxmlformats.org/officeDocument/2006/relationships/image"/><Relationship Id="rId5" Target="../media/image2.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3.png" Type="http://schemas.openxmlformats.org/officeDocument/2006/relationships/image"/><Relationship Id="rId5" Target="../media/image2.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https://peps.python.org/pep-0008/" TargetMode="External" Type="http://schemas.openxmlformats.org/officeDocument/2006/relationships/hyperlink"/><Relationship Id="rId5" Target="../media/image24.png" Type="http://schemas.openxmlformats.org/officeDocument/2006/relationships/image"/><Relationship Id="rId6" Target="https://peps.python.org/pep-0008/" TargetMode="External" Type="http://schemas.openxmlformats.org/officeDocument/2006/relationships/hyperlink"/><Relationship Id="rId7" Target="../media/image2.pn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pn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5.png" Type="http://schemas.openxmlformats.org/officeDocument/2006/relationships/image"/><Relationship Id="rId5" Target="../media/image2.pn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6.png" Type="http://schemas.openxmlformats.org/officeDocument/2006/relationships/image"/><Relationship Id="rId5" Target="../media/image2.pn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7.png" Type="http://schemas.openxmlformats.org/officeDocument/2006/relationships/image"/><Relationship Id="rId5" Target="../media/image2.pn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8.png" Type="http://schemas.openxmlformats.org/officeDocument/2006/relationships/image"/><Relationship Id="rId5" Target="../media/image2.pn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pn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9.png" Type="http://schemas.openxmlformats.org/officeDocument/2006/relationships/image"/><Relationship Id="rId5" Target="../media/image2.pn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png" Type="http://schemas.openxmlformats.org/officeDocument/2006/relationships/image"/></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9.png" Type="http://schemas.openxmlformats.org/officeDocument/2006/relationships/image"/><Relationship Id="rId5" Target="../media/image2.png" Type="http://schemas.openxmlformats.org/officeDocument/2006/relationships/image"/></Relationships>
</file>

<file path=ppt/slides/_rels/slide5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9.png" Type="http://schemas.openxmlformats.org/officeDocument/2006/relationships/image"/><Relationship Id="rId5" Target="../media/image2.png" Type="http://schemas.openxmlformats.org/officeDocument/2006/relationships/image"/></Relationships>
</file>

<file path=ppt/slides/_rels/slide5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png" Type="http://schemas.openxmlformats.org/officeDocument/2006/relationships/image"/></Relationships>
</file>

<file path=ppt/slides/_rels/slide5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2.png" Type="http://schemas.openxmlformats.org/officeDocument/2006/relationships/image"/></Relationships>
</file>

<file path=ppt/slides/_rels/slide5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png" Type="http://schemas.openxmlformats.org/officeDocument/2006/relationships/image"/></Relationships>
</file>

<file path=ppt/slides/_rels/slide6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2.png" Type="http://schemas.openxmlformats.org/officeDocument/2006/relationships/image"/></Relationships>
</file>

<file path=ppt/slides/_rels/slide6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png" Type="http://schemas.openxmlformats.org/officeDocument/2006/relationships/image"/></Relationships>
</file>

<file path=ppt/slides/_rels/slide6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png" Type="http://schemas.openxmlformats.org/officeDocument/2006/relationships/image"/></Relationships>
</file>

<file path=ppt/slides/_rels/slide6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6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png" Type="http://schemas.openxmlformats.org/officeDocument/2006/relationships/image"/></Relationships>
</file>

<file path=ppt/slides/_rels/slide6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32.png" Type="http://schemas.openxmlformats.org/officeDocument/2006/relationships/image"/><Relationship Id="rId5" Target="../media/image2.png" Type="http://schemas.openxmlformats.org/officeDocument/2006/relationships/image"/></Relationships>
</file>

<file path=ppt/slides/_rels/slide6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png" Type="http://schemas.openxmlformats.org/officeDocument/2006/relationships/image"/></Relationships>
</file>

<file path=ppt/slides/_rels/slide6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png" Type="http://schemas.openxmlformats.org/officeDocument/2006/relationships/image"/></Relationships>
</file>

<file path=ppt/slides/_rels/slide6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png" Type="http://schemas.openxmlformats.org/officeDocument/2006/relationships/image"/></Relationships>
</file>

<file path=ppt/slides/_rels/slide6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33.png" Type="http://schemas.openxmlformats.org/officeDocument/2006/relationships/image"/><Relationship Id="rId5" Target="../media/image2.png" Type="http://schemas.openxmlformats.org/officeDocument/2006/relationships/image"/></Relationships>
</file>

<file path=ppt/slides/_rels/slide7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png" Type="http://schemas.openxmlformats.org/officeDocument/2006/relationships/image"/></Relationships>
</file>

<file path=ppt/slides/_rels/slide7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34.png" Type="http://schemas.openxmlformats.org/officeDocument/2006/relationships/image"/><Relationship Id="rId5" Target="../media/image35.png" Type="http://schemas.openxmlformats.org/officeDocument/2006/relationships/image"/><Relationship Id="rId6" Target="../media/image2.png" Type="http://schemas.openxmlformats.org/officeDocument/2006/relationships/image"/></Relationships>
</file>

<file path=ppt/slides/_rels/slide7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png" Type="http://schemas.openxmlformats.org/officeDocument/2006/relationships/image"/></Relationships>
</file>

<file path=ppt/slides/_rels/slide7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36.png" Type="http://schemas.openxmlformats.org/officeDocument/2006/relationships/image"/><Relationship Id="rId5" Target="../media/image2.png" Type="http://schemas.openxmlformats.org/officeDocument/2006/relationships/image"/></Relationships>
</file>

<file path=ppt/slides/_rels/slide7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png" Type="http://schemas.openxmlformats.org/officeDocument/2006/relationships/image"/></Relationships>
</file>

<file path=ppt/slides/_rels/slide7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37.png" Type="http://schemas.openxmlformats.org/officeDocument/2006/relationships/image"/><Relationship Id="rId5" Target="../media/image38.png" Type="http://schemas.openxmlformats.org/officeDocument/2006/relationships/image"/><Relationship Id="rId6" Target="../media/image39.png" Type="http://schemas.openxmlformats.org/officeDocument/2006/relationships/image"/><Relationship Id="rId7" Target="../media/image2.png" Type="http://schemas.openxmlformats.org/officeDocument/2006/relationships/image"/></Relationships>
</file>

<file path=ppt/slides/_rels/slide7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png" Type="http://schemas.openxmlformats.org/officeDocument/2006/relationships/image"/></Relationships>
</file>

<file path=ppt/slides/_rels/slide7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40.png" Type="http://schemas.openxmlformats.org/officeDocument/2006/relationships/image"/><Relationship Id="rId5" Target="../media/image2.png" Type="http://schemas.openxmlformats.org/officeDocument/2006/relationships/image"/></Relationships>
</file>

<file path=ppt/slides/_rels/slide7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png" Type="http://schemas.openxmlformats.org/officeDocument/2006/relationships/image"/></Relationships>
</file>

<file path=ppt/slides/_rels/slide7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png" Type="http://schemas.openxmlformats.org/officeDocument/2006/relationships/image"/></Relationships>
</file>

<file path=ppt/slides/_rels/slide8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png" Type="http://schemas.openxmlformats.org/officeDocument/2006/relationships/image"/></Relationships>
</file>

<file path=ppt/slides/_rels/slide8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png" Type="http://schemas.openxmlformats.org/officeDocument/2006/relationships/image"/></Relationships>
</file>

<file path=ppt/slides/_rels/slide8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png" Type="http://schemas.openxmlformats.org/officeDocument/2006/relationships/image"/></Relationships>
</file>

<file path=ppt/slides/_rels/slide8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41.png" Type="http://schemas.openxmlformats.org/officeDocument/2006/relationships/image"/><Relationship Id="rId5" Target="../media/image42.png" Type="http://schemas.openxmlformats.org/officeDocument/2006/relationships/image"/><Relationship Id="rId6" Target="../media/image43.jpeg" Type="http://schemas.openxmlformats.org/officeDocument/2006/relationships/image"/><Relationship Id="rId7" Target="../media/VAF1lzo8fpQ.mp4" Type="http://schemas.openxmlformats.org/officeDocument/2006/relationships/video"/><Relationship Id="rId8" Target="../media/VAF1lzo8fpQ.mp4" Type="http://schemas.microsoft.com/office/2007/relationships/media"/><Relationship Id="rId9" Target="../media/image2.png" Type="http://schemas.openxmlformats.org/officeDocument/2006/relationships/image"/></Relationships>
</file>

<file path=ppt/slides/_rels/slide8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png" Type="http://schemas.openxmlformats.org/officeDocument/2006/relationships/image"/></Relationships>
</file>

<file path=ppt/slides/_rels/slide8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png" Type="http://schemas.openxmlformats.org/officeDocument/2006/relationships/image"/></Relationships>
</file>

<file path=ppt/slides/_rels/slide8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44.png" Type="http://schemas.openxmlformats.org/officeDocument/2006/relationships/image"/><Relationship Id="rId5" Target="../media/image2.png" Type="http://schemas.openxmlformats.org/officeDocument/2006/relationships/image"/></Relationships>
</file>

<file path=ppt/slides/_rels/slide8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png" Type="http://schemas.openxmlformats.org/officeDocument/2006/relationships/image"/></Relationships>
</file>

<file path=ppt/slides/_rels/slide8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png" Type="http://schemas.openxmlformats.org/officeDocument/2006/relationships/image"/></Relationships>
</file>

<file path=ppt/slides/_rels/slide8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45.png" Type="http://schemas.openxmlformats.org/officeDocument/2006/relationships/image"/><Relationship Id="rId5" Target="../media/image2.png" Type="http://schemas.openxmlformats.org/officeDocument/2006/relationships/image"/></Relationships>
</file>

<file path=ppt/slides/_rels/slide9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46.png" Type="http://schemas.openxmlformats.org/officeDocument/2006/relationships/image"/><Relationship Id="rId5" Target="../media/image2.png" Type="http://schemas.openxmlformats.org/officeDocument/2006/relationships/image"/></Relationships>
</file>

<file path=ppt/slides/_rels/slide9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47.png" Type="http://schemas.openxmlformats.org/officeDocument/2006/relationships/image"/><Relationship Id="rId5" Target="../media/image48.png" Type="http://schemas.openxmlformats.org/officeDocument/2006/relationships/image"/><Relationship Id="rId6" Target="../media/image2.png" Type="http://schemas.openxmlformats.org/officeDocument/2006/relationships/image"/></Relationships>
</file>

<file path=ppt/slides/_rels/slide9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49.png" Type="http://schemas.openxmlformats.org/officeDocument/2006/relationships/image"/><Relationship Id="rId5" Target="../media/image2.png" Type="http://schemas.openxmlformats.org/officeDocument/2006/relationships/image"/></Relationships>
</file>

<file path=ppt/slides/_rels/slide9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0.png" Type="http://schemas.openxmlformats.org/officeDocument/2006/relationships/image"/><Relationship Id="rId5" Target="../media/image2.png" Type="http://schemas.openxmlformats.org/officeDocument/2006/relationships/image"/></Relationships>
</file>

<file path=ppt/slides/_rels/slide9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1.png" Type="http://schemas.openxmlformats.org/officeDocument/2006/relationships/image"/><Relationship Id="rId5" Target="../media/image2.png" Type="http://schemas.openxmlformats.org/officeDocument/2006/relationships/image"/></Relationships>
</file>

<file path=ppt/slides/_rels/slide9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2.png" Type="http://schemas.openxmlformats.org/officeDocument/2006/relationships/image"/><Relationship Id="rId5" Target="../media/image2.png" Type="http://schemas.openxmlformats.org/officeDocument/2006/relationships/image"/></Relationships>
</file>

<file path=ppt/slides/_rels/slide9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3.png" Type="http://schemas.openxmlformats.org/officeDocument/2006/relationships/image"/><Relationship Id="rId5" Target="../media/image2.png" Type="http://schemas.openxmlformats.org/officeDocument/2006/relationships/image"/></Relationships>
</file>

<file path=ppt/slides/_rels/slide9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4.png" Type="http://schemas.openxmlformats.org/officeDocument/2006/relationships/image"/><Relationship Id="rId5" Target="../media/image2.png" Type="http://schemas.openxmlformats.org/officeDocument/2006/relationships/image"/></Relationships>
</file>

<file path=ppt/slides/_rels/slide9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5.png" Type="http://schemas.openxmlformats.org/officeDocument/2006/relationships/image"/><Relationship Id="rId5" Target="../media/image2.png" Type="http://schemas.openxmlformats.org/officeDocument/2006/relationships/image"/></Relationships>
</file>

<file path=ppt/slides/_rels/slide9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6.png" Type="http://schemas.openxmlformats.org/officeDocument/2006/relationships/image"/><Relationship Id="rId5" Target="../media/image2.png" Type="http://schemas.openxmlformats.org/officeDocument/2006/relationships/image"/></Relationships>
</file>

<file path=ppt/slides/_rels/slide10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7.png" Type="http://schemas.openxmlformats.org/officeDocument/2006/relationships/image"/><Relationship Id="rId5" Target="../media/image2.png" Type="http://schemas.openxmlformats.org/officeDocument/2006/relationships/image"/></Relationships>
</file>

<file path=ppt/slides/_rels/slide10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https://www.rdkit.org/docs/source/rdkit.Chem.Descriptors.html" TargetMode="External" Type="http://schemas.openxmlformats.org/officeDocument/2006/relationships/hyperlink"/><Relationship Id="rId5" Target="../media/image2.png" Type="http://schemas.openxmlformats.org/officeDocument/2006/relationships/image"/></Relationships>
</file>

<file path=ppt/slides/_rels/slide10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https://www.rdkit.org/docs/source/rdkit.Chem.Descriptors.html" TargetMode="External" Type="http://schemas.openxmlformats.org/officeDocument/2006/relationships/hyperlink"/><Relationship Id="rId5" Target="../media/image2.png" Type="http://schemas.openxmlformats.org/officeDocument/2006/relationships/image"/></Relationships>
</file>

<file path=ppt/slides/_rels/slide10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47453">
            <a:off x="-212140" y="-387358"/>
            <a:ext cx="18712279" cy="11061715"/>
          </a:xfrm>
          <a:custGeom>
            <a:avLst/>
            <a:gdLst/>
            <a:ahLst/>
            <a:cxnLst/>
            <a:rect r="r" b="b" t="t" l="l"/>
            <a:pathLst>
              <a:path h="11061715" w="18712279">
                <a:moveTo>
                  <a:pt x="441100" y="0"/>
                </a:moveTo>
                <a:lnTo>
                  <a:pt x="18712280" y="784177"/>
                </a:lnTo>
                <a:lnTo>
                  <a:pt x="18271180" y="11061716"/>
                </a:lnTo>
                <a:lnTo>
                  <a:pt x="0" y="10277539"/>
                </a:lnTo>
                <a:lnTo>
                  <a:pt x="441100" y="0"/>
                </a:lnTo>
                <a:close/>
              </a:path>
            </a:pathLst>
          </a:custGeom>
          <a:blipFill>
            <a:blip r:embed="rId2"/>
            <a:stretch>
              <a:fillRect l="-9549" t="-14710" r="-62593" b="-49091"/>
            </a:stretch>
          </a:blipFill>
        </p:spPr>
      </p:sp>
      <p:sp>
        <p:nvSpPr>
          <p:cNvPr name="AutoShape 3" id="3"/>
          <p:cNvSpPr/>
          <p:nvPr/>
        </p:nvSpPr>
        <p:spPr>
          <a:xfrm>
            <a:off x="1564160" y="6931968"/>
            <a:ext cx="9526284" cy="0"/>
          </a:xfrm>
          <a:prstGeom prst="line">
            <a:avLst/>
          </a:prstGeom>
          <a:ln cap="rnd" w="76200">
            <a:solidFill>
              <a:srgbClr val="F5F5F5"/>
            </a:solidFill>
            <a:prstDash val="solid"/>
            <a:headEnd type="none" len="sm" w="sm"/>
            <a:tailEnd type="none" len="sm" w="sm"/>
          </a:ln>
        </p:spPr>
      </p:sp>
      <p:sp>
        <p:nvSpPr>
          <p:cNvPr name="TextBox 4" id="4"/>
          <p:cNvSpPr txBox="true"/>
          <p:nvPr/>
        </p:nvSpPr>
        <p:spPr>
          <a:xfrm rot="0">
            <a:off x="1564160" y="4209027"/>
            <a:ext cx="10495371" cy="2543755"/>
          </a:xfrm>
          <a:prstGeom prst="rect">
            <a:avLst/>
          </a:prstGeom>
        </p:spPr>
        <p:txBody>
          <a:bodyPr anchor="t" rtlCol="false" tIns="0" lIns="0" bIns="0" rIns="0">
            <a:spAutoFit/>
          </a:bodyPr>
          <a:lstStyle/>
          <a:p>
            <a:pPr algn="l">
              <a:lnSpc>
                <a:spcPts val="9950"/>
              </a:lnSpc>
            </a:pPr>
            <a:r>
              <a:rPr lang="en-US" sz="9045" spc="334">
                <a:solidFill>
                  <a:srgbClr val="FFFFFF"/>
                </a:solidFill>
                <a:latin typeface="Days"/>
                <a:ea typeface="Days"/>
                <a:cs typeface="Days"/>
                <a:sym typeface="Days"/>
              </a:rPr>
              <a:t>CICAG</a:t>
            </a:r>
          </a:p>
          <a:p>
            <a:pPr algn="l">
              <a:lnSpc>
                <a:spcPts val="9950"/>
              </a:lnSpc>
            </a:pPr>
            <a:r>
              <a:rPr lang="en-US" sz="9045" spc="334">
                <a:solidFill>
                  <a:srgbClr val="FFFFFF"/>
                </a:solidFill>
                <a:latin typeface="Days"/>
                <a:ea typeface="Days"/>
                <a:cs typeface="Days"/>
                <a:sym typeface="Days"/>
              </a:rPr>
              <a:t>Python course</a:t>
            </a:r>
          </a:p>
        </p:txBody>
      </p:sp>
      <p:sp>
        <p:nvSpPr>
          <p:cNvPr name="Freeform 5" id="5"/>
          <p:cNvSpPr/>
          <p:nvPr/>
        </p:nvSpPr>
        <p:spPr>
          <a:xfrm flipH="false" flipV="false" rot="0">
            <a:off x="-331769" y="-609444"/>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3">
              <a:alphaModFix amt="37000"/>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2923865">
            <a:off x="-2984685" y="1184351"/>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5400000">
            <a:off x="8046708" y="385825"/>
            <a:ext cx="11245538" cy="9778557"/>
            <a:chOff x="0" y="0"/>
            <a:chExt cx="2961788" cy="2575423"/>
          </a:xfrm>
        </p:grpSpPr>
        <p:sp>
          <p:nvSpPr>
            <p:cNvPr name="Freeform 4" id="4"/>
            <p:cNvSpPr/>
            <p:nvPr/>
          </p:nvSpPr>
          <p:spPr>
            <a:xfrm flipH="false" flipV="false" rot="0">
              <a:off x="0" y="0"/>
              <a:ext cx="2961788" cy="2575422"/>
            </a:xfrm>
            <a:custGeom>
              <a:avLst/>
              <a:gdLst/>
              <a:ahLst/>
              <a:cxnLst/>
              <a:rect r="r" b="b" t="t" l="l"/>
              <a:pathLst>
                <a:path h="2575422" w="2961788">
                  <a:moveTo>
                    <a:pt x="0" y="0"/>
                  </a:moveTo>
                  <a:lnTo>
                    <a:pt x="2961788" y="0"/>
                  </a:lnTo>
                  <a:lnTo>
                    <a:pt x="2961788" y="2575422"/>
                  </a:lnTo>
                  <a:lnTo>
                    <a:pt x="0" y="2575422"/>
                  </a:lnTo>
                  <a:close/>
                </a:path>
              </a:pathLst>
            </a:custGeom>
            <a:solidFill>
              <a:srgbClr val="192253"/>
            </a:solidFill>
          </p:spPr>
        </p:sp>
        <p:sp>
          <p:nvSpPr>
            <p:cNvPr name="TextBox 5" id="5"/>
            <p:cNvSpPr txBox="true"/>
            <p:nvPr/>
          </p:nvSpPr>
          <p:spPr>
            <a:xfrm>
              <a:off x="0" y="-28575"/>
              <a:ext cx="2961788" cy="2603998"/>
            </a:xfrm>
            <a:prstGeom prst="rect">
              <a:avLst/>
            </a:prstGeom>
          </p:spPr>
          <p:txBody>
            <a:bodyPr anchor="ctr" rtlCol="false" tIns="50800" lIns="50800" bIns="50800" rIns="50800"/>
            <a:lstStyle/>
            <a:p>
              <a:pPr algn="ctr">
                <a:lnSpc>
                  <a:spcPts val="1869"/>
                </a:lnSpc>
              </a:pPr>
            </a:p>
          </p:txBody>
        </p:sp>
      </p:grpSp>
      <p:sp>
        <p:nvSpPr>
          <p:cNvPr name="AutoShape 6" id="6"/>
          <p:cNvSpPr/>
          <p:nvPr/>
        </p:nvSpPr>
        <p:spPr>
          <a:xfrm flipH="true" flipV="true">
            <a:off x="-488525" y="8289279"/>
            <a:ext cx="15156557" cy="0"/>
          </a:xfrm>
          <a:prstGeom prst="line">
            <a:avLst/>
          </a:prstGeom>
          <a:ln cap="flat" w="76200">
            <a:solidFill>
              <a:srgbClr val="C23A97"/>
            </a:solidFill>
            <a:prstDash val="solid"/>
            <a:headEnd type="none" len="sm" w="sm"/>
            <a:tailEnd type="none" len="sm" w="sm"/>
          </a:ln>
        </p:spPr>
      </p:sp>
      <p:sp>
        <p:nvSpPr>
          <p:cNvPr name="AutoShape 7" id="7"/>
          <p:cNvSpPr/>
          <p:nvPr/>
        </p:nvSpPr>
        <p:spPr>
          <a:xfrm flipH="true">
            <a:off x="10559239" y="2561194"/>
            <a:ext cx="8347436" cy="0"/>
          </a:xfrm>
          <a:prstGeom prst="line">
            <a:avLst/>
          </a:prstGeom>
          <a:ln cap="flat" w="76200">
            <a:solidFill>
              <a:srgbClr val="F5F5F5"/>
            </a:solidFill>
            <a:prstDash val="solid"/>
            <a:headEnd type="none" len="sm" w="sm"/>
            <a:tailEnd type="none" len="sm" w="sm"/>
          </a:ln>
        </p:spPr>
      </p:sp>
      <p:sp>
        <p:nvSpPr>
          <p:cNvPr name="TextBox 8" id="8"/>
          <p:cNvSpPr txBox="true"/>
          <p:nvPr/>
        </p:nvSpPr>
        <p:spPr>
          <a:xfrm rot="0">
            <a:off x="12417871" y="4906804"/>
            <a:ext cx="4500323" cy="784225"/>
          </a:xfrm>
          <a:prstGeom prst="rect">
            <a:avLst/>
          </a:prstGeom>
        </p:spPr>
        <p:txBody>
          <a:bodyPr anchor="t" rtlCol="false" tIns="0" lIns="0" bIns="0" rIns="0">
            <a:spAutoFit/>
          </a:bodyPr>
          <a:lstStyle/>
          <a:p>
            <a:pPr algn="just">
              <a:lnSpc>
                <a:spcPts val="6049"/>
              </a:lnSpc>
            </a:pPr>
            <a:r>
              <a:rPr lang="en-US" b="true" sz="5499" spc="175">
                <a:solidFill>
                  <a:srgbClr val="FFFFFF"/>
                </a:solidFill>
                <a:latin typeface="Open Sauce Medium"/>
                <a:ea typeface="Open Sauce Medium"/>
                <a:cs typeface="Open Sauce Medium"/>
                <a:sym typeface="Open Sauce Medium"/>
              </a:rPr>
              <a:t>OVERVIEW</a:t>
            </a:r>
          </a:p>
        </p:txBody>
      </p:sp>
      <p:sp>
        <p:nvSpPr>
          <p:cNvPr name="Freeform 9" id="9"/>
          <p:cNvSpPr/>
          <p:nvPr/>
        </p:nvSpPr>
        <p:spPr>
          <a:xfrm flipH="false" flipV="false" rot="0">
            <a:off x="14355953" y="-347665"/>
            <a:ext cx="4202802" cy="2362325"/>
          </a:xfrm>
          <a:custGeom>
            <a:avLst/>
            <a:gdLst/>
            <a:ahLst/>
            <a:cxnLst/>
            <a:rect r="r" b="b" t="t" l="l"/>
            <a:pathLst>
              <a:path h="2362325" w="4202802">
                <a:moveTo>
                  <a:pt x="0" y="0"/>
                </a:moveTo>
                <a:lnTo>
                  <a:pt x="4202803" y="0"/>
                </a:lnTo>
                <a:lnTo>
                  <a:pt x="4202803" y="2362325"/>
                </a:lnTo>
                <a:lnTo>
                  <a:pt x="0" y="2362325"/>
                </a:lnTo>
                <a:lnTo>
                  <a:pt x="0" y="0"/>
                </a:lnTo>
                <a:close/>
              </a:path>
            </a:pathLst>
          </a:custGeom>
          <a:blipFill>
            <a:blip r:embed="rId4">
              <a:alphaModFix amt="37000"/>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8100000">
            <a:off x="-5362062" y="-1515933"/>
            <a:ext cx="16893429" cy="10074627"/>
          </a:xfrm>
          <a:custGeom>
            <a:avLst/>
            <a:gdLst/>
            <a:ahLst/>
            <a:cxnLst/>
            <a:rect r="r" b="b" t="t" l="l"/>
            <a:pathLst>
              <a:path h="10074627" w="16893429">
                <a:moveTo>
                  <a:pt x="0" y="0"/>
                </a:moveTo>
                <a:lnTo>
                  <a:pt x="16893429" y="0"/>
                </a:lnTo>
                <a:lnTo>
                  <a:pt x="16893429" y="10074627"/>
                </a:lnTo>
                <a:lnTo>
                  <a:pt x="0" y="100746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1663545"/>
            <a:ext cx="15433919" cy="7619050"/>
            <a:chOff x="0" y="0"/>
            <a:chExt cx="4064900" cy="2006663"/>
          </a:xfrm>
        </p:grpSpPr>
        <p:sp>
          <p:nvSpPr>
            <p:cNvPr name="Freeform 4" id="4"/>
            <p:cNvSpPr/>
            <p:nvPr/>
          </p:nvSpPr>
          <p:spPr>
            <a:xfrm flipH="false" flipV="false" rot="0">
              <a:off x="0" y="0"/>
              <a:ext cx="4064900" cy="2006663"/>
            </a:xfrm>
            <a:custGeom>
              <a:avLst/>
              <a:gdLst/>
              <a:ahLst/>
              <a:cxnLst/>
              <a:rect r="r" b="b" t="t" l="l"/>
              <a:pathLst>
                <a:path h="2006663" w="4064900">
                  <a:moveTo>
                    <a:pt x="0" y="0"/>
                  </a:moveTo>
                  <a:lnTo>
                    <a:pt x="4064900" y="0"/>
                  </a:lnTo>
                  <a:lnTo>
                    <a:pt x="4064900" y="2006663"/>
                  </a:lnTo>
                  <a:lnTo>
                    <a:pt x="0" y="200666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64900" cy="2035238"/>
            </a:xfrm>
            <a:prstGeom prst="rect">
              <a:avLst/>
            </a:prstGeom>
          </p:spPr>
          <p:txBody>
            <a:bodyPr anchor="ctr" rtlCol="false" tIns="50800" lIns="50800" bIns="50800" rIns="50800"/>
            <a:lstStyle/>
            <a:p>
              <a:pPr algn="ctr">
                <a:lnSpc>
                  <a:spcPts val="1869"/>
                </a:lnSpc>
              </a:pPr>
            </a:p>
          </p:txBody>
        </p:sp>
      </p:grpSp>
      <p:sp>
        <p:nvSpPr>
          <p:cNvPr name="TextBox 6" id="6"/>
          <p:cNvSpPr txBox="true"/>
          <p:nvPr/>
        </p:nvSpPr>
        <p:spPr>
          <a:xfrm rot="0">
            <a:off x="4610519" y="5876290"/>
            <a:ext cx="3736180" cy="597535"/>
          </a:xfrm>
          <a:prstGeom prst="rect">
            <a:avLst/>
          </a:prstGeom>
        </p:spPr>
        <p:txBody>
          <a:bodyPr anchor="t" rtlCol="false" tIns="0" lIns="0" bIns="0" rIns="0">
            <a:spAutoFit/>
          </a:bodyPr>
          <a:lstStyle/>
          <a:p>
            <a:pPr algn="l">
              <a:lnSpc>
                <a:spcPts val="2239"/>
              </a:lnSpc>
              <a:spcBef>
                <a:spcPct val="0"/>
              </a:spcBef>
            </a:pPr>
            <a:r>
              <a:rPr lang="en-US" sz="1599">
                <a:solidFill>
                  <a:srgbClr val="000000"/>
                </a:solidFill>
                <a:latin typeface="Agrandir Narrow"/>
                <a:ea typeface="Agrandir Narrow"/>
                <a:cs typeface="Agrandir Narrow"/>
                <a:sym typeface="Agrandir Narrow"/>
              </a:rPr>
              <a:t>All tools installed and running on your computer along.</a:t>
            </a:r>
          </a:p>
        </p:txBody>
      </p:sp>
      <p:grpSp>
        <p:nvGrpSpPr>
          <p:cNvPr name="Group 7" id="7"/>
          <p:cNvGrpSpPr/>
          <p:nvPr/>
        </p:nvGrpSpPr>
        <p:grpSpPr>
          <a:xfrm rot="0">
            <a:off x="3336346" y="5409524"/>
            <a:ext cx="898829" cy="939201"/>
            <a:chOff x="0" y="0"/>
            <a:chExt cx="1198439" cy="1252268"/>
          </a:xfrm>
        </p:grpSpPr>
        <p:grpSp>
          <p:nvGrpSpPr>
            <p:cNvPr name="Group 8" id="8"/>
            <p:cNvGrpSpPr/>
            <p:nvPr/>
          </p:nvGrpSpPr>
          <p:grpSpPr>
            <a:xfrm rot="0">
              <a:off x="0" y="0"/>
              <a:ext cx="1198439" cy="1252268"/>
              <a:chOff x="0" y="0"/>
              <a:chExt cx="354711" cy="370643"/>
            </a:xfrm>
          </p:grpSpPr>
          <p:sp>
            <p:nvSpPr>
              <p:cNvPr name="Freeform 9" id="9"/>
              <p:cNvSpPr/>
              <p:nvPr/>
            </p:nvSpPr>
            <p:spPr>
              <a:xfrm flipH="false" flipV="false" rot="0">
                <a:off x="0" y="0"/>
                <a:ext cx="354711" cy="370643"/>
              </a:xfrm>
              <a:custGeom>
                <a:avLst/>
                <a:gdLst/>
                <a:ahLst/>
                <a:cxnLst/>
                <a:rect r="r" b="b" t="t" l="l"/>
                <a:pathLst>
                  <a:path h="370643" w="354711">
                    <a:moveTo>
                      <a:pt x="0" y="0"/>
                    </a:moveTo>
                    <a:lnTo>
                      <a:pt x="354711" y="0"/>
                    </a:lnTo>
                    <a:lnTo>
                      <a:pt x="354711" y="370643"/>
                    </a:lnTo>
                    <a:lnTo>
                      <a:pt x="0" y="370643"/>
                    </a:lnTo>
                    <a:close/>
                  </a:path>
                </a:pathLst>
              </a:custGeom>
              <a:gradFill rotWithShape="true">
                <a:gsLst>
                  <a:gs pos="0">
                    <a:srgbClr val="B34593">
                      <a:alpha val="100000"/>
                    </a:srgbClr>
                  </a:gs>
                  <a:gs pos="100000">
                    <a:srgbClr val="151F52">
                      <a:alpha val="100000"/>
                    </a:srgbClr>
                  </a:gs>
                </a:gsLst>
                <a:lin ang="5400000"/>
              </a:gradFill>
            </p:spPr>
          </p:sp>
          <p:sp>
            <p:nvSpPr>
              <p:cNvPr name="TextBox 10" id="10"/>
              <p:cNvSpPr txBox="true"/>
              <p:nvPr/>
            </p:nvSpPr>
            <p:spPr>
              <a:xfrm>
                <a:off x="0" y="-38100"/>
                <a:ext cx="354711" cy="408743"/>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0" y="82960"/>
              <a:ext cx="1198439" cy="1000622"/>
            </a:xfrm>
            <a:prstGeom prst="rect">
              <a:avLst/>
            </a:prstGeom>
          </p:spPr>
          <p:txBody>
            <a:bodyPr anchor="t" rtlCol="false" tIns="0" lIns="0" bIns="0" rIns="0">
              <a:spAutoFit/>
            </a:bodyPr>
            <a:lstStyle/>
            <a:p>
              <a:pPr algn="ctr">
                <a:lnSpc>
                  <a:spcPts val="6369"/>
                </a:lnSpc>
                <a:spcBef>
                  <a:spcPct val="0"/>
                </a:spcBef>
              </a:pPr>
              <a:r>
                <a:rPr lang="en-US" b="true" sz="4549">
                  <a:solidFill>
                    <a:srgbClr val="FFFFFF"/>
                  </a:solidFill>
                  <a:latin typeface="Open Sauce Medium"/>
                  <a:ea typeface="Open Sauce Medium"/>
                  <a:cs typeface="Open Sauce Medium"/>
                  <a:sym typeface="Open Sauce Medium"/>
                </a:rPr>
                <a:t>01</a:t>
              </a:r>
            </a:p>
          </p:txBody>
        </p:sp>
      </p:grpSp>
      <p:sp>
        <p:nvSpPr>
          <p:cNvPr name="TextBox 12" id="12"/>
          <p:cNvSpPr txBox="true"/>
          <p:nvPr/>
        </p:nvSpPr>
        <p:spPr>
          <a:xfrm rot="0">
            <a:off x="4610519" y="5425445"/>
            <a:ext cx="3736180" cy="438786"/>
          </a:xfrm>
          <a:prstGeom prst="rect">
            <a:avLst/>
          </a:prstGeom>
        </p:spPr>
        <p:txBody>
          <a:bodyPr anchor="t" rtlCol="false" tIns="0" lIns="0" bIns="0" rIns="0">
            <a:spAutoFit/>
          </a:bodyPr>
          <a:lstStyle/>
          <a:p>
            <a:pPr algn="l">
              <a:lnSpc>
                <a:spcPts val="3639"/>
              </a:lnSpc>
              <a:spcBef>
                <a:spcPct val="0"/>
              </a:spcBef>
            </a:pPr>
            <a:r>
              <a:rPr lang="en-US" b="true" sz="2599">
                <a:solidFill>
                  <a:srgbClr val="000000"/>
                </a:solidFill>
                <a:latin typeface="Open Sauce Bold"/>
                <a:ea typeface="Open Sauce Bold"/>
                <a:cs typeface="Open Sauce Bold"/>
                <a:sym typeface="Open Sauce Bold"/>
              </a:rPr>
              <a:t>Setting up</a:t>
            </a:r>
          </a:p>
        </p:txBody>
      </p:sp>
      <p:sp>
        <p:nvSpPr>
          <p:cNvPr name="TextBox 13" id="13"/>
          <p:cNvSpPr txBox="true"/>
          <p:nvPr/>
        </p:nvSpPr>
        <p:spPr>
          <a:xfrm rot="0">
            <a:off x="10710592" y="5876290"/>
            <a:ext cx="3654943" cy="597535"/>
          </a:xfrm>
          <a:prstGeom prst="rect">
            <a:avLst/>
          </a:prstGeom>
        </p:spPr>
        <p:txBody>
          <a:bodyPr anchor="t" rtlCol="false" tIns="0" lIns="0" bIns="0" rIns="0">
            <a:spAutoFit/>
          </a:bodyPr>
          <a:lstStyle/>
          <a:p>
            <a:pPr algn="l">
              <a:lnSpc>
                <a:spcPts val="2239"/>
              </a:lnSpc>
              <a:spcBef>
                <a:spcPct val="0"/>
              </a:spcBef>
            </a:pPr>
            <a:r>
              <a:rPr lang="en-US" sz="1599">
                <a:solidFill>
                  <a:srgbClr val="000000"/>
                </a:solidFill>
                <a:latin typeface="Agrandir Narrow"/>
                <a:ea typeface="Agrandir Narrow"/>
                <a:cs typeface="Agrandir Narrow"/>
                <a:sym typeface="Agrandir Narrow"/>
              </a:rPr>
              <a:t>We will lay the foundations of Python for you to build upon in your own work. </a:t>
            </a:r>
          </a:p>
        </p:txBody>
      </p:sp>
      <p:sp>
        <p:nvSpPr>
          <p:cNvPr name="TextBox 14" id="14"/>
          <p:cNvSpPr txBox="true"/>
          <p:nvPr/>
        </p:nvSpPr>
        <p:spPr>
          <a:xfrm rot="0">
            <a:off x="10710592" y="5425445"/>
            <a:ext cx="5592507" cy="438786"/>
          </a:xfrm>
          <a:prstGeom prst="rect">
            <a:avLst/>
          </a:prstGeom>
        </p:spPr>
        <p:txBody>
          <a:bodyPr anchor="t" rtlCol="false" tIns="0" lIns="0" bIns="0" rIns="0">
            <a:spAutoFit/>
          </a:bodyPr>
          <a:lstStyle/>
          <a:p>
            <a:pPr algn="l">
              <a:lnSpc>
                <a:spcPts val="3639"/>
              </a:lnSpc>
              <a:spcBef>
                <a:spcPct val="0"/>
              </a:spcBef>
            </a:pPr>
            <a:r>
              <a:rPr lang="en-US" b="true" sz="2599">
                <a:solidFill>
                  <a:srgbClr val="000000"/>
                </a:solidFill>
                <a:latin typeface="Open Sauce Medium"/>
                <a:ea typeface="Open Sauce Medium"/>
                <a:cs typeface="Open Sauce Medium"/>
                <a:sym typeface="Open Sauce Medium"/>
              </a:rPr>
              <a:t>Python</a:t>
            </a:r>
          </a:p>
        </p:txBody>
      </p:sp>
      <p:sp>
        <p:nvSpPr>
          <p:cNvPr name="TextBox 15" id="15"/>
          <p:cNvSpPr txBox="true"/>
          <p:nvPr/>
        </p:nvSpPr>
        <p:spPr>
          <a:xfrm rot="0">
            <a:off x="3423303" y="3011793"/>
            <a:ext cx="11442900" cy="1009650"/>
          </a:xfrm>
          <a:prstGeom prst="rect">
            <a:avLst/>
          </a:prstGeom>
        </p:spPr>
        <p:txBody>
          <a:bodyPr anchor="t" rtlCol="false" tIns="0" lIns="0" bIns="0" rIns="0">
            <a:spAutoFit/>
          </a:bodyPr>
          <a:lstStyle/>
          <a:p>
            <a:pPr algn="ctr">
              <a:lnSpc>
                <a:spcPts val="7920"/>
              </a:lnSpc>
            </a:pPr>
            <a:r>
              <a:rPr lang="en-US" sz="6600">
                <a:solidFill>
                  <a:srgbClr val="000000"/>
                </a:solidFill>
                <a:latin typeface="Open Sauce"/>
                <a:ea typeface="Open Sauce"/>
                <a:cs typeface="Open Sauce"/>
                <a:sym typeface="Open Sauce"/>
              </a:rPr>
              <a:t>Overview</a:t>
            </a:r>
          </a:p>
        </p:txBody>
      </p:sp>
      <p:grpSp>
        <p:nvGrpSpPr>
          <p:cNvPr name="Group 16" id="16"/>
          <p:cNvGrpSpPr/>
          <p:nvPr/>
        </p:nvGrpSpPr>
        <p:grpSpPr>
          <a:xfrm rot="0">
            <a:off x="9484019" y="5394630"/>
            <a:ext cx="898829" cy="939201"/>
            <a:chOff x="0" y="0"/>
            <a:chExt cx="1198439" cy="1252268"/>
          </a:xfrm>
        </p:grpSpPr>
        <p:grpSp>
          <p:nvGrpSpPr>
            <p:cNvPr name="Group 17" id="17"/>
            <p:cNvGrpSpPr/>
            <p:nvPr/>
          </p:nvGrpSpPr>
          <p:grpSpPr>
            <a:xfrm rot="0">
              <a:off x="0" y="0"/>
              <a:ext cx="1198439" cy="1252268"/>
              <a:chOff x="0" y="0"/>
              <a:chExt cx="354711" cy="370643"/>
            </a:xfrm>
          </p:grpSpPr>
          <p:sp>
            <p:nvSpPr>
              <p:cNvPr name="Freeform 18" id="18"/>
              <p:cNvSpPr/>
              <p:nvPr/>
            </p:nvSpPr>
            <p:spPr>
              <a:xfrm flipH="false" flipV="false" rot="0">
                <a:off x="0" y="0"/>
                <a:ext cx="354711" cy="370643"/>
              </a:xfrm>
              <a:custGeom>
                <a:avLst/>
                <a:gdLst/>
                <a:ahLst/>
                <a:cxnLst/>
                <a:rect r="r" b="b" t="t" l="l"/>
                <a:pathLst>
                  <a:path h="370643" w="354711">
                    <a:moveTo>
                      <a:pt x="0" y="0"/>
                    </a:moveTo>
                    <a:lnTo>
                      <a:pt x="354711" y="0"/>
                    </a:lnTo>
                    <a:lnTo>
                      <a:pt x="354711" y="370643"/>
                    </a:lnTo>
                    <a:lnTo>
                      <a:pt x="0" y="370643"/>
                    </a:lnTo>
                    <a:close/>
                  </a:path>
                </a:pathLst>
              </a:custGeom>
              <a:gradFill rotWithShape="true">
                <a:gsLst>
                  <a:gs pos="0">
                    <a:srgbClr val="B34593">
                      <a:alpha val="100000"/>
                    </a:srgbClr>
                  </a:gs>
                  <a:gs pos="100000">
                    <a:srgbClr val="151F52">
                      <a:alpha val="100000"/>
                    </a:srgbClr>
                  </a:gs>
                </a:gsLst>
                <a:lin ang="5400000"/>
              </a:gradFill>
            </p:spPr>
          </p:sp>
          <p:sp>
            <p:nvSpPr>
              <p:cNvPr name="TextBox 19" id="19"/>
              <p:cNvSpPr txBox="true"/>
              <p:nvPr/>
            </p:nvSpPr>
            <p:spPr>
              <a:xfrm>
                <a:off x="0" y="-38100"/>
                <a:ext cx="354711" cy="408743"/>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0" y="82960"/>
              <a:ext cx="1198439" cy="1000622"/>
            </a:xfrm>
            <a:prstGeom prst="rect">
              <a:avLst/>
            </a:prstGeom>
          </p:spPr>
          <p:txBody>
            <a:bodyPr anchor="t" rtlCol="false" tIns="0" lIns="0" bIns="0" rIns="0">
              <a:spAutoFit/>
            </a:bodyPr>
            <a:lstStyle/>
            <a:p>
              <a:pPr algn="ctr">
                <a:lnSpc>
                  <a:spcPts val="6369"/>
                </a:lnSpc>
                <a:spcBef>
                  <a:spcPct val="0"/>
                </a:spcBef>
              </a:pPr>
              <a:r>
                <a:rPr lang="en-US" b="true" sz="4549">
                  <a:solidFill>
                    <a:srgbClr val="FFFFFF"/>
                  </a:solidFill>
                  <a:latin typeface="Open Sauce Medium"/>
                  <a:ea typeface="Open Sauce Medium"/>
                  <a:cs typeface="Open Sauce Medium"/>
                  <a:sym typeface="Open Sauce Medium"/>
                </a:rPr>
                <a:t>02</a:t>
              </a:r>
            </a:p>
          </p:txBody>
        </p:sp>
      </p:grpSp>
      <p:sp>
        <p:nvSpPr>
          <p:cNvPr name="Freeform 21" id="21"/>
          <p:cNvSpPr/>
          <p:nvPr/>
        </p:nvSpPr>
        <p:spPr>
          <a:xfrm flipH="false" flipV="false" rot="0">
            <a:off x="14446534" y="-609444"/>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4">
              <a:alphaModFix amt="37000"/>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2923865">
            <a:off x="-2984685" y="1184351"/>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5400000">
            <a:off x="8046708" y="385825"/>
            <a:ext cx="11245538" cy="9778557"/>
            <a:chOff x="0" y="0"/>
            <a:chExt cx="2961788" cy="2575423"/>
          </a:xfrm>
        </p:grpSpPr>
        <p:sp>
          <p:nvSpPr>
            <p:cNvPr name="Freeform 4" id="4"/>
            <p:cNvSpPr/>
            <p:nvPr/>
          </p:nvSpPr>
          <p:spPr>
            <a:xfrm flipH="false" flipV="false" rot="0">
              <a:off x="0" y="0"/>
              <a:ext cx="2961788" cy="2575422"/>
            </a:xfrm>
            <a:custGeom>
              <a:avLst/>
              <a:gdLst/>
              <a:ahLst/>
              <a:cxnLst/>
              <a:rect r="r" b="b" t="t" l="l"/>
              <a:pathLst>
                <a:path h="2575422" w="2961788">
                  <a:moveTo>
                    <a:pt x="0" y="0"/>
                  </a:moveTo>
                  <a:lnTo>
                    <a:pt x="2961788" y="0"/>
                  </a:lnTo>
                  <a:lnTo>
                    <a:pt x="2961788" y="2575422"/>
                  </a:lnTo>
                  <a:lnTo>
                    <a:pt x="0" y="2575422"/>
                  </a:lnTo>
                  <a:close/>
                </a:path>
              </a:pathLst>
            </a:custGeom>
            <a:solidFill>
              <a:srgbClr val="192253"/>
            </a:solidFill>
          </p:spPr>
        </p:sp>
        <p:sp>
          <p:nvSpPr>
            <p:cNvPr name="TextBox 5" id="5"/>
            <p:cNvSpPr txBox="true"/>
            <p:nvPr/>
          </p:nvSpPr>
          <p:spPr>
            <a:xfrm>
              <a:off x="0" y="-28575"/>
              <a:ext cx="2961788" cy="2603998"/>
            </a:xfrm>
            <a:prstGeom prst="rect">
              <a:avLst/>
            </a:prstGeom>
          </p:spPr>
          <p:txBody>
            <a:bodyPr anchor="ctr" rtlCol="false" tIns="50800" lIns="50800" bIns="50800" rIns="50800"/>
            <a:lstStyle/>
            <a:p>
              <a:pPr algn="ctr">
                <a:lnSpc>
                  <a:spcPts val="1869"/>
                </a:lnSpc>
              </a:pPr>
            </a:p>
          </p:txBody>
        </p:sp>
      </p:grpSp>
      <p:sp>
        <p:nvSpPr>
          <p:cNvPr name="AutoShape 6" id="6"/>
          <p:cNvSpPr/>
          <p:nvPr/>
        </p:nvSpPr>
        <p:spPr>
          <a:xfrm flipH="true" flipV="true">
            <a:off x="-488525" y="8289279"/>
            <a:ext cx="15156557" cy="0"/>
          </a:xfrm>
          <a:prstGeom prst="line">
            <a:avLst/>
          </a:prstGeom>
          <a:ln cap="flat" w="76200">
            <a:solidFill>
              <a:srgbClr val="C23A97"/>
            </a:solidFill>
            <a:prstDash val="solid"/>
            <a:headEnd type="none" len="sm" w="sm"/>
            <a:tailEnd type="none" len="sm" w="sm"/>
          </a:ln>
        </p:spPr>
      </p:sp>
      <p:sp>
        <p:nvSpPr>
          <p:cNvPr name="AutoShape 7" id="7"/>
          <p:cNvSpPr/>
          <p:nvPr/>
        </p:nvSpPr>
        <p:spPr>
          <a:xfrm flipH="true">
            <a:off x="10559239" y="2561194"/>
            <a:ext cx="8347436" cy="0"/>
          </a:xfrm>
          <a:prstGeom prst="line">
            <a:avLst/>
          </a:prstGeom>
          <a:ln cap="flat" w="76200">
            <a:solidFill>
              <a:srgbClr val="F5F5F5"/>
            </a:solidFill>
            <a:prstDash val="solid"/>
            <a:headEnd type="none" len="sm" w="sm"/>
            <a:tailEnd type="none" len="sm" w="sm"/>
          </a:ln>
        </p:spPr>
      </p:sp>
      <p:sp>
        <p:nvSpPr>
          <p:cNvPr name="TextBox 8" id="8"/>
          <p:cNvSpPr txBox="true"/>
          <p:nvPr/>
        </p:nvSpPr>
        <p:spPr>
          <a:xfrm rot="0">
            <a:off x="11024295" y="4906804"/>
            <a:ext cx="5893899" cy="1546225"/>
          </a:xfrm>
          <a:prstGeom prst="rect">
            <a:avLst/>
          </a:prstGeom>
        </p:spPr>
        <p:txBody>
          <a:bodyPr anchor="t" rtlCol="false" tIns="0" lIns="0" bIns="0" rIns="0">
            <a:spAutoFit/>
          </a:bodyPr>
          <a:lstStyle/>
          <a:p>
            <a:pPr algn="just">
              <a:lnSpc>
                <a:spcPts val="6049"/>
              </a:lnSpc>
            </a:pPr>
            <a:r>
              <a:rPr lang="en-US" b="true" sz="5499" spc="175">
                <a:solidFill>
                  <a:srgbClr val="FFFFFF"/>
                </a:solidFill>
                <a:latin typeface="Open Sauce Medium"/>
                <a:ea typeface="Open Sauce Medium"/>
                <a:cs typeface="Open Sauce Medium"/>
                <a:sym typeface="Open Sauce Medium"/>
              </a:rPr>
              <a:t>DOWNLOADING THE TOOLS</a:t>
            </a:r>
          </a:p>
        </p:txBody>
      </p:sp>
      <p:sp>
        <p:nvSpPr>
          <p:cNvPr name="Freeform 9" id="9"/>
          <p:cNvSpPr/>
          <p:nvPr/>
        </p:nvSpPr>
        <p:spPr>
          <a:xfrm flipH="false" flipV="false" rot="0">
            <a:off x="14355953" y="-438705"/>
            <a:ext cx="4202802" cy="2362325"/>
          </a:xfrm>
          <a:custGeom>
            <a:avLst/>
            <a:gdLst/>
            <a:ahLst/>
            <a:cxnLst/>
            <a:rect r="r" b="b" t="t" l="l"/>
            <a:pathLst>
              <a:path h="2362325" w="4202802">
                <a:moveTo>
                  <a:pt x="0" y="0"/>
                </a:moveTo>
                <a:lnTo>
                  <a:pt x="4202803" y="0"/>
                </a:lnTo>
                <a:lnTo>
                  <a:pt x="4202803" y="2362325"/>
                </a:lnTo>
                <a:lnTo>
                  <a:pt x="0" y="2362325"/>
                </a:lnTo>
                <a:lnTo>
                  <a:pt x="0" y="0"/>
                </a:lnTo>
                <a:close/>
              </a:path>
            </a:pathLst>
          </a:custGeom>
          <a:blipFill>
            <a:blip r:embed="rId4">
              <a:alphaModFix amt="37000"/>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1687" t="-65773" r="-34086" b="0"/>
            </a:stretch>
          </a:blipFill>
        </p:spPr>
      </p:sp>
      <p:grpSp>
        <p:nvGrpSpPr>
          <p:cNvPr name="Group 3" id="3"/>
          <p:cNvGrpSpPr/>
          <p:nvPr/>
        </p:nvGrpSpPr>
        <p:grpSpPr>
          <a:xfrm rot="0">
            <a:off x="1854249" y="-1190072"/>
            <a:ext cx="14579503" cy="11918432"/>
            <a:chOff x="0" y="0"/>
            <a:chExt cx="3839869" cy="3139011"/>
          </a:xfrm>
        </p:grpSpPr>
        <p:sp>
          <p:nvSpPr>
            <p:cNvPr name="Freeform 4" id="4"/>
            <p:cNvSpPr/>
            <p:nvPr/>
          </p:nvSpPr>
          <p:spPr>
            <a:xfrm flipH="false" flipV="false" rot="0">
              <a:off x="0" y="0"/>
              <a:ext cx="3839869" cy="3139011"/>
            </a:xfrm>
            <a:custGeom>
              <a:avLst/>
              <a:gdLst/>
              <a:ahLst/>
              <a:cxnLst/>
              <a:rect r="r" b="b" t="t" l="l"/>
              <a:pathLst>
                <a:path h="3139011" w="3839869">
                  <a:moveTo>
                    <a:pt x="0" y="0"/>
                  </a:moveTo>
                  <a:lnTo>
                    <a:pt x="3839869" y="0"/>
                  </a:lnTo>
                  <a:lnTo>
                    <a:pt x="3839869" y="3139011"/>
                  </a:lnTo>
                  <a:lnTo>
                    <a:pt x="0" y="3139011"/>
                  </a:lnTo>
                  <a:close/>
                </a:path>
              </a:pathLst>
            </a:custGeom>
            <a:solidFill>
              <a:srgbClr val="F5F5F5"/>
            </a:solidFill>
          </p:spPr>
        </p:sp>
        <p:sp>
          <p:nvSpPr>
            <p:cNvPr name="TextBox 5" id="5"/>
            <p:cNvSpPr txBox="true"/>
            <p:nvPr/>
          </p:nvSpPr>
          <p:spPr>
            <a:xfrm>
              <a:off x="0" y="-28575"/>
              <a:ext cx="3839869" cy="3167586"/>
            </a:xfrm>
            <a:prstGeom prst="rect">
              <a:avLst/>
            </a:prstGeom>
          </p:spPr>
          <p:txBody>
            <a:bodyPr anchor="ctr" rtlCol="false" tIns="50800" lIns="50800" bIns="50800" rIns="50800"/>
            <a:lstStyle/>
            <a:p>
              <a:pPr algn="ctr">
                <a:lnSpc>
                  <a:spcPts val="1869"/>
                </a:lnSpc>
              </a:pPr>
            </a:p>
          </p:txBody>
        </p:sp>
      </p:grpSp>
      <p:sp>
        <p:nvSpPr>
          <p:cNvPr name="AutoShape 6" id="6"/>
          <p:cNvSpPr/>
          <p:nvPr/>
        </p:nvSpPr>
        <p:spPr>
          <a:xfrm flipH="true">
            <a:off x="1854191" y="2986426"/>
            <a:ext cx="14579503" cy="21934"/>
          </a:xfrm>
          <a:prstGeom prst="line">
            <a:avLst/>
          </a:prstGeom>
          <a:ln cap="flat" w="76200">
            <a:solidFill>
              <a:srgbClr val="C23A97"/>
            </a:solidFill>
            <a:prstDash val="solid"/>
            <a:headEnd type="none" len="sm" w="sm"/>
            <a:tailEnd type="none" len="sm" w="sm"/>
          </a:ln>
        </p:spPr>
      </p:sp>
      <p:sp>
        <p:nvSpPr>
          <p:cNvPr name="Freeform 7" id="7"/>
          <p:cNvSpPr/>
          <p:nvPr/>
        </p:nvSpPr>
        <p:spPr>
          <a:xfrm flipH="false" flipV="false" rot="0">
            <a:off x="2683585" y="3855943"/>
            <a:ext cx="5054678" cy="1697954"/>
          </a:xfrm>
          <a:custGeom>
            <a:avLst/>
            <a:gdLst/>
            <a:ahLst/>
            <a:cxnLst/>
            <a:rect r="r" b="b" t="t" l="l"/>
            <a:pathLst>
              <a:path h="1697954" w="5054678">
                <a:moveTo>
                  <a:pt x="0" y="0"/>
                </a:moveTo>
                <a:lnTo>
                  <a:pt x="5054678" y="0"/>
                </a:lnTo>
                <a:lnTo>
                  <a:pt x="5054678" y="1697953"/>
                </a:lnTo>
                <a:lnTo>
                  <a:pt x="0" y="1697953"/>
                </a:lnTo>
                <a:lnTo>
                  <a:pt x="0" y="0"/>
                </a:lnTo>
                <a:close/>
              </a:path>
            </a:pathLst>
          </a:custGeom>
          <a:blipFill>
            <a:blip r:embed="rId3"/>
            <a:stretch>
              <a:fillRect l="0" t="0" r="0" b="0"/>
            </a:stretch>
          </a:blipFill>
        </p:spPr>
      </p:sp>
      <p:sp>
        <p:nvSpPr>
          <p:cNvPr name="Freeform 8" id="8"/>
          <p:cNvSpPr/>
          <p:nvPr/>
        </p:nvSpPr>
        <p:spPr>
          <a:xfrm flipH="false" flipV="false" rot="0">
            <a:off x="10331291" y="3704073"/>
            <a:ext cx="3699647" cy="1849824"/>
          </a:xfrm>
          <a:custGeom>
            <a:avLst/>
            <a:gdLst/>
            <a:ahLst/>
            <a:cxnLst/>
            <a:rect r="r" b="b" t="t" l="l"/>
            <a:pathLst>
              <a:path h="1849824" w="3699647">
                <a:moveTo>
                  <a:pt x="0" y="0"/>
                </a:moveTo>
                <a:lnTo>
                  <a:pt x="3699647" y="0"/>
                </a:lnTo>
                <a:lnTo>
                  <a:pt x="3699647" y="1849823"/>
                </a:lnTo>
                <a:lnTo>
                  <a:pt x="0" y="1849823"/>
                </a:lnTo>
                <a:lnTo>
                  <a:pt x="0" y="0"/>
                </a:lnTo>
                <a:close/>
              </a:path>
            </a:pathLst>
          </a:custGeom>
          <a:blipFill>
            <a:blip r:embed="rId4"/>
            <a:stretch>
              <a:fillRect l="0" t="0" r="0" b="0"/>
            </a:stretch>
          </a:blipFill>
        </p:spPr>
      </p:sp>
      <p:sp>
        <p:nvSpPr>
          <p:cNvPr name="Freeform 9" id="9"/>
          <p:cNvSpPr/>
          <p:nvPr/>
        </p:nvSpPr>
        <p:spPr>
          <a:xfrm flipH="false" flipV="false" rot="0">
            <a:off x="3644402" y="6895139"/>
            <a:ext cx="3518597" cy="1759298"/>
          </a:xfrm>
          <a:custGeom>
            <a:avLst/>
            <a:gdLst/>
            <a:ahLst/>
            <a:cxnLst/>
            <a:rect r="r" b="b" t="t" l="l"/>
            <a:pathLst>
              <a:path h="1759298" w="3518597">
                <a:moveTo>
                  <a:pt x="0" y="0"/>
                </a:moveTo>
                <a:lnTo>
                  <a:pt x="3518597" y="0"/>
                </a:lnTo>
                <a:lnTo>
                  <a:pt x="3518597" y="1759299"/>
                </a:lnTo>
                <a:lnTo>
                  <a:pt x="0" y="1759299"/>
                </a:lnTo>
                <a:lnTo>
                  <a:pt x="0" y="0"/>
                </a:lnTo>
                <a:close/>
              </a:path>
            </a:pathLst>
          </a:custGeom>
          <a:blipFill>
            <a:blip r:embed="rId5"/>
            <a:stretch>
              <a:fillRect l="0" t="0" r="0" b="0"/>
            </a:stretch>
          </a:blipFill>
        </p:spPr>
      </p:sp>
      <p:sp>
        <p:nvSpPr>
          <p:cNvPr name="Freeform 10" id="10"/>
          <p:cNvSpPr/>
          <p:nvPr/>
        </p:nvSpPr>
        <p:spPr>
          <a:xfrm flipH="false" flipV="false" rot="0">
            <a:off x="-331769" y="-609444"/>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6">
              <a:alphaModFix amt="37000"/>
            </a:blip>
            <a:stretch>
              <a:fillRect l="0" t="0" r="0" b="0"/>
            </a:stretch>
          </a:blipFill>
        </p:spPr>
      </p:sp>
      <p:sp>
        <p:nvSpPr>
          <p:cNvPr name="Freeform 11" id="11"/>
          <p:cNvSpPr/>
          <p:nvPr/>
        </p:nvSpPr>
        <p:spPr>
          <a:xfrm flipH="false" flipV="false" rot="0">
            <a:off x="9085458" y="7130892"/>
            <a:ext cx="6191313" cy="1287793"/>
          </a:xfrm>
          <a:custGeom>
            <a:avLst/>
            <a:gdLst/>
            <a:ahLst/>
            <a:cxnLst/>
            <a:rect r="r" b="b" t="t" l="l"/>
            <a:pathLst>
              <a:path h="1287793" w="6191313">
                <a:moveTo>
                  <a:pt x="0" y="0"/>
                </a:moveTo>
                <a:lnTo>
                  <a:pt x="6191313" y="0"/>
                </a:lnTo>
                <a:lnTo>
                  <a:pt x="6191313" y="1287793"/>
                </a:lnTo>
                <a:lnTo>
                  <a:pt x="0" y="1287793"/>
                </a:lnTo>
                <a:lnTo>
                  <a:pt x="0" y="0"/>
                </a:lnTo>
                <a:close/>
              </a:path>
            </a:pathLst>
          </a:custGeom>
          <a:blipFill>
            <a:blip r:embed="rId7"/>
            <a:stretch>
              <a:fillRect l="0" t="0" r="0" b="0"/>
            </a:stretch>
          </a:blipFill>
        </p:spPr>
      </p:sp>
      <p:sp>
        <p:nvSpPr>
          <p:cNvPr name="TextBox 12" id="12"/>
          <p:cNvSpPr txBox="true"/>
          <p:nvPr/>
        </p:nvSpPr>
        <p:spPr>
          <a:xfrm rot="0">
            <a:off x="4842521" y="1515766"/>
            <a:ext cx="8193785" cy="1137285"/>
          </a:xfrm>
          <a:prstGeom prst="rect">
            <a:avLst/>
          </a:prstGeom>
        </p:spPr>
        <p:txBody>
          <a:bodyPr anchor="t" rtlCol="false" tIns="0" lIns="0" bIns="0" rIns="0">
            <a:spAutoFit/>
          </a:bodyPr>
          <a:lstStyle/>
          <a:p>
            <a:pPr algn="ctr">
              <a:lnSpc>
                <a:spcPts val="9240"/>
              </a:lnSpc>
            </a:pPr>
            <a:r>
              <a:rPr lang="en-US" b="true" sz="6600">
                <a:solidFill>
                  <a:srgbClr val="000000"/>
                </a:solidFill>
                <a:latin typeface="Open Sauce Medium"/>
                <a:ea typeface="Open Sauce Medium"/>
                <a:cs typeface="Open Sauce Medium"/>
                <a:sym typeface="Open Sauce Medium"/>
              </a:rPr>
              <a:t>The Tools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2923865">
            <a:off x="-2984685" y="1184351"/>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5400000">
            <a:off x="8046708" y="385825"/>
            <a:ext cx="11245538" cy="9778557"/>
            <a:chOff x="0" y="0"/>
            <a:chExt cx="2961788" cy="2575423"/>
          </a:xfrm>
        </p:grpSpPr>
        <p:sp>
          <p:nvSpPr>
            <p:cNvPr name="Freeform 4" id="4"/>
            <p:cNvSpPr/>
            <p:nvPr/>
          </p:nvSpPr>
          <p:spPr>
            <a:xfrm flipH="false" flipV="false" rot="0">
              <a:off x="0" y="0"/>
              <a:ext cx="2961788" cy="2575422"/>
            </a:xfrm>
            <a:custGeom>
              <a:avLst/>
              <a:gdLst/>
              <a:ahLst/>
              <a:cxnLst/>
              <a:rect r="r" b="b" t="t" l="l"/>
              <a:pathLst>
                <a:path h="2575422" w="2961788">
                  <a:moveTo>
                    <a:pt x="0" y="0"/>
                  </a:moveTo>
                  <a:lnTo>
                    <a:pt x="2961788" y="0"/>
                  </a:lnTo>
                  <a:lnTo>
                    <a:pt x="2961788" y="2575422"/>
                  </a:lnTo>
                  <a:lnTo>
                    <a:pt x="0" y="2575422"/>
                  </a:lnTo>
                  <a:close/>
                </a:path>
              </a:pathLst>
            </a:custGeom>
            <a:solidFill>
              <a:srgbClr val="192253"/>
            </a:solidFill>
          </p:spPr>
        </p:sp>
        <p:sp>
          <p:nvSpPr>
            <p:cNvPr name="TextBox 5" id="5"/>
            <p:cNvSpPr txBox="true"/>
            <p:nvPr/>
          </p:nvSpPr>
          <p:spPr>
            <a:xfrm>
              <a:off x="0" y="-28575"/>
              <a:ext cx="2961788" cy="2603998"/>
            </a:xfrm>
            <a:prstGeom prst="rect">
              <a:avLst/>
            </a:prstGeom>
          </p:spPr>
          <p:txBody>
            <a:bodyPr anchor="ctr" rtlCol="false" tIns="50800" lIns="50800" bIns="50800" rIns="50800"/>
            <a:lstStyle/>
            <a:p>
              <a:pPr algn="ctr">
                <a:lnSpc>
                  <a:spcPts val="1869"/>
                </a:lnSpc>
              </a:pPr>
            </a:p>
          </p:txBody>
        </p:sp>
      </p:grpSp>
      <p:sp>
        <p:nvSpPr>
          <p:cNvPr name="AutoShape 6" id="6"/>
          <p:cNvSpPr/>
          <p:nvPr/>
        </p:nvSpPr>
        <p:spPr>
          <a:xfrm flipH="true" flipV="true">
            <a:off x="-488525" y="8289279"/>
            <a:ext cx="15156557" cy="0"/>
          </a:xfrm>
          <a:prstGeom prst="line">
            <a:avLst/>
          </a:prstGeom>
          <a:ln cap="flat" w="76200">
            <a:solidFill>
              <a:srgbClr val="C23A97"/>
            </a:solidFill>
            <a:prstDash val="solid"/>
            <a:headEnd type="none" len="sm" w="sm"/>
            <a:tailEnd type="none" len="sm" w="sm"/>
          </a:ln>
        </p:spPr>
      </p:sp>
      <p:sp>
        <p:nvSpPr>
          <p:cNvPr name="AutoShape 7" id="7"/>
          <p:cNvSpPr/>
          <p:nvPr/>
        </p:nvSpPr>
        <p:spPr>
          <a:xfrm flipH="true">
            <a:off x="10559239" y="2561194"/>
            <a:ext cx="8347436" cy="0"/>
          </a:xfrm>
          <a:prstGeom prst="line">
            <a:avLst/>
          </a:prstGeom>
          <a:ln cap="flat" w="76200">
            <a:solidFill>
              <a:srgbClr val="F5F5F5"/>
            </a:solidFill>
            <a:prstDash val="solid"/>
            <a:headEnd type="none" len="sm" w="sm"/>
            <a:tailEnd type="none" len="sm" w="sm"/>
          </a:ln>
        </p:spPr>
      </p:sp>
      <p:sp>
        <p:nvSpPr>
          <p:cNvPr name="TextBox 8" id="8"/>
          <p:cNvSpPr txBox="true"/>
          <p:nvPr/>
        </p:nvSpPr>
        <p:spPr>
          <a:xfrm rot="0">
            <a:off x="12417871" y="4906804"/>
            <a:ext cx="4500323" cy="784225"/>
          </a:xfrm>
          <a:prstGeom prst="rect">
            <a:avLst/>
          </a:prstGeom>
        </p:spPr>
        <p:txBody>
          <a:bodyPr anchor="t" rtlCol="false" tIns="0" lIns="0" bIns="0" rIns="0">
            <a:spAutoFit/>
          </a:bodyPr>
          <a:lstStyle/>
          <a:p>
            <a:pPr algn="just">
              <a:lnSpc>
                <a:spcPts val="6049"/>
              </a:lnSpc>
            </a:pPr>
            <a:r>
              <a:rPr lang="en-US" b="true" sz="5499" spc="175">
                <a:solidFill>
                  <a:srgbClr val="FFFFFF"/>
                </a:solidFill>
                <a:latin typeface="Open Sauce Medium"/>
                <a:ea typeface="Open Sauce Medium"/>
                <a:cs typeface="Open Sauce Medium"/>
                <a:sym typeface="Open Sauce Medium"/>
              </a:rPr>
              <a:t>KEY TERMS</a:t>
            </a:r>
          </a:p>
        </p:txBody>
      </p:sp>
      <p:sp>
        <p:nvSpPr>
          <p:cNvPr name="Freeform 9" id="9"/>
          <p:cNvSpPr/>
          <p:nvPr/>
        </p:nvSpPr>
        <p:spPr>
          <a:xfrm flipH="false" flipV="false" rot="0">
            <a:off x="14355953" y="-524074"/>
            <a:ext cx="4202802" cy="2362325"/>
          </a:xfrm>
          <a:custGeom>
            <a:avLst/>
            <a:gdLst/>
            <a:ahLst/>
            <a:cxnLst/>
            <a:rect r="r" b="b" t="t" l="l"/>
            <a:pathLst>
              <a:path h="2362325" w="4202802">
                <a:moveTo>
                  <a:pt x="0" y="0"/>
                </a:moveTo>
                <a:lnTo>
                  <a:pt x="4202803" y="0"/>
                </a:lnTo>
                <a:lnTo>
                  <a:pt x="4202803" y="2362325"/>
                </a:lnTo>
                <a:lnTo>
                  <a:pt x="0" y="2362325"/>
                </a:lnTo>
                <a:lnTo>
                  <a:pt x="0" y="0"/>
                </a:lnTo>
                <a:close/>
              </a:path>
            </a:pathLst>
          </a:custGeom>
          <a:blipFill>
            <a:blip r:embed="rId4">
              <a:alphaModFix amt="37000"/>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5015114">
            <a:off x="9759913" y="2343404"/>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47506" y="1333975"/>
            <a:ext cx="15433919" cy="7619050"/>
            <a:chOff x="0" y="0"/>
            <a:chExt cx="4064900" cy="2006663"/>
          </a:xfrm>
        </p:grpSpPr>
        <p:sp>
          <p:nvSpPr>
            <p:cNvPr name="Freeform 4" id="4"/>
            <p:cNvSpPr/>
            <p:nvPr/>
          </p:nvSpPr>
          <p:spPr>
            <a:xfrm flipH="false" flipV="false" rot="0">
              <a:off x="0" y="0"/>
              <a:ext cx="4064900" cy="2006663"/>
            </a:xfrm>
            <a:custGeom>
              <a:avLst/>
              <a:gdLst/>
              <a:ahLst/>
              <a:cxnLst/>
              <a:rect r="r" b="b" t="t" l="l"/>
              <a:pathLst>
                <a:path h="2006663" w="4064900">
                  <a:moveTo>
                    <a:pt x="0" y="0"/>
                  </a:moveTo>
                  <a:lnTo>
                    <a:pt x="4064900" y="0"/>
                  </a:lnTo>
                  <a:lnTo>
                    <a:pt x="4064900" y="2006663"/>
                  </a:lnTo>
                  <a:lnTo>
                    <a:pt x="0" y="200666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64900" cy="2035238"/>
            </a:xfrm>
            <a:prstGeom prst="rect">
              <a:avLst/>
            </a:prstGeom>
          </p:spPr>
          <p:txBody>
            <a:bodyPr anchor="ctr" rtlCol="false" tIns="50800" lIns="50800" bIns="50800" rIns="50800"/>
            <a:lstStyle/>
            <a:p>
              <a:pPr algn="ctr">
                <a:lnSpc>
                  <a:spcPts val="1869"/>
                </a:lnSpc>
              </a:pPr>
            </a:p>
          </p:txBody>
        </p:sp>
      </p:grpSp>
      <p:sp>
        <p:nvSpPr>
          <p:cNvPr name="AutoShape 6" id="6"/>
          <p:cNvSpPr/>
          <p:nvPr/>
        </p:nvSpPr>
        <p:spPr>
          <a:xfrm flipV="true">
            <a:off x="2363428" y="2652442"/>
            <a:ext cx="0" cy="5211720"/>
          </a:xfrm>
          <a:prstGeom prst="line">
            <a:avLst/>
          </a:prstGeom>
          <a:ln cap="flat" w="38100">
            <a:solidFill>
              <a:srgbClr val="192253"/>
            </a:solidFill>
            <a:prstDash val="solid"/>
            <a:headEnd type="none" len="sm" w="sm"/>
            <a:tailEnd type="none" len="sm" w="sm"/>
          </a:ln>
        </p:spPr>
      </p:sp>
      <p:grpSp>
        <p:nvGrpSpPr>
          <p:cNvPr name="Group 7" id="7"/>
          <p:cNvGrpSpPr>
            <a:grpSpLocks noChangeAspect="true"/>
          </p:cNvGrpSpPr>
          <p:nvPr/>
        </p:nvGrpSpPr>
        <p:grpSpPr>
          <a:xfrm rot="0">
            <a:off x="2178468" y="2467483"/>
            <a:ext cx="369918" cy="369918"/>
            <a:chOff x="6705600" y="1371600"/>
            <a:chExt cx="10972800" cy="10972800"/>
          </a:xfrm>
        </p:grpSpPr>
        <p:sp>
          <p:nvSpPr>
            <p:cNvPr name="Freeform 8" id="8"/>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9" id="9"/>
          <p:cNvGrpSpPr>
            <a:grpSpLocks noChangeAspect="true"/>
          </p:cNvGrpSpPr>
          <p:nvPr/>
        </p:nvGrpSpPr>
        <p:grpSpPr>
          <a:xfrm rot="0">
            <a:off x="2178468" y="4447221"/>
            <a:ext cx="369918" cy="369918"/>
            <a:chOff x="6705600" y="1371600"/>
            <a:chExt cx="10972800" cy="10972800"/>
          </a:xfrm>
        </p:grpSpPr>
        <p:sp>
          <p:nvSpPr>
            <p:cNvPr name="Freeform 10" id="10"/>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sp>
        <p:nvSpPr>
          <p:cNvPr name="TextBox 11" id="11"/>
          <p:cNvSpPr txBox="true"/>
          <p:nvPr/>
        </p:nvSpPr>
        <p:spPr>
          <a:xfrm rot="0">
            <a:off x="2762916" y="2441888"/>
            <a:ext cx="5260448"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Bash</a:t>
            </a:r>
          </a:p>
        </p:txBody>
      </p:sp>
      <p:sp>
        <p:nvSpPr>
          <p:cNvPr name="TextBox 12" id="12"/>
          <p:cNvSpPr txBox="true"/>
          <p:nvPr/>
        </p:nvSpPr>
        <p:spPr>
          <a:xfrm rot="0">
            <a:off x="2762916" y="4401675"/>
            <a:ext cx="5260448"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Python</a:t>
            </a:r>
          </a:p>
        </p:txBody>
      </p:sp>
      <p:sp>
        <p:nvSpPr>
          <p:cNvPr name="TextBox 13" id="13"/>
          <p:cNvSpPr txBox="true"/>
          <p:nvPr/>
        </p:nvSpPr>
        <p:spPr>
          <a:xfrm rot="0">
            <a:off x="2762916" y="5108368"/>
            <a:ext cx="5626420" cy="761619"/>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Python is a high-level, interpreted programming language known for its simplicity and readability. It's widely used for tasks ranging from web development to data analysis and machine learning</a:t>
            </a:r>
          </a:p>
        </p:txBody>
      </p:sp>
      <p:grpSp>
        <p:nvGrpSpPr>
          <p:cNvPr name="Group 14" id="14"/>
          <p:cNvGrpSpPr>
            <a:grpSpLocks noChangeAspect="true"/>
          </p:cNvGrpSpPr>
          <p:nvPr/>
        </p:nvGrpSpPr>
        <p:grpSpPr>
          <a:xfrm rot="0">
            <a:off x="2178468" y="6360189"/>
            <a:ext cx="369918" cy="369918"/>
            <a:chOff x="6705600" y="1371600"/>
            <a:chExt cx="10972800" cy="10972800"/>
          </a:xfrm>
        </p:grpSpPr>
        <p:sp>
          <p:nvSpPr>
            <p:cNvPr name="Freeform 15" id="15"/>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sp>
        <p:nvSpPr>
          <p:cNvPr name="TextBox 16" id="16"/>
          <p:cNvSpPr txBox="true"/>
          <p:nvPr/>
        </p:nvSpPr>
        <p:spPr>
          <a:xfrm rot="0">
            <a:off x="2762916" y="6355762"/>
            <a:ext cx="5260448"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Code editor</a:t>
            </a:r>
          </a:p>
        </p:txBody>
      </p:sp>
      <p:sp>
        <p:nvSpPr>
          <p:cNvPr name="AutoShape 17" id="17"/>
          <p:cNvSpPr/>
          <p:nvPr/>
        </p:nvSpPr>
        <p:spPr>
          <a:xfrm flipV="true">
            <a:off x="8968956" y="2652442"/>
            <a:ext cx="0" cy="5211720"/>
          </a:xfrm>
          <a:prstGeom prst="line">
            <a:avLst/>
          </a:prstGeom>
          <a:ln cap="flat" w="38100">
            <a:solidFill>
              <a:srgbClr val="192253"/>
            </a:solidFill>
            <a:prstDash val="solid"/>
            <a:headEnd type="none" len="sm" w="sm"/>
            <a:tailEnd type="none" len="sm" w="sm"/>
          </a:ln>
        </p:spPr>
      </p:sp>
      <p:grpSp>
        <p:nvGrpSpPr>
          <p:cNvPr name="Group 18" id="18"/>
          <p:cNvGrpSpPr>
            <a:grpSpLocks noChangeAspect="true"/>
          </p:cNvGrpSpPr>
          <p:nvPr/>
        </p:nvGrpSpPr>
        <p:grpSpPr>
          <a:xfrm rot="0">
            <a:off x="8783997" y="2467483"/>
            <a:ext cx="369918" cy="369918"/>
            <a:chOff x="6705600" y="1371600"/>
            <a:chExt cx="10972800" cy="10972800"/>
          </a:xfrm>
        </p:grpSpPr>
        <p:sp>
          <p:nvSpPr>
            <p:cNvPr name="Freeform 19" id="19"/>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20" id="20"/>
          <p:cNvGrpSpPr>
            <a:grpSpLocks noChangeAspect="true"/>
          </p:cNvGrpSpPr>
          <p:nvPr/>
        </p:nvGrpSpPr>
        <p:grpSpPr>
          <a:xfrm rot="0">
            <a:off x="8783997" y="4447221"/>
            <a:ext cx="369918" cy="369918"/>
            <a:chOff x="6705600" y="1371600"/>
            <a:chExt cx="10972800" cy="10972800"/>
          </a:xfrm>
        </p:grpSpPr>
        <p:sp>
          <p:nvSpPr>
            <p:cNvPr name="Freeform 21" id="21"/>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sp>
        <p:nvSpPr>
          <p:cNvPr name="TextBox 22" id="22"/>
          <p:cNvSpPr txBox="true"/>
          <p:nvPr/>
        </p:nvSpPr>
        <p:spPr>
          <a:xfrm rot="0">
            <a:off x="9368445" y="2441888"/>
            <a:ext cx="6205076"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Terminal</a:t>
            </a:r>
          </a:p>
        </p:txBody>
      </p:sp>
      <p:sp>
        <p:nvSpPr>
          <p:cNvPr name="TextBox 23" id="23"/>
          <p:cNvSpPr txBox="true"/>
          <p:nvPr/>
        </p:nvSpPr>
        <p:spPr>
          <a:xfrm rot="0">
            <a:off x="9368445" y="4401675"/>
            <a:ext cx="5260448"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Git</a:t>
            </a:r>
          </a:p>
        </p:txBody>
      </p:sp>
      <p:grpSp>
        <p:nvGrpSpPr>
          <p:cNvPr name="Group 24" id="24"/>
          <p:cNvGrpSpPr>
            <a:grpSpLocks noChangeAspect="true"/>
          </p:cNvGrpSpPr>
          <p:nvPr/>
        </p:nvGrpSpPr>
        <p:grpSpPr>
          <a:xfrm rot="0">
            <a:off x="8783997" y="6360189"/>
            <a:ext cx="369918" cy="369918"/>
            <a:chOff x="6705600" y="1371600"/>
            <a:chExt cx="10972800" cy="10972800"/>
          </a:xfrm>
        </p:grpSpPr>
        <p:sp>
          <p:nvSpPr>
            <p:cNvPr name="Freeform 25" id="25"/>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sp>
        <p:nvSpPr>
          <p:cNvPr name="TextBox 26" id="26"/>
          <p:cNvSpPr txBox="true"/>
          <p:nvPr/>
        </p:nvSpPr>
        <p:spPr>
          <a:xfrm rot="0">
            <a:off x="9368445" y="6355762"/>
            <a:ext cx="5260448"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GitHub</a:t>
            </a:r>
          </a:p>
        </p:txBody>
      </p:sp>
      <p:sp>
        <p:nvSpPr>
          <p:cNvPr name="TextBox 27" id="27"/>
          <p:cNvSpPr txBox="true"/>
          <p:nvPr/>
        </p:nvSpPr>
        <p:spPr>
          <a:xfrm rot="0">
            <a:off x="2762916" y="3103170"/>
            <a:ext cx="5626420" cy="1275969"/>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Bash, short for Bourne Again SHell, is a popular command-line interface for interacting with operating systems, particularly Unix-based systems like Linux and macOS. It is a powerful tool for software developers, enabling them to navigate file systems, run applications, and even write scripts to automate tasks.</a:t>
            </a:r>
          </a:p>
        </p:txBody>
      </p:sp>
      <p:sp>
        <p:nvSpPr>
          <p:cNvPr name="TextBox 28" id="28"/>
          <p:cNvSpPr txBox="true"/>
          <p:nvPr/>
        </p:nvSpPr>
        <p:spPr>
          <a:xfrm rot="0">
            <a:off x="2762916" y="7007272"/>
            <a:ext cx="5626420" cy="761619"/>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A code editor is a tool used by developers to write and modify programming code, offering features like syntax highlighting, auto-completion, and error detection.</a:t>
            </a:r>
          </a:p>
        </p:txBody>
      </p:sp>
      <p:sp>
        <p:nvSpPr>
          <p:cNvPr name="TextBox 29" id="29"/>
          <p:cNvSpPr txBox="true"/>
          <p:nvPr/>
        </p:nvSpPr>
        <p:spPr>
          <a:xfrm rot="0">
            <a:off x="9368445" y="3103170"/>
            <a:ext cx="5626420" cy="761619"/>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A terminal, also known as a command-line interface, is a tool that allows users to interact directly with the operating system by entering commands as text.</a:t>
            </a:r>
          </a:p>
        </p:txBody>
      </p:sp>
      <p:sp>
        <p:nvSpPr>
          <p:cNvPr name="TextBox 30" id="30"/>
          <p:cNvSpPr txBox="true"/>
          <p:nvPr/>
        </p:nvSpPr>
        <p:spPr>
          <a:xfrm rot="0">
            <a:off x="9368445" y="5080777"/>
            <a:ext cx="5626420" cy="761619"/>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Git is a distributed version control system used to track changes in source code, facilitating collaboration among developers and maintaining a history of modifications.</a:t>
            </a:r>
          </a:p>
        </p:txBody>
      </p:sp>
      <p:sp>
        <p:nvSpPr>
          <p:cNvPr name="TextBox 31" id="31"/>
          <p:cNvSpPr txBox="true"/>
          <p:nvPr/>
        </p:nvSpPr>
        <p:spPr>
          <a:xfrm rot="0">
            <a:off x="9369006" y="7007272"/>
            <a:ext cx="5626420" cy="761619"/>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GitHub is a web-based platform that uses Git for version control, providing a space for developers to host, share, and collaborate on software projects.</a:t>
            </a:r>
          </a:p>
        </p:txBody>
      </p:sp>
      <p:sp>
        <p:nvSpPr>
          <p:cNvPr name="Freeform 32" id="32"/>
          <p:cNvSpPr/>
          <p:nvPr/>
        </p:nvSpPr>
        <p:spPr>
          <a:xfrm flipH="false" flipV="false" rot="0">
            <a:off x="-331769" y="-609444"/>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4">
              <a:alphaModFix amt="37000"/>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2923865">
            <a:off x="-2984685" y="1184351"/>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5400000">
            <a:off x="8046708" y="385825"/>
            <a:ext cx="11245538" cy="9778557"/>
            <a:chOff x="0" y="0"/>
            <a:chExt cx="2961788" cy="2575423"/>
          </a:xfrm>
        </p:grpSpPr>
        <p:sp>
          <p:nvSpPr>
            <p:cNvPr name="Freeform 4" id="4"/>
            <p:cNvSpPr/>
            <p:nvPr/>
          </p:nvSpPr>
          <p:spPr>
            <a:xfrm flipH="false" flipV="false" rot="0">
              <a:off x="0" y="0"/>
              <a:ext cx="2961788" cy="2575422"/>
            </a:xfrm>
            <a:custGeom>
              <a:avLst/>
              <a:gdLst/>
              <a:ahLst/>
              <a:cxnLst/>
              <a:rect r="r" b="b" t="t" l="l"/>
              <a:pathLst>
                <a:path h="2575422" w="2961788">
                  <a:moveTo>
                    <a:pt x="0" y="0"/>
                  </a:moveTo>
                  <a:lnTo>
                    <a:pt x="2961788" y="0"/>
                  </a:lnTo>
                  <a:lnTo>
                    <a:pt x="2961788" y="2575422"/>
                  </a:lnTo>
                  <a:lnTo>
                    <a:pt x="0" y="2575422"/>
                  </a:lnTo>
                  <a:close/>
                </a:path>
              </a:pathLst>
            </a:custGeom>
            <a:solidFill>
              <a:srgbClr val="192253"/>
            </a:solidFill>
          </p:spPr>
        </p:sp>
        <p:sp>
          <p:nvSpPr>
            <p:cNvPr name="TextBox 5" id="5"/>
            <p:cNvSpPr txBox="true"/>
            <p:nvPr/>
          </p:nvSpPr>
          <p:spPr>
            <a:xfrm>
              <a:off x="0" y="-28575"/>
              <a:ext cx="2961788" cy="2603998"/>
            </a:xfrm>
            <a:prstGeom prst="rect">
              <a:avLst/>
            </a:prstGeom>
          </p:spPr>
          <p:txBody>
            <a:bodyPr anchor="ctr" rtlCol="false" tIns="50800" lIns="50800" bIns="50800" rIns="50800"/>
            <a:lstStyle/>
            <a:p>
              <a:pPr algn="ctr">
                <a:lnSpc>
                  <a:spcPts val="1869"/>
                </a:lnSpc>
              </a:pPr>
            </a:p>
          </p:txBody>
        </p:sp>
      </p:grpSp>
      <p:sp>
        <p:nvSpPr>
          <p:cNvPr name="AutoShape 6" id="6"/>
          <p:cNvSpPr/>
          <p:nvPr/>
        </p:nvSpPr>
        <p:spPr>
          <a:xfrm flipH="true" flipV="true">
            <a:off x="-488525" y="8289279"/>
            <a:ext cx="15156557" cy="0"/>
          </a:xfrm>
          <a:prstGeom prst="line">
            <a:avLst/>
          </a:prstGeom>
          <a:ln cap="flat" w="76200">
            <a:solidFill>
              <a:srgbClr val="C23A97"/>
            </a:solidFill>
            <a:prstDash val="solid"/>
            <a:headEnd type="none" len="sm" w="sm"/>
            <a:tailEnd type="none" len="sm" w="sm"/>
          </a:ln>
        </p:spPr>
      </p:sp>
      <p:sp>
        <p:nvSpPr>
          <p:cNvPr name="AutoShape 7" id="7"/>
          <p:cNvSpPr/>
          <p:nvPr/>
        </p:nvSpPr>
        <p:spPr>
          <a:xfrm flipH="true">
            <a:off x="10559239" y="2561194"/>
            <a:ext cx="8347436" cy="0"/>
          </a:xfrm>
          <a:prstGeom prst="line">
            <a:avLst/>
          </a:prstGeom>
          <a:ln cap="flat" w="76200">
            <a:solidFill>
              <a:srgbClr val="F5F5F5"/>
            </a:solidFill>
            <a:prstDash val="solid"/>
            <a:headEnd type="none" len="sm" w="sm"/>
            <a:tailEnd type="none" len="sm" w="sm"/>
          </a:ln>
        </p:spPr>
      </p:sp>
      <p:sp>
        <p:nvSpPr>
          <p:cNvPr name="TextBox 8" id="8"/>
          <p:cNvSpPr txBox="true"/>
          <p:nvPr/>
        </p:nvSpPr>
        <p:spPr>
          <a:xfrm rot="0">
            <a:off x="12417871" y="4906804"/>
            <a:ext cx="4500323" cy="784225"/>
          </a:xfrm>
          <a:prstGeom prst="rect">
            <a:avLst/>
          </a:prstGeom>
        </p:spPr>
        <p:txBody>
          <a:bodyPr anchor="t" rtlCol="false" tIns="0" lIns="0" bIns="0" rIns="0">
            <a:spAutoFit/>
          </a:bodyPr>
          <a:lstStyle/>
          <a:p>
            <a:pPr algn="l">
              <a:lnSpc>
                <a:spcPts val="6049"/>
              </a:lnSpc>
            </a:pPr>
            <a:r>
              <a:rPr lang="en-US" b="true" sz="5499" spc="175">
                <a:solidFill>
                  <a:srgbClr val="FFFFFF"/>
                </a:solidFill>
                <a:latin typeface="Open Sauce Medium"/>
                <a:ea typeface="Open Sauce Medium"/>
                <a:cs typeface="Open Sauce Medium"/>
                <a:sym typeface="Open Sauce Medium"/>
              </a:rPr>
              <a:t>VSCODE</a:t>
            </a:r>
          </a:p>
        </p:txBody>
      </p:sp>
      <p:sp>
        <p:nvSpPr>
          <p:cNvPr name="Freeform 9" id="9"/>
          <p:cNvSpPr/>
          <p:nvPr/>
        </p:nvSpPr>
        <p:spPr>
          <a:xfrm flipH="false" flipV="false" rot="0">
            <a:off x="14355953" y="-347665"/>
            <a:ext cx="4202802" cy="2362325"/>
          </a:xfrm>
          <a:custGeom>
            <a:avLst/>
            <a:gdLst/>
            <a:ahLst/>
            <a:cxnLst/>
            <a:rect r="r" b="b" t="t" l="l"/>
            <a:pathLst>
              <a:path h="2362325" w="4202802">
                <a:moveTo>
                  <a:pt x="0" y="0"/>
                </a:moveTo>
                <a:lnTo>
                  <a:pt x="4202803" y="0"/>
                </a:lnTo>
                <a:lnTo>
                  <a:pt x="4202803" y="2362325"/>
                </a:lnTo>
                <a:lnTo>
                  <a:pt x="0" y="2362325"/>
                </a:lnTo>
                <a:lnTo>
                  <a:pt x="0" y="0"/>
                </a:lnTo>
                <a:close/>
              </a:path>
            </a:pathLst>
          </a:custGeom>
          <a:blipFill>
            <a:blip r:embed="rId4">
              <a:alphaModFix amt="37000"/>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690092" y="2372147"/>
            <a:ext cx="20370072" cy="6018193"/>
            <a:chOff x="0" y="0"/>
            <a:chExt cx="5364957" cy="1585039"/>
          </a:xfrm>
        </p:grpSpPr>
        <p:sp>
          <p:nvSpPr>
            <p:cNvPr name="Freeform 4" id="4"/>
            <p:cNvSpPr/>
            <p:nvPr/>
          </p:nvSpPr>
          <p:spPr>
            <a:xfrm flipH="false" flipV="false" rot="0">
              <a:off x="0" y="0"/>
              <a:ext cx="5364957" cy="1585039"/>
            </a:xfrm>
            <a:custGeom>
              <a:avLst/>
              <a:gdLst/>
              <a:ahLst/>
              <a:cxnLst/>
              <a:rect r="r" b="b" t="t" l="l"/>
              <a:pathLst>
                <a:path h="1585039" w="5364957">
                  <a:moveTo>
                    <a:pt x="0" y="0"/>
                  </a:moveTo>
                  <a:lnTo>
                    <a:pt x="5364957" y="0"/>
                  </a:lnTo>
                  <a:lnTo>
                    <a:pt x="5364957" y="1585039"/>
                  </a:lnTo>
                  <a:lnTo>
                    <a:pt x="0" y="1585039"/>
                  </a:lnTo>
                  <a:close/>
                </a:path>
              </a:pathLst>
            </a:custGeom>
            <a:solidFill>
              <a:srgbClr val="F5F5F5"/>
            </a:solidFill>
          </p:spPr>
        </p:sp>
        <p:sp>
          <p:nvSpPr>
            <p:cNvPr name="TextBox 5" id="5"/>
            <p:cNvSpPr txBox="true"/>
            <p:nvPr/>
          </p:nvSpPr>
          <p:spPr>
            <a:xfrm>
              <a:off x="0" y="-28575"/>
              <a:ext cx="5364957" cy="1613614"/>
            </a:xfrm>
            <a:prstGeom prst="rect">
              <a:avLst/>
            </a:prstGeom>
          </p:spPr>
          <p:txBody>
            <a:bodyPr anchor="ctr" rtlCol="false" tIns="50800" lIns="50800" bIns="50800" rIns="50800"/>
            <a:lstStyle/>
            <a:p>
              <a:pPr algn="ctr">
                <a:lnSpc>
                  <a:spcPts val="1869"/>
                </a:lnSpc>
              </a:pPr>
            </a:p>
          </p:txBody>
        </p:sp>
      </p:grpSp>
      <p:sp>
        <p:nvSpPr>
          <p:cNvPr name="TextBox 6" id="6"/>
          <p:cNvSpPr txBox="true"/>
          <p:nvPr/>
        </p:nvSpPr>
        <p:spPr>
          <a:xfrm rot="0">
            <a:off x="1622987" y="3491865"/>
            <a:ext cx="6543672" cy="898081"/>
          </a:xfrm>
          <a:prstGeom prst="rect">
            <a:avLst/>
          </a:prstGeom>
        </p:spPr>
        <p:txBody>
          <a:bodyPr anchor="t" rtlCol="false" tIns="0" lIns="0" bIns="0" rIns="0">
            <a:spAutoFit/>
          </a:bodyPr>
          <a:lstStyle/>
          <a:p>
            <a:pPr algn="r">
              <a:lnSpc>
                <a:spcPts val="6836"/>
              </a:lnSpc>
            </a:pPr>
            <a:r>
              <a:rPr lang="en-US" sz="6215" spc="198">
                <a:solidFill>
                  <a:srgbClr val="000000"/>
                </a:solidFill>
                <a:latin typeface="Days"/>
                <a:ea typeface="Days"/>
                <a:cs typeface="Days"/>
                <a:sym typeface="Days"/>
              </a:rPr>
              <a:t>VSCode</a:t>
            </a:r>
          </a:p>
        </p:txBody>
      </p:sp>
      <p:sp>
        <p:nvSpPr>
          <p:cNvPr name="TextBox 7" id="7"/>
          <p:cNvSpPr txBox="true"/>
          <p:nvPr/>
        </p:nvSpPr>
        <p:spPr>
          <a:xfrm rot="0">
            <a:off x="8785041" y="3670478"/>
            <a:ext cx="9176347" cy="2550033"/>
          </a:xfrm>
          <a:prstGeom prst="rect">
            <a:avLst/>
          </a:prstGeom>
        </p:spPr>
        <p:txBody>
          <a:bodyPr anchor="t" rtlCol="false" tIns="0" lIns="0" bIns="0" rIns="0">
            <a:spAutoFit/>
          </a:bodyPr>
          <a:lstStyle/>
          <a:p>
            <a:pPr algn="l">
              <a:lnSpc>
                <a:spcPts val="3380"/>
              </a:lnSpc>
            </a:pPr>
            <a:r>
              <a:rPr lang="en-US" sz="2299">
                <a:solidFill>
                  <a:srgbClr val="000000"/>
                </a:solidFill>
                <a:latin typeface="Open Sauce Light"/>
                <a:ea typeface="Open Sauce Light"/>
                <a:cs typeface="Open Sauce Light"/>
                <a:sym typeface="Open Sauce Light"/>
              </a:rPr>
              <a:t>Visual Studio Code (VSCode) is a </a:t>
            </a:r>
            <a:r>
              <a:rPr lang="en-US" sz="2299" b="true">
                <a:solidFill>
                  <a:srgbClr val="000000"/>
                </a:solidFill>
                <a:latin typeface="Open Sauce Bold"/>
                <a:ea typeface="Open Sauce Bold"/>
                <a:cs typeface="Open Sauce Bold"/>
                <a:sym typeface="Open Sauce Bold"/>
              </a:rPr>
              <a:t>free and open-source</a:t>
            </a:r>
            <a:r>
              <a:rPr lang="en-US" sz="2299">
                <a:solidFill>
                  <a:srgbClr val="000000"/>
                </a:solidFill>
                <a:latin typeface="Open Sauce Light"/>
                <a:ea typeface="Open Sauce Light"/>
                <a:cs typeface="Open Sauce Light"/>
                <a:sym typeface="Open Sauce Light"/>
              </a:rPr>
              <a:t>, lightweight but powerful source code editor developed by Microsoft. It comes with built-in support for JavaScript, TypeScript, and Node.js, and has a</a:t>
            </a:r>
            <a:r>
              <a:rPr lang="en-US" sz="2299" b="true">
                <a:solidFill>
                  <a:srgbClr val="000000"/>
                </a:solidFill>
                <a:latin typeface="Open Sauce Bold"/>
                <a:ea typeface="Open Sauce Bold"/>
                <a:cs typeface="Open Sauce Bold"/>
                <a:sym typeface="Open Sauce Bold"/>
              </a:rPr>
              <a:t> rich ecosystem of extensions for other languages (such as Python</a:t>
            </a:r>
            <a:r>
              <a:rPr lang="en-US" sz="2299">
                <a:solidFill>
                  <a:srgbClr val="000000"/>
                </a:solidFill>
                <a:latin typeface="Open Sauce Light"/>
                <a:ea typeface="Open Sauce Light"/>
                <a:cs typeface="Open Sauce Light"/>
                <a:sym typeface="Open Sauce Light"/>
              </a:rPr>
              <a:t>, R, C++, and more) and runtimes.</a:t>
            </a:r>
          </a:p>
        </p:txBody>
      </p:sp>
      <p:sp>
        <p:nvSpPr>
          <p:cNvPr name="TextBox 8" id="8"/>
          <p:cNvSpPr txBox="true"/>
          <p:nvPr/>
        </p:nvSpPr>
        <p:spPr>
          <a:xfrm rot="0">
            <a:off x="312156" y="4492688"/>
            <a:ext cx="7578278" cy="888556"/>
          </a:xfrm>
          <a:prstGeom prst="rect">
            <a:avLst/>
          </a:prstGeom>
        </p:spPr>
        <p:txBody>
          <a:bodyPr anchor="t" rtlCol="false" tIns="0" lIns="0" bIns="0" rIns="0">
            <a:spAutoFit/>
          </a:bodyPr>
          <a:lstStyle/>
          <a:p>
            <a:pPr algn="r">
              <a:lnSpc>
                <a:spcPts val="6836"/>
              </a:lnSpc>
            </a:pPr>
            <a:r>
              <a:rPr lang="en-US" sz="6215" spc="198">
                <a:solidFill>
                  <a:srgbClr val="000000"/>
                </a:solidFill>
                <a:latin typeface="Open Sauce"/>
                <a:ea typeface="Open Sauce"/>
                <a:cs typeface="Open Sauce"/>
                <a:sym typeface="Open Sauce"/>
              </a:rPr>
              <a:t>What is it?</a:t>
            </a:r>
          </a:p>
        </p:txBody>
      </p:sp>
      <p:sp>
        <p:nvSpPr>
          <p:cNvPr name="AutoShape 9" id="9"/>
          <p:cNvSpPr/>
          <p:nvPr/>
        </p:nvSpPr>
        <p:spPr>
          <a:xfrm flipH="true" flipV="true">
            <a:off x="-7266123" y="5614472"/>
            <a:ext cx="15156557" cy="0"/>
          </a:xfrm>
          <a:prstGeom prst="line">
            <a:avLst/>
          </a:prstGeom>
          <a:ln cap="flat" w="76200">
            <a:solidFill>
              <a:srgbClr val="C23A97"/>
            </a:solidFill>
            <a:prstDash val="solid"/>
            <a:headEnd type="none" len="sm" w="sm"/>
            <a:tailEnd type="none" len="sm" w="sm"/>
          </a:ln>
        </p:spPr>
      </p:sp>
      <p:sp>
        <p:nvSpPr>
          <p:cNvPr name="Freeform 10" id="10"/>
          <p:cNvSpPr/>
          <p:nvPr/>
        </p:nvSpPr>
        <p:spPr>
          <a:xfrm flipH="false" flipV="false" rot="0">
            <a:off x="-331769" y="-609444"/>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3">
              <a:alphaModFix amt="37000"/>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690092" y="2372147"/>
            <a:ext cx="20370072" cy="6018193"/>
            <a:chOff x="0" y="0"/>
            <a:chExt cx="5364957" cy="1585039"/>
          </a:xfrm>
        </p:grpSpPr>
        <p:sp>
          <p:nvSpPr>
            <p:cNvPr name="Freeform 4" id="4"/>
            <p:cNvSpPr/>
            <p:nvPr/>
          </p:nvSpPr>
          <p:spPr>
            <a:xfrm flipH="false" flipV="false" rot="0">
              <a:off x="0" y="0"/>
              <a:ext cx="5364957" cy="1585039"/>
            </a:xfrm>
            <a:custGeom>
              <a:avLst/>
              <a:gdLst/>
              <a:ahLst/>
              <a:cxnLst/>
              <a:rect r="r" b="b" t="t" l="l"/>
              <a:pathLst>
                <a:path h="1585039" w="5364957">
                  <a:moveTo>
                    <a:pt x="0" y="0"/>
                  </a:moveTo>
                  <a:lnTo>
                    <a:pt x="5364957" y="0"/>
                  </a:lnTo>
                  <a:lnTo>
                    <a:pt x="5364957" y="1585039"/>
                  </a:lnTo>
                  <a:lnTo>
                    <a:pt x="0" y="1585039"/>
                  </a:lnTo>
                  <a:close/>
                </a:path>
              </a:pathLst>
            </a:custGeom>
            <a:solidFill>
              <a:srgbClr val="F5F5F5"/>
            </a:solidFill>
          </p:spPr>
        </p:sp>
        <p:sp>
          <p:nvSpPr>
            <p:cNvPr name="TextBox 5" id="5"/>
            <p:cNvSpPr txBox="true"/>
            <p:nvPr/>
          </p:nvSpPr>
          <p:spPr>
            <a:xfrm>
              <a:off x="0" y="-28575"/>
              <a:ext cx="5364957" cy="1613614"/>
            </a:xfrm>
            <a:prstGeom prst="rect">
              <a:avLst/>
            </a:prstGeom>
          </p:spPr>
          <p:txBody>
            <a:bodyPr anchor="ctr" rtlCol="false" tIns="50800" lIns="50800" bIns="50800" rIns="50800"/>
            <a:lstStyle/>
            <a:p>
              <a:pPr algn="ctr">
                <a:lnSpc>
                  <a:spcPts val="1869"/>
                </a:lnSpc>
              </a:pPr>
            </a:p>
          </p:txBody>
        </p:sp>
      </p:grpSp>
      <p:sp>
        <p:nvSpPr>
          <p:cNvPr name="TextBox 6" id="6"/>
          <p:cNvSpPr txBox="true"/>
          <p:nvPr/>
        </p:nvSpPr>
        <p:spPr>
          <a:xfrm rot="0">
            <a:off x="1622987" y="3491865"/>
            <a:ext cx="6543672" cy="898081"/>
          </a:xfrm>
          <a:prstGeom prst="rect">
            <a:avLst/>
          </a:prstGeom>
        </p:spPr>
        <p:txBody>
          <a:bodyPr anchor="t" rtlCol="false" tIns="0" lIns="0" bIns="0" rIns="0">
            <a:spAutoFit/>
          </a:bodyPr>
          <a:lstStyle/>
          <a:p>
            <a:pPr algn="r">
              <a:lnSpc>
                <a:spcPts val="6836"/>
              </a:lnSpc>
            </a:pPr>
            <a:r>
              <a:rPr lang="en-US" sz="6215" spc="198">
                <a:solidFill>
                  <a:srgbClr val="000000"/>
                </a:solidFill>
                <a:latin typeface="Days"/>
                <a:ea typeface="Days"/>
                <a:cs typeface="Days"/>
                <a:sym typeface="Days"/>
              </a:rPr>
              <a:t>VSCode</a:t>
            </a:r>
          </a:p>
        </p:txBody>
      </p:sp>
      <p:sp>
        <p:nvSpPr>
          <p:cNvPr name="TextBox 7" id="7"/>
          <p:cNvSpPr txBox="true"/>
          <p:nvPr/>
        </p:nvSpPr>
        <p:spPr>
          <a:xfrm rot="0">
            <a:off x="8785041" y="3670478"/>
            <a:ext cx="9176347" cy="3407283"/>
          </a:xfrm>
          <a:prstGeom prst="rect">
            <a:avLst/>
          </a:prstGeom>
        </p:spPr>
        <p:txBody>
          <a:bodyPr anchor="t" rtlCol="false" tIns="0" lIns="0" bIns="0" rIns="0">
            <a:spAutoFit/>
          </a:bodyPr>
          <a:lstStyle/>
          <a:p>
            <a:pPr algn="l">
              <a:lnSpc>
                <a:spcPts val="3380"/>
              </a:lnSpc>
            </a:pPr>
            <a:r>
              <a:rPr lang="en-US" sz="2299">
                <a:solidFill>
                  <a:srgbClr val="000000"/>
                </a:solidFill>
                <a:latin typeface="Open Sauce Light"/>
                <a:ea typeface="Open Sauce Light"/>
                <a:cs typeface="Open Sauce Light"/>
                <a:sym typeface="Open Sauce Light"/>
              </a:rPr>
              <a:t>Multi-Language Support: </a:t>
            </a:r>
            <a:r>
              <a:rPr lang="en-US" sz="2299" b="true">
                <a:solidFill>
                  <a:srgbClr val="000000"/>
                </a:solidFill>
                <a:latin typeface="Open Sauce Bold"/>
                <a:ea typeface="Open Sauce Bold"/>
                <a:cs typeface="Open Sauce Bold"/>
                <a:sym typeface="Open Sauce Bold"/>
              </a:rPr>
              <a:t>VSCode supports almost all major programming languages</a:t>
            </a:r>
            <a:r>
              <a:rPr lang="en-US" sz="2299">
                <a:solidFill>
                  <a:srgbClr val="000000"/>
                </a:solidFill>
                <a:latin typeface="Open Sauce Light"/>
                <a:ea typeface="Open Sauce Light"/>
                <a:cs typeface="Open Sauce Light"/>
                <a:sym typeface="Open Sauce Light"/>
              </a:rPr>
              <a:t>. This is achieved through a rich ecosystem of extensions.</a:t>
            </a:r>
          </a:p>
          <a:p>
            <a:pPr algn="l">
              <a:lnSpc>
                <a:spcPts val="3380"/>
              </a:lnSpc>
            </a:pPr>
          </a:p>
          <a:p>
            <a:pPr algn="l">
              <a:lnSpc>
                <a:spcPts val="3380"/>
              </a:lnSpc>
            </a:pPr>
            <a:r>
              <a:rPr lang="en-US" sz="2299">
                <a:solidFill>
                  <a:srgbClr val="000000"/>
                </a:solidFill>
                <a:latin typeface="Open Sauce Light"/>
                <a:ea typeface="Open Sauce Light"/>
                <a:cs typeface="Open Sauce Light"/>
                <a:sym typeface="Open Sauce Light"/>
              </a:rPr>
              <a:t>Integrated Terminal: VSCode </a:t>
            </a:r>
            <a:r>
              <a:rPr lang="en-US" sz="2299" b="true">
                <a:solidFill>
                  <a:srgbClr val="000000"/>
                </a:solidFill>
                <a:latin typeface="Open Sauce Bold"/>
                <a:ea typeface="Open Sauce Bold"/>
                <a:cs typeface="Open Sauce Bold"/>
                <a:sym typeface="Open Sauce Bold"/>
              </a:rPr>
              <a:t>includes an integrated terminal</a:t>
            </a:r>
            <a:r>
              <a:rPr lang="en-US" sz="2299">
                <a:solidFill>
                  <a:srgbClr val="000000"/>
                </a:solidFill>
                <a:latin typeface="Open Sauce Light"/>
                <a:ea typeface="Open Sauce Light"/>
                <a:cs typeface="Open Sauce Light"/>
                <a:sym typeface="Open Sauce Light"/>
              </a:rPr>
              <a:t> that enables you to stay in your code editor while using your system's command line shell.</a:t>
            </a:r>
          </a:p>
          <a:p>
            <a:pPr algn="l">
              <a:lnSpc>
                <a:spcPts val="3380"/>
              </a:lnSpc>
            </a:pPr>
          </a:p>
        </p:txBody>
      </p:sp>
      <p:sp>
        <p:nvSpPr>
          <p:cNvPr name="TextBox 8" id="8"/>
          <p:cNvSpPr txBox="true"/>
          <p:nvPr/>
        </p:nvSpPr>
        <p:spPr>
          <a:xfrm rot="0">
            <a:off x="312156" y="4492688"/>
            <a:ext cx="7578278" cy="888556"/>
          </a:xfrm>
          <a:prstGeom prst="rect">
            <a:avLst/>
          </a:prstGeom>
        </p:spPr>
        <p:txBody>
          <a:bodyPr anchor="t" rtlCol="false" tIns="0" lIns="0" bIns="0" rIns="0">
            <a:spAutoFit/>
          </a:bodyPr>
          <a:lstStyle/>
          <a:p>
            <a:pPr algn="r">
              <a:lnSpc>
                <a:spcPts val="6836"/>
              </a:lnSpc>
            </a:pPr>
            <a:r>
              <a:rPr lang="en-US" sz="6215" spc="198">
                <a:solidFill>
                  <a:srgbClr val="000000"/>
                </a:solidFill>
                <a:latin typeface="Open Sauce"/>
                <a:ea typeface="Open Sauce"/>
                <a:cs typeface="Open Sauce"/>
                <a:sym typeface="Open Sauce"/>
              </a:rPr>
              <a:t>Key Features</a:t>
            </a:r>
          </a:p>
        </p:txBody>
      </p:sp>
      <p:sp>
        <p:nvSpPr>
          <p:cNvPr name="AutoShape 9" id="9"/>
          <p:cNvSpPr/>
          <p:nvPr/>
        </p:nvSpPr>
        <p:spPr>
          <a:xfrm flipH="true" flipV="true">
            <a:off x="-7266123" y="5614472"/>
            <a:ext cx="15156557" cy="0"/>
          </a:xfrm>
          <a:prstGeom prst="line">
            <a:avLst/>
          </a:prstGeom>
          <a:ln cap="flat" w="76200">
            <a:solidFill>
              <a:srgbClr val="C23A97"/>
            </a:solidFill>
            <a:prstDash val="solid"/>
            <a:headEnd type="none" len="sm" w="sm"/>
            <a:tailEnd type="none" len="sm" w="sm"/>
          </a:ln>
        </p:spPr>
      </p:sp>
      <p:sp>
        <p:nvSpPr>
          <p:cNvPr name="Freeform 10" id="10"/>
          <p:cNvSpPr/>
          <p:nvPr/>
        </p:nvSpPr>
        <p:spPr>
          <a:xfrm flipH="false" flipV="false" rot="0">
            <a:off x="-331769" y="-609444"/>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3">
              <a:alphaModFix amt="37000"/>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690092" y="2372147"/>
            <a:ext cx="20370072" cy="6018193"/>
            <a:chOff x="0" y="0"/>
            <a:chExt cx="5364957" cy="1585039"/>
          </a:xfrm>
        </p:grpSpPr>
        <p:sp>
          <p:nvSpPr>
            <p:cNvPr name="Freeform 4" id="4"/>
            <p:cNvSpPr/>
            <p:nvPr/>
          </p:nvSpPr>
          <p:spPr>
            <a:xfrm flipH="false" flipV="false" rot="0">
              <a:off x="0" y="0"/>
              <a:ext cx="5364957" cy="1585039"/>
            </a:xfrm>
            <a:custGeom>
              <a:avLst/>
              <a:gdLst/>
              <a:ahLst/>
              <a:cxnLst/>
              <a:rect r="r" b="b" t="t" l="l"/>
              <a:pathLst>
                <a:path h="1585039" w="5364957">
                  <a:moveTo>
                    <a:pt x="0" y="0"/>
                  </a:moveTo>
                  <a:lnTo>
                    <a:pt x="5364957" y="0"/>
                  </a:lnTo>
                  <a:lnTo>
                    <a:pt x="5364957" y="1585039"/>
                  </a:lnTo>
                  <a:lnTo>
                    <a:pt x="0" y="1585039"/>
                  </a:lnTo>
                  <a:close/>
                </a:path>
              </a:pathLst>
            </a:custGeom>
            <a:solidFill>
              <a:srgbClr val="F5F5F5"/>
            </a:solidFill>
          </p:spPr>
        </p:sp>
        <p:sp>
          <p:nvSpPr>
            <p:cNvPr name="TextBox 5" id="5"/>
            <p:cNvSpPr txBox="true"/>
            <p:nvPr/>
          </p:nvSpPr>
          <p:spPr>
            <a:xfrm>
              <a:off x="0" y="-28575"/>
              <a:ext cx="5364957" cy="1613614"/>
            </a:xfrm>
            <a:prstGeom prst="rect">
              <a:avLst/>
            </a:prstGeom>
          </p:spPr>
          <p:txBody>
            <a:bodyPr anchor="ctr" rtlCol="false" tIns="50800" lIns="50800" bIns="50800" rIns="50800"/>
            <a:lstStyle/>
            <a:p>
              <a:pPr algn="ctr">
                <a:lnSpc>
                  <a:spcPts val="1869"/>
                </a:lnSpc>
              </a:pPr>
            </a:p>
          </p:txBody>
        </p:sp>
      </p:grpSp>
      <p:sp>
        <p:nvSpPr>
          <p:cNvPr name="TextBox 6" id="6"/>
          <p:cNvSpPr txBox="true"/>
          <p:nvPr/>
        </p:nvSpPr>
        <p:spPr>
          <a:xfrm rot="0">
            <a:off x="1622987" y="3491865"/>
            <a:ext cx="6543672" cy="898081"/>
          </a:xfrm>
          <a:prstGeom prst="rect">
            <a:avLst/>
          </a:prstGeom>
        </p:spPr>
        <p:txBody>
          <a:bodyPr anchor="t" rtlCol="false" tIns="0" lIns="0" bIns="0" rIns="0">
            <a:spAutoFit/>
          </a:bodyPr>
          <a:lstStyle/>
          <a:p>
            <a:pPr algn="r">
              <a:lnSpc>
                <a:spcPts val="6836"/>
              </a:lnSpc>
            </a:pPr>
            <a:r>
              <a:rPr lang="en-US" sz="6215" spc="198">
                <a:solidFill>
                  <a:srgbClr val="000000"/>
                </a:solidFill>
                <a:latin typeface="Days"/>
                <a:ea typeface="Days"/>
                <a:cs typeface="Days"/>
                <a:sym typeface="Days"/>
              </a:rPr>
              <a:t>VSCode</a:t>
            </a:r>
          </a:p>
        </p:txBody>
      </p:sp>
      <p:sp>
        <p:nvSpPr>
          <p:cNvPr name="TextBox 7" id="7"/>
          <p:cNvSpPr txBox="true"/>
          <p:nvPr/>
        </p:nvSpPr>
        <p:spPr>
          <a:xfrm rot="0">
            <a:off x="8766149" y="2986905"/>
            <a:ext cx="9176347" cy="4693158"/>
          </a:xfrm>
          <a:prstGeom prst="rect">
            <a:avLst/>
          </a:prstGeom>
        </p:spPr>
        <p:txBody>
          <a:bodyPr anchor="t" rtlCol="false" tIns="0" lIns="0" bIns="0" rIns="0">
            <a:spAutoFit/>
          </a:bodyPr>
          <a:lstStyle/>
          <a:p>
            <a:pPr algn="l">
              <a:lnSpc>
                <a:spcPts val="3380"/>
              </a:lnSpc>
            </a:pPr>
            <a:r>
              <a:rPr lang="en-US" sz="2299">
                <a:solidFill>
                  <a:srgbClr val="000000"/>
                </a:solidFill>
                <a:latin typeface="Open Sauce Light"/>
                <a:ea typeface="Open Sauce Light"/>
                <a:cs typeface="Open Sauce Light"/>
                <a:sym typeface="Open Sauce Light"/>
              </a:rPr>
              <a:t>Debugging: VSCode has a </a:t>
            </a:r>
            <a:r>
              <a:rPr lang="en-US" sz="2299" b="true">
                <a:solidFill>
                  <a:srgbClr val="000000"/>
                </a:solidFill>
                <a:latin typeface="Open Sauce Bold"/>
                <a:ea typeface="Open Sauce Bold"/>
                <a:cs typeface="Open Sauce Bold"/>
                <a:sym typeface="Open Sauce Bold"/>
              </a:rPr>
              <a:t>rich debugging experience</a:t>
            </a:r>
            <a:r>
              <a:rPr lang="en-US" sz="2299">
                <a:solidFill>
                  <a:srgbClr val="000000"/>
                </a:solidFill>
                <a:latin typeface="Open Sauce Light"/>
                <a:ea typeface="Open Sauce Light"/>
                <a:cs typeface="Open Sauce Light"/>
                <a:sym typeface="Open Sauce Light"/>
              </a:rPr>
              <a:t>, making it </a:t>
            </a:r>
            <a:r>
              <a:rPr lang="en-US" sz="2299" b="true">
                <a:solidFill>
                  <a:srgbClr val="000000"/>
                </a:solidFill>
                <a:latin typeface="Open Sauce Bold"/>
                <a:ea typeface="Open Sauce Bold"/>
                <a:cs typeface="Open Sauce Bold"/>
                <a:sym typeface="Open Sauce Bold"/>
              </a:rPr>
              <a:t>easier to diagnose and fix issues</a:t>
            </a:r>
            <a:r>
              <a:rPr lang="en-US" sz="2299">
                <a:solidFill>
                  <a:srgbClr val="000000"/>
                </a:solidFill>
                <a:latin typeface="Open Sauce Light"/>
                <a:ea typeface="Open Sauce Light"/>
                <a:cs typeface="Open Sauce Light"/>
                <a:sym typeface="Open Sauce Light"/>
              </a:rPr>
              <a:t>.</a:t>
            </a:r>
          </a:p>
          <a:p>
            <a:pPr algn="l">
              <a:lnSpc>
                <a:spcPts val="3380"/>
              </a:lnSpc>
            </a:pPr>
          </a:p>
          <a:p>
            <a:pPr algn="l">
              <a:lnSpc>
                <a:spcPts val="3380"/>
              </a:lnSpc>
            </a:pPr>
            <a:r>
              <a:rPr lang="en-US" sz="2299">
                <a:solidFill>
                  <a:srgbClr val="000000"/>
                </a:solidFill>
                <a:latin typeface="Open Sauce Light"/>
                <a:ea typeface="Open Sauce Light"/>
                <a:cs typeface="Open Sauce Light"/>
                <a:sym typeface="Open Sauce Light"/>
              </a:rPr>
              <a:t>Version Control: </a:t>
            </a:r>
            <a:r>
              <a:rPr lang="en-US" sz="2299" b="true">
                <a:solidFill>
                  <a:srgbClr val="000000"/>
                </a:solidFill>
                <a:latin typeface="Open Sauce Bold"/>
                <a:ea typeface="Open Sauce Bold"/>
                <a:cs typeface="Open Sauce Bold"/>
                <a:sym typeface="Open Sauce Bold"/>
              </a:rPr>
              <a:t>VSCode includes built-in Git support</a:t>
            </a:r>
            <a:r>
              <a:rPr lang="en-US" sz="2299">
                <a:solidFill>
                  <a:srgbClr val="000000"/>
                </a:solidFill>
                <a:latin typeface="Open Sauce Light"/>
                <a:ea typeface="Open Sauce Light"/>
                <a:cs typeface="Open Sauce Light"/>
                <a:sym typeface="Open Sauce Light"/>
              </a:rPr>
              <a:t> for version control to track changes, stage them and commit them right from the editor.</a:t>
            </a:r>
          </a:p>
          <a:p>
            <a:pPr algn="l">
              <a:lnSpc>
                <a:spcPts val="3380"/>
              </a:lnSpc>
            </a:pPr>
          </a:p>
          <a:p>
            <a:pPr algn="l">
              <a:lnSpc>
                <a:spcPts val="3380"/>
              </a:lnSpc>
            </a:pPr>
            <a:r>
              <a:rPr lang="en-US" sz="2299">
                <a:solidFill>
                  <a:srgbClr val="000000"/>
                </a:solidFill>
                <a:latin typeface="Open Sauce Light"/>
                <a:ea typeface="Open Sauce Light"/>
                <a:cs typeface="Open Sauce Light"/>
                <a:sym typeface="Open Sauce Light"/>
              </a:rPr>
              <a:t>Extensibility: There are </a:t>
            </a:r>
            <a:r>
              <a:rPr lang="en-US" sz="2299" b="true">
                <a:solidFill>
                  <a:srgbClr val="000000"/>
                </a:solidFill>
                <a:latin typeface="Open Sauce Bold"/>
                <a:ea typeface="Open Sauce Bold"/>
                <a:cs typeface="Open Sauce Bold"/>
                <a:sym typeface="Open Sauce Bold"/>
              </a:rPr>
              <a:t>thousands of extensions available for VSCode</a:t>
            </a:r>
            <a:r>
              <a:rPr lang="en-US" sz="2299">
                <a:solidFill>
                  <a:srgbClr val="000000"/>
                </a:solidFill>
                <a:latin typeface="Open Sauce Light"/>
                <a:ea typeface="Open Sauce Light"/>
                <a:cs typeface="Open Sauce Light"/>
                <a:sym typeface="Open Sauce Light"/>
              </a:rPr>
              <a:t> that can add languages, debuggers, tools, and more functionalities.</a:t>
            </a:r>
          </a:p>
          <a:p>
            <a:pPr algn="l">
              <a:lnSpc>
                <a:spcPts val="3380"/>
              </a:lnSpc>
            </a:pPr>
          </a:p>
        </p:txBody>
      </p:sp>
      <p:sp>
        <p:nvSpPr>
          <p:cNvPr name="TextBox 8" id="8"/>
          <p:cNvSpPr txBox="true"/>
          <p:nvPr/>
        </p:nvSpPr>
        <p:spPr>
          <a:xfrm rot="0">
            <a:off x="312156" y="4492688"/>
            <a:ext cx="7578278" cy="888556"/>
          </a:xfrm>
          <a:prstGeom prst="rect">
            <a:avLst/>
          </a:prstGeom>
        </p:spPr>
        <p:txBody>
          <a:bodyPr anchor="t" rtlCol="false" tIns="0" lIns="0" bIns="0" rIns="0">
            <a:spAutoFit/>
          </a:bodyPr>
          <a:lstStyle/>
          <a:p>
            <a:pPr algn="r">
              <a:lnSpc>
                <a:spcPts val="6836"/>
              </a:lnSpc>
            </a:pPr>
            <a:r>
              <a:rPr lang="en-US" sz="6215" spc="198">
                <a:solidFill>
                  <a:srgbClr val="000000"/>
                </a:solidFill>
                <a:latin typeface="Open Sauce"/>
                <a:ea typeface="Open Sauce"/>
                <a:cs typeface="Open Sauce"/>
                <a:sym typeface="Open Sauce"/>
              </a:rPr>
              <a:t>Key Features</a:t>
            </a:r>
          </a:p>
        </p:txBody>
      </p:sp>
      <p:sp>
        <p:nvSpPr>
          <p:cNvPr name="AutoShape 9" id="9"/>
          <p:cNvSpPr/>
          <p:nvPr/>
        </p:nvSpPr>
        <p:spPr>
          <a:xfrm flipH="true" flipV="true">
            <a:off x="-7266123" y="5614472"/>
            <a:ext cx="15156557" cy="0"/>
          </a:xfrm>
          <a:prstGeom prst="line">
            <a:avLst/>
          </a:prstGeom>
          <a:ln cap="flat" w="76200">
            <a:solidFill>
              <a:srgbClr val="C23A97"/>
            </a:solidFill>
            <a:prstDash val="solid"/>
            <a:headEnd type="none" len="sm" w="sm"/>
            <a:tailEnd type="none" len="sm" w="sm"/>
          </a:ln>
        </p:spPr>
      </p:sp>
      <p:sp>
        <p:nvSpPr>
          <p:cNvPr name="Freeform 10" id="10"/>
          <p:cNvSpPr/>
          <p:nvPr/>
        </p:nvSpPr>
        <p:spPr>
          <a:xfrm flipH="false" flipV="false" rot="0">
            <a:off x="-331769" y="-609444"/>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3">
              <a:alphaModFix amt="37000"/>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690092" y="2372147"/>
            <a:ext cx="20370072" cy="6018193"/>
            <a:chOff x="0" y="0"/>
            <a:chExt cx="5364957" cy="1585039"/>
          </a:xfrm>
        </p:grpSpPr>
        <p:sp>
          <p:nvSpPr>
            <p:cNvPr name="Freeform 4" id="4"/>
            <p:cNvSpPr/>
            <p:nvPr/>
          </p:nvSpPr>
          <p:spPr>
            <a:xfrm flipH="false" flipV="false" rot="0">
              <a:off x="0" y="0"/>
              <a:ext cx="5364957" cy="1585039"/>
            </a:xfrm>
            <a:custGeom>
              <a:avLst/>
              <a:gdLst/>
              <a:ahLst/>
              <a:cxnLst/>
              <a:rect r="r" b="b" t="t" l="l"/>
              <a:pathLst>
                <a:path h="1585039" w="5364957">
                  <a:moveTo>
                    <a:pt x="0" y="0"/>
                  </a:moveTo>
                  <a:lnTo>
                    <a:pt x="5364957" y="0"/>
                  </a:lnTo>
                  <a:lnTo>
                    <a:pt x="5364957" y="1585039"/>
                  </a:lnTo>
                  <a:lnTo>
                    <a:pt x="0" y="1585039"/>
                  </a:lnTo>
                  <a:close/>
                </a:path>
              </a:pathLst>
            </a:custGeom>
            <a:solidFill>
              <a:srgbClr val="F5F5F5"/>
            </a:solidFill>
          </p:spPr>
        </p:sp>
        <p:sp>
          <p:nvSpPr>
            <p:cNvPr name="TextBox 5" id="5"/>
            <p:cNvSpPr txBox="true"/>
            <p:nvPr/>
          </p:nvSpPr>
          <p:spPr>
            <a:xfrm>
              <a:off x="0" y="-28575"/>
              <a:ext cx="5364957" cy="1613614"/>
            </a:xfrm>
            <a:prstGeom prst="rect">
              <a:avLst/>
            </a:prstGeom>
          </p:spPr>
          <p:txBody>
            <a:bodyPr anchor="ctr" rtlCol="false" tIns="50800" lIns="50800" bIns="50800" rIns="50800"/>
            <a:lstStyle/>
            <a:p>
              <a:pPr algn="ctr">
                <a:lnSpc>
                  <a:spcPts val="1869"/>
                </a:lnSpc>
              </a:pPr>
            </a:p>
          </p:txBody>
        </p:sp>
      </p:grpSp>
      <p:sp>
        <p:nvSpPr>
          <p:cNvPr name="TextBox 6" id="6"/>
          <p:cNvSpPr txBox="true"/>
          <p:nvPr/>
        </p:nvSpPr>
        <p:spPr>
          <a:xfrm rot="0">
            <a:off x="1622987" y="3491865"/>
            <a:ext cx="6543672" cy="898081"/>
          </a:xfrm>
          <a:prstGeom prst="rect">
            <a:avLst/>
          </a:prstGeom>
        </p:spPr>
        <p:txBody>
          <a:bodyPr anchor="t" rtlCol="false" tIns="0" lIns="0" bIns="0" rIns="0">
            <a:spAutoFit/>
          </a:bodyPr>
          <a:lstStyle/>
          <a:p>
            <a:pPr algn="r">
              <a:lnSpc>
                <a:spcPts val="6836"/>
              </a:lnSpc>
            </a:pPr>
            <a:r>
              <a:rPr lang="en-US" sz="6215" spc="198">
                <a:solidFill>
                  <a:srgbClr val="000000"/>
                </a:solidFill>
                <a:latin typeface="Days"/>
                <a:ea typeface="Days"/>
                <a:cs typeface="Days"/>
                <a:sym typeface="Days"/>
              </a:rPr>
              <a:t>VSCode</a:t>
            </a:r>
          </a:p>
        </p:txBody>
      </p:sp>
      <p:sp>
        <p:nvSpPr>
          <p:cNvPr name="TextBox 7" id="7"/>
          <p:cNvSpPr txBox="true"/>
          <p:nvPr/>
        </p:nvSpPr>
        <p:spPr>
          <a:xfrm rot="0">
            <a:off x="8785041" y="3670478"/>
            <a:ext cx="9176347" cy="2121408"/>
          </a:xfrm>
          <a:prstGeom prst="rect">
            <a:avLst/>
          </a:prstGeom>
        </p:spPr>
        <p:txBody>
          <a:bodyPr anchor="t" rtlCol="false" tIns="0" lIns="0" bIns="0" rIns="0">
            <a:spAutoFit/>
          </a:bodyPr>
          <a:lstStyle/>
          <a:p>
            <a:pPr algn="l">
              <a:lnSpc>
                <a:spcPts val="3380"/>
              </a:lnSpc>
            </a:pPr>
            <a:r>
              <a:rPr lang="en-US" sz="2299">
                <a:solidFill>
                  <a:srgbClr val="000000"/>
                </a:solidFill>
                <a:latin typeface="Open Sauce Light"/>
                <a:ea typeface="Open Sauce Light"/>
                <a:cs typeface="Open Sauce Light"/>
                <a:sym typeface="Open Sauce Light"/>
              </a:rPr>
              <a:t>In the context of Chemistry, </a:t>
            </a:r>
            <a:r>
              <a:rPr lang="en-US" sz="2299" b="true">
                <a:solidFill>
                  <a:srgbClr val="000000"/>
                </a:solidFill>
                <a:latin typeface="Open Sauce Bold"/>
                <a:ea typeface="Open Sauce Bold"/>
                <a:cs typeface="Open Sauce Bold"/>
                <a:sym typeface="Open Sauce Bold"/>
              </a:rPr>
              <a:t>VSCode is an excellent tool for writing and editing Python scripts</a:t>
            </a:r>
            <a:r>
              <a:rPr lang="en-US" sz="2299">
                <a:solidFill>
                  <a:srgbClr val="000000"/>
                </a:solidFill>
                <a:latin typeface="Open Sauce Light"/>
                <a:ea typeface="Open Sauce Light"/>
                <a:cs typeface="Open Sauce Light"/>
                <a:sym typeface="Open Sauce Light"/>
              </a:rPr>
              <a:t> for simulations, data analysis, and other computational tasks. Its extensibility allows it to work well with Python, and </a:t>
            </a:r>
            <a:r>
              <a:rPr lang="en-US" sz="2299" b="true">
                <a:solidFill>
                  <a:srgbClr val="000000"/>
                </a:solidFill>
                <a:latin typeface="Open Sauce Bold"/>
                <a:ea typeface="Open Sauce Bold"/>
                <a:cs typeface="Open Sauce Bold"/>
                <a:sym typeface="Open Sauce Bold"/>
              </a:rPr>
              <a:t>its built-in Git support makes it easy to manage version control</a:t>
            </a:r>
            <a:r>
              <a:rPr lang="en-US" sz="2299">
                <a:solidFill>
                  <a:srgbClr val="000000"/>
                </a:solidFill>
                <a:latin typeface="Open Sauce Light"/>
                <a:ea typeface="Open Sauce Light"/>
                <a:cs typeface="Open Sauce Light"/>
                <a:sym typeface="Open Sauce Light"/>
              </a:rPr>
              <a:t> of your code</a:t>
            </a:r>
          </a:p>
        </p:txBody>
      </p:sp>
      <p:sp>
        <p:nvSpPr>
          <p:cNvPr name="TextBox 8" id="8"/>
          <p:cNvSpPr txBox="true"/>
          <p:nvPr/>
        </p:nvSpPr>
        <p:spPr>
          <a:xfrm rot="0">
            <a:off x="312156" y="4492688"/>
            <a:ext cx="7578278" cy="888556"/>
          </a:xfrm>
          <a:prstGeom prst="rect">
            <a:avLst/>
          </a:prstGeom>
        </p:spPr>
        <p:txBody>
          <a:bodyPr anchor="t" rtlCol="false" tIns="0" lIns="0" bIns="0" rIns="0">
            <a:spAutoFit/>
          </a:bodyPr>
          <a:lstStyle/>
          <a:p>
            <a:pPr algn="r">
              <a:lnSpc>
                <a:spcPts val="6836"/>
              </a:lnSpc>
            </a:pPr>
            <a:r>
              <a:rPr lang="en-US" sz="6215" spc="198">
                <a:solidFill>
                  <a:srgbClr val="000000"/>
                </a:solidFill>
                <a:latin typeface="Open Sauce"/>
                <a:ea typeface="Open Sauce"/>
                <a:cs typeface="Open Sauce"/>
                <a:sym typeface="Open Sauce"/>
              </a:rPr>
              <a:t>Use in Chemistry</a:t>
            </a:r>
          </a:p>
        </p:txBody>
      </p:sp>
      <p:sp>
        <p:nvSpPr>
          <p:cNvPr name="AutoShape 9" id="9"/>
          <p:cNvSpPr/>
          <p:nvPr/>
        </p:nvSpPr>
        <p:spPr>
          <a:xfrm flipH="true" flipV="true">
            <a:off x="-7266123" y="5614472"/>
            <a:ext cx="15156557" cy="0"/>
          </a:xfrm>
          <a:prstGeom prst="line">
            <a:avLst/>
          </a:prstGeom>
          <a:ln cap="flat" w="76200">
            <a:solidFill>
              <a:srgbClr val="C23A97"/>
            </a:solidFill>
            <a:prstDash val="solid"/>
            <a:headEnd type="none" len="sm" w="sm"/>
            <a:tailEnd type="none" len="sm" w="sm"/>
          </a:ln>
        </p:spPr>
      </p:sp>
      <p:sp>
        <p:nvSpPr>
          <p:cNvPr name="Freeform 10" id="10"/>
          <p:cNvSpPr/>
          <p:nvPr/>
        </p:nvSpPr>
        <p:spPr>
          <a:xfrm flipH="false" flipV="false" rot="0">
            <a:off x="-331769" y="-609444"/>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3">
              <a:alphaModFix amt="37000"/>
            </a:blip>
            <a:stretch>
              <a:fillRect l="0" t="0" r="0" b="0"/>
            </a:stretch>
          </a:blipFill>
        </p:spPr>
      </p:sp>
      <p:sp>
        <p:nvSpPr>
          <p:cNvPr name="Freeform 11" id="11"/>
          <p:cNvSpPr/>
          <p:nvPr/>
        </p:nvSpPr>
        <p:spPr>
          <a:xfrm flipH="false" flipV="false" rot="0">
            <a:off x="-179369" y="-457044"/>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3">
              <a:alphaModFix amt="37000"/>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2923865">
            <a:off x="-2984685" y="1184351"/>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5400000">
            <a:off x="8046708" y="385825"/>
            <a:ext cx="11245538" cy="9778557"/>
            <a:chOff x="0" y="0"/>
            <a:chExt cx="2961788" cy="2575423"/>
          </a:xfrm>
        </p:grpSpPr>
        <p:sp>
          <p:nvSpPr>
            <p:cNvPr name="Freeform 4" id="4"/>
            <p:cNvSpPr/>
            <p:nvPr/>
          </p:nvSpPr>
          <p:spPr>
            <a:xfrm flipH="false" flipV="false" rot="0">
              <a:off x="0" y="0"/>
              <a:ext cx="2961788" cy="2575422"/>
            </a:xfrm>
            <a:custGeom>
              <a:avLst/>
              <a:gdLst/>
              <a:ahLst/>
              <a:cxnLst/>
              <a:rect r="r" b="b" t="t" l="l"/>
              <a:pathLst>
                <a:path h="2575422" w="2961788">
                  <a:moveTo>
                    <a:pt x="0" y="0"/>
                  </a:moveTo>
                  <a:lnTo>
                    <a:pt x="2961788" y="0"/>
                  </a:lnTo>
                  <a:lnTo>
                    <a:pt x="2961788" y="2575422"/>
                  </a:lnTo>
                  <a:lnTo>
                    <a:pt x="0" y="2575422"/>
                  </a:lnTo>
                  <a:close/>
                </a:path>
              </a:pathLst>
            </a:custGeom>
            <a:solidFill>
              <a:srgbClr val="192253"/>
            </a:solidFill>
          </p:spPr>
        </p:sp>
        <p:sp>
          <p:nvSpPr>
            <p:cNvPr name="TextBox 5" id="5"/>
            <p:cNvSpPr txBox="true"/>
            <p:nvPr/>
          </p:nvSpPr>
          <p:spPr>
            <a:xfrm>
              <a:off x="0" y="-28575"/>
              <a:ext cx="2961788" cy="2603998"/>
            </a:xfrm>
            <a:prstGeom prst="rect">
              <a:avLst/>
            </a:prstGeom>
          </p:spPr>
          <p:txBody>
            <a:bodyPr anchor="ctr" rtlCol="false" tIns="50800" lIns="50800" bIns="50800" rIns="50800"/>
            <a:lstStyle/>
            <a:p>
              <a:pPr algn="ctr">
                <a:lnSpc>
                  <a:spcPts val="1869"/>
                </a:lnSpc>
              </a:pPr>
            </a:p>
          </p:txBody>
        </p:sp>
      </p:grpSp>
      <p:sp>
        <p:nvSpPr>
          <p:cNvPr name="AutoShape 6" id="6"/>
          <p:cNvSpPr/>
          <p:nvPr/>
        </p:nvSpPr>
        <p:spPr>
          <a:xfrm flipH="true" flipV="true">
            <a:off x="-488525" y="8289279"/>
            <a:ext cx="15156557" cy="0"/>
          </a:xfrm>
          <a:prstGeom prst="line">
            <a:avLst/>
          </a:prstGeom>
          <a:ln cap="flat" w="76200">
            <a:solidFill>
              <a:srgbClr val="C23A97"/>
            </a:solidFill>
            <a:prstDash val="solid"/>
            <a:headEnd type="none" len="sm" w="sm"/>
            <a:tailEnd type="none" len="sm" w="sm"/>
          </a:ln>
        </p:spPr>
      </p:sp>
      <p:sp>
        <p:nvSpPr>
          <p:cNvPr name="AutoShape 7" id="7"/>
          <p:cNvSpPr/>
          <p:nvPr/>
        </p:nvSpPr>
        <p:spPr>
          <a:xfrm flipH="true">
            <a:off x="10559239" y="2561194"/>
            <a:ext cx="8347436" cy="0"/>
          </a:xfrm>
          <a:prstGeom prst="line">
            <a:avLst/>
          </a:prstGeom>
          <a:ln cap="flat" w="76200">
            <a:solidFill>
              <a:srgbClr val="F5F5F5"/>
            </a:solidFill>
            <a:prstDash val="solid"/>
            <a:headEnd type="none" len="sm" w="sm"/>
            <a:tailEnd type="none" len="sm" w="sm"/>
          </a:ln>
        </p:spPr>
      </p:sp>
      <p:sp>
        <p:nvSpPr>
          <p:cNvPr name="TextBox 8" id="8"/>
          <p:cNvSpPr txBox="true"/>
          <p:nvPr/>
        </p:nvSpPr>
        <p:spPr>
          <a:xfrm rot="0">
            <a:off x="11796121" y="4906804"/>
            <a:ext cx="5122072" cy="1546225"/>
          </a:xfrm>
          <a:prstGeom prst="rect">
            <a:avLst/>
          </a:prstGeom>
        </p:spPr>
        <p:txBody>
          <a:bodyPr anchor="t" rtlCol="false" tIns="0" lIns="0" bIns="0" rIns="0">
            <a:spAutoFit/>
          </a:bodyPr>
          <a:lstStyle/>
          <a:p>
            <a:pPr algn="just">
              <a:lnSpc>
                <a:spcPts val="6049"/>
              </a:lnSpc>
            </a:pPr>
            <a:r>
              <a:rPr lang="en-US" b="true" sz="5499" spc="175">
                <a:solidFill>
                  <a:srgbClr val="FFFFFF"/>
                </a:solidFill>
                <a:latin typeface="Open Sauce Medium"/>
                <a:ea typeface="Open Sauce Medium"/>
                <a:cs typeface="Open Sauce Medium"/>
                <a:sym typeface="Open Sauce Medium"/>
              </a:rPr>
              <a:t>PYTHON TOOLS</a:t>
            </a:r>
          </a:p>
        </p:txBody>
      </p:sp>
      <p:sp>
        <p:nvSpPr>
          <p:cNvPr name="Freeform 9" id="9"/>
          <p:cNvSpPr/>
          <p:nvPr/>
        </p:nvSpPr>
        <p:spPr>
          <a:xfrm flipH="false" flipV="false" rot="0">
            <a:off x="14355953" y="-509846"/>
            <a:ext cx="4202802" cy="2362325"/>
          </a:xfrm>
          <a:custGeom>
            <a:avLst/>
            <a:gdLst/>
            <a:ahLst/>
            <a:cxnLst/>
            <a:rect r="r" b="b" t="t" l="l"/>
            <a:pathLst>
              <a:path h="2362325" w="4202802">
                <a:moveTo>
                  <a:pt x="0" y="0"/>
                </a:moveTo>
                <a:lnTo>
                  <a:pt x="4202803" y="0"/>
                </a:lnTo>
                <a:lnTo>
                  <a:pt x="4202803" y="2362325"/>
                </a:lnTo>
                <a:lnTo>
                  <a:pt x="0" y="2362325"/>
                </a:lnTo>
                <a:lnTo>
                  <a:pt x="0" y="0"/>
                </a:lnTo>
                <a:close/>
              </a:path>
            </a:pathLst>
          </a:custGeom>
          <a:blipFill>
            <a:blip r:embed="rId4">
              <a:alphaModFix amt="37000"/>
            </a:blip>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690092" y="2372147"/>
            <a:ext cx="20370072" cy="6018193"/>
            <a:chOff x="0" y="0"/>
            <a:chExt cx="5364957" cy="1585039"/>
          </a:xfrm>
        </p:grpSpPr>
        <p:sp>
          <p:nvSpPr>
            <p:cNvPr name="Freeform 4" id="4"/>
            <p:cNvSpPr/>
            <p:nvPr/>
          </p:nvSpPr>
          <p:spPr>
            <a:xfrm flipH="false" flipV="false" rot="0">
              <a:off x="0" y="0"/>
              <a:ext cx="5364957" cy="1585039"/>
            </a:xfrm>
            <a:custGeom>
              <a:avLst/>
              <a:gdLst/>
              <a:ahLst/>
              <a:cxnLst/>
              <a:rect r="r" b="b" t="t" l="l"/>
              <a:pathLst>
                <a:path h="1585039" w="5364957">
                  <a:moveTo>
                    <a:pt x="0" y="0"/>
                  </a:moveTo>
                  <a:lnTo>
                    <a:pt x="5364957" y="0"/>
                  </a:lnTo>
                  <a:lnTo>
                    <a:pt x="5364957" y="1585039"/>
                  </a:lnTo>
                  <a:lnTo>
                    <a:pt x="0" y="1585039"/>
                  </a:lnTo>
                  <a:close/>
                </a:path>
              </a:pathLst>
            </a:custGeom>
            <a:solidFill>
              <a:srgbClr val="F5F5F5"/>
            </a:solidFill>
          </p:spPr>
        </p:sp>
        <p:sp>
          <p:nvSpPr>
            <p:cNvPr name="TextBox 5" id="5"/>
            <p:cNvSpPr txBox="true"/>
            <p:nvPr/>
          </p:nvSpPr>
          <p:spPr>
            <a:xfrm>
              <a:off x="0" y="-28575"/>
              <a:ext cx="5364957" cy="1613614"/>
            </a:xfrm>
            <a:prstGeom prst="rect">
              <a:avLst/>
            </a:prstGeom>
          </p:spPr>
          <p:txBody>
            <a:bodyPr anchor="ctr" rtlCol="false" tIns="50800" lIns="50800" bIns="50800" rIns="50800"/>
            <a:lstStyle/>
            <a:p>
              <a:pPr algn="ctr">
                <a:lnSpc>
                  <a:spcPts val="1869"/>
                </a:lnSpc>
              </a:pPr>
            </a:p>
          </p:txBody>
        </p:sp>
      </p:grpSp>
      <p:sp>
        <p:nvSpPr>
          <p:cNvPr name="TextBox 6" id="6"/>
          <p:cNvSpPr txBox="true"/>
          <p:nvPr/>
        </p:nvSpPr>
        <p:spPr>
          <a:xfrm rot="0">
            <a:off x="1622987" y="3491865"/>
            <a:ext cx="6543672" cy="898081"/>
          </a:xfrm>
          <a:prstGeom prst="rect">
            <a:avLst/>
          </a:prstGeom>
        </p:spPr>
        <p:txBody>
          <a:bodyPr anchor="t" rtlCol="false" tIns="0" lIns="0" bIns="0" rIns="0">
            <a:spAutoFit/>
          </a:bodyPr>
          <a:lstStyle/>
          <a:p>
            <a:pPr algn="r">
              <a:lnSpc>
                <a:spcPts val="6836"/>
              </a:lnSpc>
            </a:pPr>
            <a:r>
              <a:rPr lang="en-US" sz="6215" spc="198">
                <a:solidFill>
                  <a:srgbClr val="000000"/>
                </a:solidFill>
                <a:latin typeface="Days"/>
                <a:ea typeface="Days"/>
                <a:cs typeface="Days"/>
                <a:sym typeface="Days"/>
              </a:rPr>
              <a:t>Python</a:t>
            </a:r>
          </a:p>
        </p:txBody>
      </p:sp>
      <p:sp>
        <p:nvSpPr>
          <p:cNvPr name="TextBox 7" id="7"/>
          <p:cNvSpPr txBox="true"/>
          <p:nvPr/>
        </p:nvSpPr>
        <p:spPr>
          <a:xfrm rot="0">
            <a:off x="8841719" y="2716798"/>
            <a:ext cx="9176347" cy="5550408"/>
          </a:xfrm>
          <a:prstGeom prst="rect">
            <a:avLst/>
          </a:prstGeom>
        </p:spPr>
        <p:txBody>
          <a:bodyPr anchor="t" rtlCol="false" tIns="0" lIns="0" bIns="0" rIns="0">
            <a:spAutoFit/>
          </a:bodyPr>
          <a:lstStyle/>
          <a:p>
            <a:pPr algn="l">
              <a:lnSpc>
                <a:spcPts val="3380"/>
              </a:lnSpc>
            </a:pPr>
            <a:r>
              <a:rPr lang="en-US" sz="2299" spc="73">
                <a:solidFill>
                  <a:srgbClr val="000000"/>
                </a:solidFill>
                <a:latin typeface="Open Sauce Light"/>
                <a:ea typeface="Open Sauce Light"/>
                <a:cs typeface="Open Sauce Light"/>
                <a:sym typeface="Open Sauce Light"/>
              </a:rPr>
              <a:t>Python is a </a:t>
            </a:r>
            <a:r>
              <a:rPr lang="en-US" sz="2299" spc="73" b="true">
                <a:solidFill>
                  <a:srgbClr val="000000"/>
                </a:solidFill>
                <a:latin typeface="Open Sauce Bold"/>
                <a:ea typeface="Open Sauce Bold"/>
                <a:cs typeface="Open Sauce Bold"/>
                <a:sym typeface="Open Sauce Bold"/>
              </a:rPr>
              <a:t>highly versatile, interpreted, object-oriented, and high-level</a:t>
            </a:r>
            <a:r>
              <a:rPr lang="en-US" sz="2299" spc="73">
                <a:solidFill>
                  <a:srgbClr val="000000"/>
                </a:solidFill>
                <a:latin typeface="Open Sauce Light"/>
                <a:ea typeface="Open Sauce Light"/>
                <a:cs typeface="Open Sauce Light"/>
                <a:sym typeface="Open Sauce Light"/>
              </a:rPr>
              <a:t> programming language.</a:t>
            </a:r>
          </a:p>
          <a:p>
            <a:pPr algn="l">
              <a:lnSpc>
                <a:spcPts val="3380"/>
              </a:lnSpc>
            </a:pPr>
          </a:p>
          <a:p>
            <a:pPr algn="l">
              <a:lnSpc>
                <a:spcPts val="3380"/>
              </a:lnSpc>
            </a:pPr>
            <a:r>
              <a:rPr lang="en-US" sz="2299" spc="73">
                <a:solidFill>
                  <a:srgbClr val="000000"/>
                </a:solidFill>
                <a:latin typeface="Open Sauce Light"/>
                <a:ea typeface="Open Sauce Light"/>
                <a:cs typeface="Open Sauce Light"/>
                <a:sym typeface="Open Sauce Light"/>
              </a:rPr>
              <a:t>Python's design philosophy emphasizes </a:t>
            </a:r>
            <a:r>
              <a:rPr lang="en-US" sz="2299" spc="73" b="true">
                <a:solidFill>
                  <a:srgbClr val="000000"/>
                </a:solidFill>
                <a:latin typeface="Open Sauce Bold"/>
                <a:ea typeface="Open Sauce Bold"/>
                <a:cs typeface="Open Sauce Bold"/>
                <a:sym typeface="Open Sauce Bold"/>
              </a:rPr>
              <a:t>code readability</a:t>
            </a:r>
            <a:r>
              <a:rPr lang="en-US" sz="2299" spc="73">
                <a:solidFill>
                  <a:srgbClr val="000000"/>
                </a:solidFill>
                <a:latin typeface="Open Sauce Light"/>
                <a:ea typeface="Open Sauce Light"/>
                <a:cs typeface="Open Sauce Light"/>
                <a:sym typeface="Open Sauce Light"/>
              </a:rPr>
              <a:t> with its notable use of significant whitespace. Its language constructs and object-oriented approach aim to </a:t>
            </a:r>
            <a:r>
              <a:rPr lang="en-US" sz="2299" spc="73" b="true">
                <a:solidFill>
                  <a:srgbClr val="000000"/>
                </a:solidFill>
                <a:latin typeface="Open Sauce Bold"/>
                <a:ea typeface="Open Sauce Bold"/>
                <a:cs typeface="Open Sauce Bold"/>
                <a:sym typeface="Open Sauce Bold"/>
              </a:rPr>
              <a:t>help programmers write clear, logical code</a:t>
            </a:r>
            <a:r>
              <a:rPr lang="en-US" sz="2299" spc="73">
                <a:solidFill>
                  <a:srgbClr val="000000"/>
                </a:solidFill>
                <a:latin typeface="Open Sauce Light"/>
                <a:ea typeface="Open Sauce Light"/>
                <a:cs typeface="Open Sauce Light"/>
                <a:sym typeface="Open Sauce Light"/>
              </a:rPr>
              <a:t> for small and large-scale projects.</a:t>
            </a:r>
          </a:p>
          <a:p>
            <a:pPr algn="l">
              <a:lnSpc>
                <a:spcPts val="3380"/>
              </a:lnSpc>
            </a:pPr>
          </a:p>
          <a:p>
            <a:pPr algn="l">
              <a:lnSpc>
                <a:spcPts val="3380"/>
              </a:lnSpc>
            </a:pPr>
            <a:r>
              <a:rPr lang="en-US" sz="2299" spc="73">
                <a:solidFill>
                  <a:srgbClr val="000000"/>
                </a:solidFill>
                <a:latin typeface="Open Sauce Light"/>
                <a:ea typeface="Open Sauce Light"/>
                <a:cs typeface="Open Sauce Light"/>
                <a:sym typeface="Open Sauce Light"/>
              </a:rPr>
              <a:t>Python is </a:t>
            </a:r>
            <a:r>
              <a:rPr lang="en-US" sz="2299" spc="73" b="true">
                <a:solidFill>
                  <a:srgbClr val="000000"/>
                </a:solidFill>
                <a:latin typeface="Open Sauce Bold"/>
                <a:ea typeface="Open Sauce Bold"/>
                <a:cs typeface="Open Sauce Bold"/>
                <a:sym typeface="Open Sauce Bold"/>
              </a:rPr>
              <a:t>dynamically typed and garbage-collected</a:t>
            </a:r>
            <a:r>
              <a:rPr lang="en-US" sz="2299" spc="73">
                <a:solidFill>
                  <a:srgbClr val="000000"/>
                </a:solidFill>
                <a:latin typeface="Open Sauce Light"/>
                <a:ea typeface="Open Sauce Light"/>
                <a:cs typeface="Open Sauce Light"/>
                <a:sym typeface="Open Sauce Light"/>
              </a:rPr>
              <a:t>. It supports </a:t>
            </a:r>
            <a:r>
              <a:rPr lang="en-US" sz="2299" spc="73" b="true">
                <a:solidFill>
                  <a:srgbClr val="000000"/>
                </a:solidFill>
                <a:latin typeface="Open Sauce Bold"/>
                <a:ea typeface="Open Sauce Bold"/>
                <a:cs typeface="Open Sauce Bold"/>
                <a:sym typeface="Open Sauce Bold"/>
              </a:rPr>
              <a:t>multiple programming paradigms</a:t>
            </a:r>
            <a:r>
              <a:rPr lang="en-US" sz="2299" spc="73">
                <a:solidFill>
                  <a:srgbClr val="000000"/>
                </a:solidFill>
                <a:latin typeface="Open Sauce Light"/>
                <a:ea typeface="Open Sauce Light"/>
                <a:cs typeface="Open Sauce Light"/>
                <a:sym typeface="Open Sauce Light"/>
              </a:rPr>
              <a:t>, including </a:t>
            </a:r>
            <a:r>
              <a:rPr lang="en-US" sz="2299" spc="73" b="true">
                <a:solidFill>
                  <a:srgbClr val="000000"/>
                </a:solidFill>
                <a:latin typeface="Open Sauce Bold"/>
                <a:ea typeface="Open Sauce Bold"/>
                <a:cs typeface="Open Sauce Bold"/>
                <a:sym typeface="Open Sauce Bold"/>
              </a:rPr>
              <a:t>procedural, object-oriented, and functional</a:t>
            </a:r>
            <a:r>
              <a:rPr lang="en-US" sz="2299" spc="73">
                <a:solidFill>
                  <a:srgbClr val="000000"/>
                </a:solidFill>
                <a:latin typeface="Open Sauce Light"/>
                <a:ea typeface="Open Sauce Light"/>
                <a:cs typeface="Open Sauce Light"/>
                <a:sym typeface="Open Sauce Light"/>
              </a:rPr>
              <a:t> programming.</a:t>
            </a:r>
          </a:p>
          <a:p>
            <a:pPr algn="l">
              <a:lnSpc>
                <a:spcPts val="3380"/>
              </a:lnSpc>
            </a:pPr>
          </a:p>
        </p:txBody>
      </p:sp>
      <p:sp>
        <p:nvSpPr>
          <p:cNvPr name="TextBox 8" id="8"/>
          <p:cNvSpPr txBox="true"/>
          <p:nvPr/>
        </p:nvSpPr>
        <p:spPr>
          <a:xfrm rot="0">
            <a:off x="1346762" y="4492688"/>
            <a:ext cx="6543672" cy="888556"/>
          </a:xfrm>
          <a:prstGeom prst="rect">
            <a:avLst/>
          </a:prstGeom>
        </p:spPr>
        <p:txBody>
          <a:bodyPr anchor="t" rtlCol="false" tIns="0" lIns="0" bIns="0" rIns="0">
            <a:spAutoFit/>
          </a:bodyPr>
          <a:lstStyle/>
          <a:p>
            <a:pPr algn="r">
              <a:lnSpc>
                <a:spcPts val="6836"/>
              </a:lnSpc>
            </a:pPr>
            <a:r>
              <a:rPr lang="en-US" b="true" sz="6215" spc="198">
                <a:solidFill>
                  <a:srgbClr val="000000"/>
                </a:solidFill>
                <a:latin typeface="Open Sauce Medium"/>
                <a:ea typeface="Open Sauce Medium"/>
                <a:cs typeface="Open Sauce Medium"/>
                <a:sym typeface="Open Sauce Medium"/>
              </a:rPr>
              <a:t>What is it?</a:t>
            </a:r>
          </a:p>
        </p:txBody>
      </p:sp>
      <p:sp>
        <p:nvSpPr>
          <p:cNvPr name="AutoShape 9" id="9"/>
          <p:cNvSpPr/>
          <p:nvPr/>
        </p:nvSpPr>
        <p:spPr>
          <a:xfrm flipH="true" flipV="true">
            <a:off x="-7266123" y="5614472"/>
            <a:ext cx="15156557" cy="0"/>
          </a:xfrm>
          <a:prstGeom prst="line">
            <a:avLst/>
          </a:prstGeom>
          <a:ln cap="flat" w="76200">
            <a:solidFill>
              <a:srgbClr val="C23A97"/>
            </a:solidFill>
            <a:prstDash val="solid"/>
            <a:headEnd type="none" len="sm" w="sm"/>
            <a:tailEnd type="none" len="sm" w="sm"/>
          </a:ln>
        </p:spPr>
      </p:sp>
      <p:sp>
        <p:nvSpPr>
          <p:cNvPr name="Freeform 10" id="10"/>
          <p:cNvSpPr/>
          <p:nvPr/>
        </p:nvSpPr>
        <p:spPr>
          <a:xfrm flipH="false" flipV="false" rot="0">
            <a:off x="-331769" y="-609444"/>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3">
              <a:alphaModFix amt="37000"/>
            </a:blip>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690092" y="2372147"/>
            <a:ext cx="20370072" cy="6018193"/>
            <a:chOff x="0" y="0"/>
            <a:chExt cx="5364957" cy="1585039"/>
          </a:xfrm>
        </p:grpSpPr>
        <p:sp>
          <p:nvSpPr>
            <p:cNvPr name="Freeform 4" id="4"/>
            <p:cNvSpPr/>
            <p:nvPr/>
          </p:nvSpPr>
          <p:spPr>
            <a:xfrm flipH="false" flipV="false" rot="0">
              <a:off x="0" y="0"/>
              <a:ext cx="5364957" cy="1585039"/>
            </a:xfrm>
            <a:custGeom>
              <a:avLst/>
              <a:gdLst/>
              <a:ahLst/>
              <a:cxnLst/>
              <a:rect r="r" b="b" t="t" l="l"/>
              <a:pathLst>
                <a:path h="1585039" w="5364957">
                  <a:moveTo>
                    <a:pt x="0" y="0"/>
                  </a:moveTo>
                  <a:lnTo>
                    <a:pt x="5364957" y="0"/>
                  </a:lnTo>
                  <a:lnTo>
                    <a:pt x="5364957" y="1585039"/>
                  </a:lnTo>
                  <a:lnTo>
                    <a:pt x="0" y="1585039"/>
                  </a:lnTo>
                  <a:close/>
                </a:path>
              </a:pathLst>
            </a:custGeom>
            <a:solidFill>
              <a:srgbClr val="F5F5F5"/>
            </a:solidFill>
          </p:spPr>
        </p:sp>
        <p:sp>
          <p:nvSpPr>
            <p:cNvPr name="TextBox 5" id="5"/>
            <p:cNvSpPr txBox="true"/>
            <p:nvPr/>
          </p:nvSpPr>
          <p:spPr>
            <a:xfrm>
              <a:off x="0" y="-28575"/>
              <a:ext cx="5364957" cy="1613614"/>
            </a:xfrm>
            <a:prstGeom prst="rect">
              <a:avLst/>
            </a:prstGeom>
          </p:spPr>
          <p:txBody>
            <a:bodyPr anchor="ctr" rtlCol="false" tIns="50800" lIns="50800" bIns="50800" rIns="50800"/>
            <a:lstStyle/>
            <a:p>
              <a:pPr algn="ctr">
                <a:lnSpc>
                  <a:spcPts val="1869"/>
                </a:lnSpc>
              </a:pPr>
            </a:p>
          </p:txBody>
        </p:sp>
      </p:grpSp>
      <p:sp>
        <p:nvSpPr>
          <p:cNvPr name="TextBox 6" id="6"/>
          <p:cNvSpPr txBox="true"/>
          <p:nvPr/>
        </p:nvSpPr>
        <p:spPr>
          <a:xfrm rot="0">
            <a:off x="1622987" y="3491865"/>
            <a:ext cx="6543672" cy="898081"/>
          </a:xfrm>
          <a:prstGeom prst="rect">
            <a:avLst/>
          </a:prstGeom>
        </p:spPr>
        <p:txBody>
          <a:bodyPr anchor="t" rtlCol="false" tIns="0" lIns="0" bIns="0" rIns="0">
            <a:spAutoFit/>
          </a:bodyPr>
          <a:lstStyle/>
          <a:p>
            <a:pPr algn="r">
              <a:lnSpc>
                <a:spcPts val="6836"/>
              </a:lnSpc>
            </a:pPr>
            <a:r>
              <a:rPr lang="en-US" sz="6215" spc="198">
                <a:solidFill>
                  <a:srgbClr val="000000"/>
                </a:solidFill>
                <a:latin typeface="Days"/>
                <a:ea typeface="Days"/>
                <a:cs typeface="Days"/>
                <a:sym typeface="Days"/>
              </a:rPr>
              <a:t>Python</a:t>
            </a:r>
          </a:p>
        </p:txBody>
      </p:sp>
      <p:sp>
        <p:nvSpPr>
          <p:cNvPr name="TextBox 7" id="7"/>
          <p:cNvSpPr txBox="true"/>
          <p:nvPr/>
        </p:nvSpPr>
        <p:spPr>
          <a:xfrm rot="0">
            <a:off x="8841719" y="2986905"/>
            <a:ext cx="9176347" cy="5121783"/>
          </a:xfrm>
          <a:prstGeom prst="rect">
            <a:avLst/>
          </a:prstGeom>
        </p:spPr>
        <p:txBody>
          <a:bodyPr anchor="t" rtlCol="false" tIns="0" lIns="0" bIns="0" rIns="0">
            <a:spAutoFit/>
          </a:bodyPr>
          <a:lstStyle/>
          <a:p>
            <a:pPr algn="l">
              <a:lnSpc>
                <a:spcPts val="3380"/>
              </a:lnSpc>
            </a:pPr>
            <a:r>
              <a:rPr lang="en-US" sz="2299" spc="73">
                <a:solidFill>
                  <a:srgbClr val="000000"/>
                </a:solidFill>
                <a:latin typeface="Open Sauce"/>
                <a:ea typeface="Open Sauce"/>
                <a:cs typeface="Open Sauce"/>
                <a:sym typeface="Open Sauce"/>
              </a:rPr>
              <a:t>Ease of Learning:</a:t>
            </a:r>
            <a:r>
              <a:rPr lang="en-US" sz="2299" spc="73">
                <a:solidFill>
                  <a:srgbClr val="000000"/>
                </a:solidFill>
                <a:latin typeface="Open Sauce Light"/>
                <a:ea typeface="Open Sauce Light"/>
                <a:cs typeface="Open Sauce Light"/>
                <a:sym typeface="Open Sauce Light"/>
              </a:rPr>
              <a:t> Python has a </a:t>
            </a:r>
            <a:r>
              <a:rPr lang="en-US" sz="2299" spc="73" b="true">
                <a:solidFill>
                  <a:srgbClr val="000000"/>
                </a:solidFill>
                <a:latin typeface="Open Sauce Bold"/>
                <a:ea typeface="Open Sauce Bold"/>
                <a:cs typeface="Open Sauce Bold"/>
                <a:sym typeface="Open Sauce Bold"/>
              </a:rPr>
              <a:t>simple syntax</a:t>
            </a:r>
            <a:r>
              <a:rPr lang="en-US" sz="2299" spc="73">
                <a:solidFill>
                  <a:srgbClr val="000000"/>
                </a:solidFill>
                <a:latin typeface="Open Sauce Light"/>
                <a:ea typeface="Open Sauce Light"/>
                <a:cs typeface="Open Sauce Light"/>
                <a:sym typeface="Open Sauce Light"/>
              </a:rPr>
              <a:t> which makes it a great language for beginners. It's designed to be </a:t>
            </a:r>
            <a:r>
              <a:rPr lang="en-US" sz="2299" spc="73" b="true">
                <a:solidFill>
                  <a:srgbClr val="000000"/>
                </a:solidFill>
                <a:latin typeface="Open Sauce Bold"/>
                <a:ea typeface="Open Sauce Bold"/>
                <a:cs typeface="Open Sauce Bold"/>
                <a:sym typeface="Open Sauce Bold"/>
              </a:rPr>
              <a:t>easy to understand and write.</a:t>
            </a:r>
          </a:p>
          <a:p>
            <a:pPr algn="l">
              <a:lnSpc>
                <a:spcPts val="3380"/>
              </a:lnSpc>
            </a:pPr>
          </a:p>
          <a:p>
            <a:pPr algn="l">
              <a:lnSpc>
                <a:spcPts val="3380"/>
              </a:lnSpc>
            </a:pPr>
            <a:r>
              <a:rPr lang="en-US" sz="2299" spc="73">
                <a:solidFill>
                  <a:srgbClr val="000000"/>
                </a:solidFill>
                <a:latin typeface="Open Sauce Light"/>
                <a:ea typeface="Open Sauce Light"/>
                <a:cs typeface="Open Sauce Light"/>
                <a:sym typeface="Open Sauce Light"/>
              </a:rPr>
              <a:t>Portability: Python code can run on a wide variety of systems and has the </a:t>
            </a:r>
            <a:r>
              <a:rPr lang="en-US" sz="2299" spc="73" b="true">
                <a:solidFill>
                  <a:srgbClr val="000000"/>
                </a:solidFill>
                <a:latin typeface="Open Sauce Bold"/>
                <a:ea typeface="Open Sauce Bold"/>
                <a:cs typeface="Open Sauce Bold"/>
                <a:sym typeface="Open Sauce Bold"/>
              </a:rPr>
              <a:t>same interface on all platforms</a:t>
            </a:r>
            <a:r>
              <a:rPr lang="en-US" sz="2299" spc="73">
                <a:solidFill>
                  <a:srgbClr val="000000"/>
                </a:solidFill>
                <a:latin typeface="Open Sauce Light"/>
                <a:ea typeface="Open Sauce Light"/>
                <a:cs typeface="Open Sauce Light"/>
                <a:sym typeface="Open Sauce Light"/>
              </a:rPr>
              <a:t>.</a:t>
            </a:r>
          </a:p>
          <a:p>
            <a:pPr algn="l">
              <a:lnSpc>
                <a:spcPts val="3380"/>
              </a:lnSpc>
            </a:pPr>
          </a:p>
          <a:p>
            <a:pPr algn="l">
              <a:lnSpc>
                <a:spcPts val="3380"/>
              </a:lnSpc>
            </a:pPr>
            <a:r>
              <a:rPr lang="en-US" sz="2299" spc="73">
                <a:solidFill>
                  <a:srgbClr val="000000"/>
                </a:solidFill>
                <a:latin typeface="Open Sauce Light"/>
                <a:ea typeface="Open Sauce Light"/>
                <a:cs typeface="Open Sauce Light"/>
                <a:sym typeface="Open Sauce Light"/>
              </a:rPr>
              <a:t>Versatility: Python is </a:t>
            </a:r>
            <a:r>
              <a:rPr lang="en-US" sz="2299" spc="73" b="true">
                <a:solidFill>
                  <a:srgbClr val="000000"/>
                </a:solidFill>
                <a:latin typeface="Open Sauce Bold"/>
                <a:ea typeface="Open Sauce Bold"/>
                <a:cs typeface="Open Sauce Bold"/>
                <a:sym typeface="Open Sauce Bold"/>
              </a:rPr>
              <a:t>used in many areas</a:t>
            </a:r>
            <a:r>
              <a:rPr lang="en-US" sz="2299" spc="73">
                <a:solidFill>
                  <a:srgbClr val="000000"/>
                </a:solidFill>
                <a:latin typeface="Open Sauce Light"/>
                <a:ea typeface="Open Sauce Light"/>
                <a:cs typeface="Open Sauce Light"/>
                <a:sym typeface="Open Sauce Light"/>
              </a:rPr>
              <a:t> such as web development, data analysis, artificial intelligence, scientific computing, etc.</a:t>
            </a:r>
          </a:p>
          <a:p>
            <a:pPr algn="l">
              <a:lnSpc>
                <a:spcPts val="3380"/>
              </a:lnSpc>
            </a:pPr>
          </a:p>
          <a:p>
            <a:pPr algn="l">
              <a:lnSpc>
                <a:spcPts val="3380"/>
              </a:lnSpc>
            </a:pPr>
          </a:p>
        </p:txBody>
      </p:sp>
      <p:sp>
        <p:nvSpPr>
          <p:cNvPr name="TextBox 8" id="8"/>
          <p:cNvSpPr txBox="true"/>
          <p:nvPr/>
        </p:nvSpPr>
        <p:spPr>
          <a:xfrm rot="0">
            <a:off x="1346762" y="4492688"/>
            <a:ext cx="6543672" cy="888556"/>
          </a:xfrm>
          <a:prstGeom prst="rect">
            <a:avLst/>
          </a:prstGeom>
        </p:spPr>
        <p:txBody>
          <a:bodyPr anchor="t" rtlCol="false" tIns="0" lIns="0" bIns="0" rIns="0">
            <a:spAutoFit/>
          </a:bodyPr>
          <a:lstStyle/>
          <a:p>
            <a:pPr algn="r">
              <a:lnSpc>
                <a:spcPts val="6836"/>
              </a:lnSpc>
            </a:pPr>
            <a:r>
              <a:rPr lang="en-US" b="true" sz="6215" spc="198">
                <a:solidFill>
                  <a:srgbClr val="000000"/>
                </a:solidFill>
                <a:latin typeface="Open Sauce Medium"/>
                <a:ea typeface="Open Sauce Medium"/>
                <a:cs typeface="Open Sauce Medium"/>
                <a:sym typeface="Open Sauce Medium"/>
              </a:rPr>
              <a:t>Key features</a:t>
            </a:r>
          </a:p>
        </p:txBody>
      </p:sp>
      <p:sp>
        <p:nvSpPr>
          <p:cNvPr name="AutoShape 9" id="9"/>
          <p:cNvSpPr/>
          <p:nvPr/>
        </p:nvSpPr>
        <p:spPr>
          <a:xfrm flipH="true" flipV="true">
            <a:off x="-7266123" y="5614472"/>
            <a:ext cx="15156557" cy="0"/>
          </a:xfrm>
          <a:prstGeom prst="line">
            <a:avLst/>
          </a:prstGeom>
          <a:ln cap="flat" w="76200">
            <a:solidFill>
              <a:srgbClr val="C23A97"/>
            </a:solidFill>
            <a:prstDash val="solid"/>
            <a:headEnd type="none" len="sm" w="sm"/>
            <a:tailEnd type="none" len="sm" w="sm"/>
          </a:ln>
        </p:spPr>
      </p:sp>
      <p:sp>
        <p:nvSpPr>
          <p:cNvPr name="Freeform 10" id="10"/>
          <p:cNvSpPr/>
          <p:nvPr/>
        </p:nvSpPr>
        <p:spPr>
          <a:xfrm flipH="false" flipV="false" rot="0">
            <a:off x="-331769" y="-609444"/>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3">
              <a:alphaModFix amt="37000"/>
            </a:blip>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690092" y="2372147"/>
            <a:ext cx="20370072" cy="6018193"/>
            <a:chOff x="0" y="0"/>
            <a:chExt cx="5364957" cy="1585039"/>
          </a:xfrm>
        </p:grpSpPr>
        <p:sp>
          <p:nvSpPr>
            <p:cNvPr name="Freeform 4" id="4"/>
            <p:cNvSpPr/>
            <p:nvPr/>
          </p:nvSpPr>
          <p:spPr>
            <a:xfrm flipH="false" flipV="false" rot="0">
              <a:off x="0" y="0"/>
              <a:ext cx="5364957" cy="1585039"/>
            </a:xfrm>
            <a:custGeom>
              <a:avLst/>
              <a:gdLst/>
              <a:ahLst/>
              <a:cxnLst/>
              <a:rect r="r" b="b" t="t" l="l"/>
              <a:pathLst>
                <a:path h="1585039" w="5364957">
                  <a:moveTo>
                    <a:pt x="0" y="0"/>
                  </a:moveTo>
                  <a:lnTo>
                    <a:pt x="5364957" y="0"/>
                  </a:lnTo>
                  <a:lnTo>
                    <a:pt x="5364957" y="1585039"/>
                  </a:lnTo>
                  <a:lnTo>
                    <a:pt x="0" y="1585039"/>
                  </a:lnTo>
                  <a:close/>
                </a:path>
              </a:pathLst>
            </a:custGeom>
            <a:solidFill>
              <a:srgbClr val="F5F5F5"/>
            </a:solidFill>
          </p:spPr>
        </p:sp>
        <p:sp>
          <p:nvSpPr>
            <p:cNvPr name="TextBox 5" id="5"/>
            <p:cNvSpPr txBox="true"/>
            <p:nvPr/>
          </p:nvSpPr>
          <p:spPr>
            <a:xfrm>
              <a:off x="0" y="-28575"/>
              <a:ext cx="5364957" cy="1613614"/>
            </a:xfrm>
            <a:prstGeom prst="rect">
              <a:avLst/>
            </a:prstGeom>
          </p:spPr>
          <p:txBody>
            <a:bodyPr anchor="ctr" rtlCol="false" tIns="50800" lIns="50800" bIns="50800" rIns="50800"/>
            <a:lstStyle/>
            <a:p>
              <a:pPr algn="ctr">
                <a:lnSpc>
                  <a:spcPts val="1869"/>
                </a:lnSpc>
              </a:pPr>
            </a:p>
          </p:txBody>
        </p:sp>
      </p:grpSp>
      <p:sp>
        <p:nvSpPr>
          <p:cNvPr name="TextBox 6" id="6"/>
          <p:cNvSpPr txBox="true"/>
          <p:nvPr/>
        </p:nvSpPr>
        <p:spPr>
          <a:xfrm rot="0">
            <a:off x="1622987" y="3491865"/>
            <a:ext cx="6543672" cy="898081"/>
          </a:xfrm>
          <a:prstGeom prst="rect">
            <a:avLst/>
          </a:prstGeom>
        </p:spPr>
        <p:txBody>
          <a:bodyPr anchor="t" rtlCol="false" tIns="0" lIns="0" bIns="0" rIns="0">
            <a:spAutoFit/>
          </a:bodyPr>
          <a:lstStyle/>
          <a:p>
            <a:pPr algn="r">
              <a:lnSpc>
                <a:spcPts val="6836"/>
              </a:lnSpc>
            </a:pPr>
            <a:r>
              <a:rPr lang="en-US" sz="6215" spc="198">
                <a:solidFill>
                  <a:srgbClr val="000000"/>
                </a:solidFill>
                <a:latin typeface="Days"/>
                <a:ea typeface="Days"/>
                <a:cs typeface="Days"/>
                <a:sym typeface="Days"/>
              </a:rPr>
              <a:t>Python</a:t>
            </a:r>
          </a:p>
        </p:txBody>
      </p:sp>
      <p:sp>
        <p:nvSpPr>
          <p:cNvPr name="TextBox 7" id="7"/>
          <p:cNvSpPr txBox="true"/>
          <p:nvPr/>
        </p:nvSpPr>
        <p:spPr>
          <a:xfrm rot="0">
            <a:off x="8822826" y="3387090"/>
            <a:ext cx="9176347" cy="3407283"/>
          </a:xfrm>
          <a:prstGeom prst="rect">
            <a:avLst/>
          </a:prstGeom>
        </p:spPr>
        <p:txBody>
          <a:bodyPr anchor="t" rtlCol="false" tIns="0" lIns="0" bIns="0" rIns="0">
            <a:spAutoFit/>
          </a:bodyPr>
          <a:lstStyle/>
          <a:p>
            <a:pPr algn="l">
              <a:lnSpc>
                <a:spcPts val="3380"/>
              </a:lnSpc>
            </a:pPr>
            <a:r>
              <a:rPr lang="en-US" sz="2299" spc="73">
                <a:solidFill>
                  <a:srgbClr val="000000"/>
                </a:solidFill>
                <a:latin typeface="Open Sauce Light"/>
                <a:ea typeface="Open Sauce Light"/>
                <a:cs typeface="Open Sauce Light"/>
                <a:sym typeface="Open Sauce Light"/>
              </a:rPr>
              <a:t>Wide Standard Library: </a:t>
            </a:r>
            <a:r>
              <a:rPr lang="en-US" sz="2299" spc="73" b="true">
                <a:solidFill>
                  <a:srgbClr val="000000"/>
                </a:solidFill>
                <a:latin typeface="Open Sauce Bold"/>
                <a:ea typeface="Open Sauce Bold"/>
                <a:cs typeface="Open Sauce Bold"/>
                <a:sym typeface="Open Sauce Bold"/>
              </a:rPr>
              <a:t>Python's standard library is very portable</a:t>
            </a:r>
            <a:r>
              <a:rPr lang="en-US" sz="2299" spc="73">
                <a:solidFill>
                  <a:srgbClr val="000000"/>
                </a:solidFill>
                <a:latin typeface="Open Sauce Light"/>
                <a:ea typeface="Open Sauce Light"/>
                <a:cs typeface="Open Sauce Light"/>
                <a:sym typeface="Open Sauce Light"/>
              </a:rPr>
              <a:t> and cross-platform compatible on UNIX, Windows, and Macintosh.</a:t>
            </a:r>
          </a:p>
          <a:p>
            <a:pPr algn="l">
              <a:lnSpc>
                <a:spcPts val="3380"/>
              </a:lnSpc>
            </a:pPr>
          </a:p>
          <a:p>
            <a:pPr algn="l">
              <a:lnSpc>
                <a:spcPts val="3380"/>
              </a:lnSpc>
            </a:pPr>
            <a:r>
              <a:rPr lang="en-US" sz="2299" spc="73">
                <a:solidFill>
                  <a:srgbClr val="000000"/>
                </a:solidFill>
                <a:latin typeface="Open Sauce Light"/>
                <a:ea typeface="Open Sauce Light"/>
                <a:cs typeface="Open Sauce Light"/>
                <a:sym typeface="Open Sauce Light"/>
              </a:rPr>
              <a:t>Open Source: Python is developed under an OSI-approved </a:t>
            </a:r>
            <a:r>
              <a:rPr lang="en-US" sz="2299" spc="73" b="true">
                <a:solidFill>
                  <a:srgbClr val="000000"/>
                </a:solidFill>
                <a:latin typeface="Open Sauce Bold"/>
                <a:ea typeface="Open Sauce Bold"/>
                <a:cs typeface="Open Sauce Bold"/>
                <a:sym typeface="Open Sauce Bold"/>
              </a:rPr>
              <a:t>open-source license</a:t>
            </a:r>
            <a:r>
              <a:rPr lang="en-US" sz="2299" spc="73">
                <a:solidFill>
                  <a:srgbClr val="000000"/>
                </a:solidFill>
                <a:latin typeface="Open Sauce Light"/>
                <a:ea typeface="Open Sauce Light"/>
                <a:cs typeface="Open Sauce Light"/>
                <a:sym typeface="Open Sauce Light"/>
              </a:rPr>
              <a:t>, making it freely usable and distributable.</a:t>
            </a:r>
          </a:p>
          <a:p>
            <a:pPr algn="l">
              <a:lnSpc>
                <a:spcPts val="3380"/>
              </a:lnSpc>
            </a:pPr>
          </a:p>
        </p:txBody>
      </p:sp>
      <p:sp>
        <p:nvSpPr>
          <p:cNvPr name="TextBox 8" id="8"/>
          <p:cNvSpPr txBox="true"/>
          <p:nvPr/>
        </p:nvSpPr>
        <p:spPr>
          <a:xfrm rot="0">
            <a:off x="1346762" y="4492688"/>
            <a:ext cx="6543672" cy="888556"/>
          </a:xfrm>
          <a:prstGeom prst="rect">
            <a:avLst/>
          </a:prstGeom>
        </p:spPr>
        <p:txBody>
          <a:bodyPr anchor="t" rtlCol="false" tIns="0" lIns="0" bIns="0" rIns="0">
            <a:spAutoFit/>
          </a:bodyPr>
          <a:lstStyle/>
          <a:p>
            <a:pPr algn="r">
              <a:lnSpc>
                <a:spcPts val="6836"/>
              </a:lnSpc>
            </a:pPr>
            <a:r>
              <a:rPr lang="en-US" b="true" sz="6215" spc="198">
                <a:solidFill>
                  <a:srgbClr val="000000"/>
                </a:solidFill>
                <a:latin typeface="Open Sauce Medium"/>
                <a:ea typeface="Open Sauce Medium"/>
                <a:cs typeface="Open Sauce Medium"/>
                <a:sym typeface="Open Sauce Medium"/>
              </a:rPr>
              <a:t>Key features</a:t>
            </a:r>
          </a:p>
        </p:txBody>
      </p:sp>
      <p:sp>
        <p:nvSpPr>
          <p:cNvPr name="AutoShape 9" id="9"/>
          <p:cNvSpPr/>
          <p:nvPr/>
        </p:nvSpPr>
        <p:spPr>
          <a:xfrm flipH="true" flipV="true">
            <a:off x="-7266123" y="5614472"/>
            <a:ext cx="15156557" cy="0"/>
          </a:xfrm>
          <a:prstGeom prst="line">
            <a:avLst/>
          </a:prstGeom>
          <a:ln cap="flat" w="76200">
            <a:solidFill>
              <a:srgbClr val="C23A97"/>
            </a:solidFill>
            <a:prstDash val="solid"/>
            <a:headEnd type="none" len="sm" w="sm"/>
            <a:tailEnd type="none" len="sm" w="sm"/>
          </a:ln>
        </p:spPr>
      </p:sp>
      <p:sp>
        <p:nvSpPr>
          <p:cNvPr name="Freeform 10" id="10"/>
          <p:cNvSpPr/>
          <p:nvPr/>
        </p:nvSpPr>
        <p:spPr>
          <a:xfrm flipH="false" flipV="false" rot="0">
            <a:off x="-331769" y="-609444"/>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3">
              <a:alphaModFix amt="37000"/>
            </a:blip>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690092" y="2372147"/>
            <a:ext cx="20370072" cy="6018193"/>
            <a:chOff x="0" y="0"/>
            <a:chExt cx="5364957" cy="1585039"/>
          </a:xfrm>
        </p:grpSpPr>
        <p:sp>
          <p:nvSpPr>
            <p:cNvPr name="Freeform 4" id="4"/>
            <p:cNvSpPr/>
            <p:nvPr/>
          </p:nvSpPr>
          <p:spPr>
            <a:xfrm flipH="false" flipV="false" rot="0">
              <a:off x="0" y="0"/>
              <a:ext cx="5364957" cy="1585039"/>
            </a:xfrm>
            <a:custGeom>
              <a:avLst/>
              <a:gdLst/>
              <a:ahLst/>
              <a:cxnLst/>
              <a:rect r="r" b="b" t="t" l="l"/>
              <a:pathLst>
                <a:path h="1585039" w="5364957">
                  <a:moveTo>
                    <a:pt x="0" y="0"/>
                  </a:moveTo>
                  <a:lnTo>
                    <a:pt x="5364957" y="0"/>
                  </a:lnTo>
                  <a:lnTo>
                    <a:pt x="5364957" y="1585039"/>
                  </a:lnTo>
                  <a:lnTo>
                    <a:pt x="0" y="1585039"/>
                  </a:lnTo>
                  <a:close/>
                </a:path>
              </a:pathLst>
            </a:custGeom>
            <a:solidFill>
              <a:srgbClr val="F5F5F5"/>
            </a:solidFill>
          </p:spPr>
        </p:sp>
        <p:sp>
          <p:nvSpPr>
            <p:cNvPr name="TextBox 5" id="5"/>
            <p:cNvSpPr txBox="true"/>
            <p:nvPr/>
          </p:nvSpPr>
          <p:spPr>
            <a:xfrm>
              <a:off x="0" y="-28575"/>
              <a:ext cx="5364957" cy="1613614"/>
            </a:xfrm>
            <a:prstGeom prst="rect">
              <a:avLst/>
            </a:prstGeom>
          </p:spPr>
          <p:txBody>
            <a:bodyPr anchor="ctr" rtlCol="false" tIns="50800" lIns="50800" bIns="50800" rIns="50800"/>
            <a:lstStyle/>
            <a:p>
              <a:pPr algn="ctr">
                <a:lnSpc>
                  <a:spcPts val="1869"/>
                </a:lnSpc>
              </a:pPr>
            </a:p>
          </p:txBody>
        </p:sp>
      </p:grpSp>
      <p:sp>
        <p:nvSpPr>
          <p:cNvPr name="TextBox 6" id="6"/>
          <p:cNvSpPr txBox="true"/>
          <p:nvPr/>
        </p:nvSpPr>
        <p:spPr>
          <a:xfrm rot="0">
            <a:off x="1622987" y="3491865"/>
            <a:ext cx="6543672" cy="898081"/>
          </a:xfrm>
          <a:prstGeom prst="rect">
            <a:avLst/>
          </a:prstGeom>
        </p:spPr>
        <p:txBody>
          <a:bodyPr anchor="t" rtlCol="false" tIns="0" lIns="0" bIns="0" rIns="0">
            <a:spAutoFit/>
          </a:bodyPr>
          <a:lstStyle/>
          <a:p>
            <a:pPr algn="r">
              <a:lnSpc>
                <a:spcPts val="6836"/>
              </a:lnSpc>
            </a:pPr>
            <a:r>
              <a:rPr lang="en-US" sz="6215" spc="198">
                <a:solidFill>
                  <a:srgbClr val="000000"/>
                </a:solidFill>
                <a:latin typeface="Days"/>
                <a:ea typeface="Days"/>
                <a:cs typeface="Days"/>
                <a:sym typeface="Days"/>
              </a:rPr>
              <a:t>Python</a:t>
            </a:r>
          </a:p>
        </p:txBody>
      </p:sp>
      <p:sp>
        <p:nvSpPr>
          <p:cNvPr name="TextBox 7" id="7"/>
          <p:cNvSpPr txBox="true"/>
          <p:nvPr/>
        </p:nvSpPr>
        <p:spPr>
          <a:xfrm rot="0">
            <a:off x="8785041" y="3387090"/>
            <a:ext cx="9176347" cy="2550033"/>
          </a:xfrm>
          <a:prstGeom prst="rect">
            <a:avLst/>
          </a:prstGeom>
        </p:spPr>
        <p:txBody>
          <a:bodyPr anchor="t" rtlCol="false" tIns="0" lIns="0" bIns="0" rIns="0">
            <a:spAutoFit/>
          </a:bodyPr>
          <a:lstStyle/>
          <a:p>
            <a:pPr algn="l">
              <a:lnSpc>
                <a:spcPts val="3380"/>
              </a:lnSpc>
            </a:pPr>
            <a:r>
              <a:rPr lang="en-US" sz="2299">
                <a:solidFill>
                  <a:srgbClr val="000000"/>
                </a:solidFill>
                <a:latin typeface="Open Sauce Light"/>
                <a:ea typeface="Open Sauce Light"/>
                <a:cs typeface="Open Sauce Light"/>
                <a:sym typeface="Open Sauce Light"/>
              </a:rPr>
              <a:t>Python is </a:t>
            </a:r>
            <a:r>
              <a:rPr lang="en-US" sz="2299" b="true">
                <a:solidFill>
                  <a:srgbClr val="000000"/>
                </a:solidFill>
                <a:latin typeface="Open Sauce Bold"/>
                <a:ea typeface="Open Sauce Bold"/>
                <a:cs typeface="Open Sauce Bold"/>
                <a:sym typeface="Open Sauce Bold"/>
              </a:rPr>
              <a:t>extensively used in the field of Chemistry</a:t>
            </a:r>
            <a:r>
              <a:rPr lang="en-US" sz="2299">
                <a:solidFill>
                  <a:srgbClr val="000000"/>
                </a:solidFill>
                <a:latin typeface="Open Sauce Light"/>
                <a:ea typeface="Open Sauce Light"/>
                <a:cs typeface="Open Sauce Light"/>
                <a:sym typeface="Open Sauce Light"/>
              </a:rPr>
              <a:t> for tasks such as data analysis, molecular modelling, quantum chemistry calculations, chemoinformatics, and more. </a:t>
            </a:r>
          </a:p>
          <a:p>
            <a:pPr algn="l">
              <a:lnSpc>
                <a:spcPts val="3380"/>
              </a:lnSpc>
            </a:pPr>
          </a:p>
          <a:p>
            <a:pPr algn="l">
              <a:lnSpc>
                <a:spcPts val="3380"/>
              </a:lnSpc>
            </a:pPr>
            <a:r>
              <a:rPr lang="en-US" sz="2299">
                <a:solidFill>
                  <a:srgbClr val="000000"/>
                </a:solidFill>
                <a:latin typeface="Open Sauce Light"/>
                <a:ea typeface="Open Sauce Light"/>
                <a:cs typeface="Open Sauce Light"/>
                <a:sym typeface="Open Sauce Light"/>
              </a:rPr>
              <a:t>Its </a:t>
            </a:r>
            <a:r>
              <a:rPr lang="en-US" sz="2299" b="true">
                <a:solidFill>
                  <a:srgbClr val="000000"/>
                </a:solidFill>
                <a:latin typeface="Open Sauce Bold"/>
                <a:ea typeface="Open Sauce Bold"/>
                <a:cs typeface="Open Sauce Bold"/>
                <a:sym typeface="Open Sauce Bold"/>
              </a:rPr>
              <a:t>simple syntax</a:t>
            </a:r>
            <a:r>
              <a:rPr lang="en-US" sz="2299">
                <a:solidFill>
                  <a:srgbClr val="000000"/>
                </a:solidFill>
                <a:latin typeface="Open Sauce Light"/>
                <a:ea typeface="Open Sauce Light"/>
                <a:cs typeface="Open Sauce Light"/>
                <a:sym typeface="Open Sauce Light"/>
              </a:rPr>
              <a:t>, coupled with its </a:t>
            </a:r>
            <a:r>
              <a:rPr lang="en-US" sz="2299" b="true">
                <a:solidFill>
                  <a:srgbClr val="000000"/>
                </a:solidFill>
                <a:latin typeface="Open Sauce Bold"/>
                <a:ea typeface="Open Sauce Bold"/>
                <a:cs typeface="Open Sauce Bold"/>
                <a:sym typeface="Open Sauce Bold"/>
              </a:rPr>
              <a:t>powerful libraries</a:t>
            </a:r>
            <a:r>
              <a:rPr lang="en-US" sz="2299">
                <a:solidFill>
                  <a:srgbClr val="000000"/>
                </a:solidFill>
                <a:latin typeface="Open Sauce Light"/>
                <a:ea typeface="Open Sauce Light"/>
                <a:cs typeface="Open Sauce Light"/>
                <a:sym typeface="Open Sauce Light"/>
              </a:rPr>
              <a:t> and frameworks, make Python an excellent tool for chemists to use.</a:t>
            </a:r>
          </a:p>
        </p:txBody>
      </p:sp>
      <p:sp>
        <p:nvSpPr>
          <p:cNvPr name="TextBox 8" id="8"/>
          <p:cNvSpPr txBox="true"/>
          <p:nvPr/>
        </p:nvSpPr>
        <p:spPr>
          <a:xfrm rot="0">
            <a:off x="312156" y="4492688"/>
            <a:ext cx="7578278" cy="888556"/>
          </a:xfrm>
          <a:prstGeom prst="rect">
            <a:avLst/>
          </a:prstGeom>
        </p:spPr>
        <p:txBody>
          <a:bodyPr anchor="t" rtlCol="false" tIns="0" lIns="0" bIns="0" rIns="0">
            <a:spAutoFit/>
          </a:bodyPr>
          <a:lstStyle/>
          <a:p>
            <a:pPr algn="r">
              <a:lnSpc>
                <a:spcPts val="6836"/>
              </a:lnSpc>
            </a:pPr>
            <a:r>
              <a:rPr lang="en-US" b="true" sz="6215" spc="198">
                <a:solidFill>
                  <a:srgbClr val="000000"/>
                </a:solidFill>
                <a:latin typeface="Open Sauce Medium"/>
                <a:ea typeface="Open Sauce Medium"/>
                <a:cs typeface="Open Sauce Medium"/>
                <a:sym typeface="Open Sauce Medium"/>
              </a:rPr>
              <a:t>Use in Chemistry </a:t>
            </a:r>
          </a:p>
        </p:txBody>
      </p:sp>
      <p:sp>
        <p:nvSpPr>
          <p:cNvPr name="AutoShape 9" id="9"/>
          <p:cNvSpPr/>
          <p:nvPr/>
        </p:nvSpPr>
        <p:spPr>
          <a:xfrm flipH="true" flipV="true">
            <a:off x="-7266123" y="5614472"/>
            <a:ext cx="15156557" cy="0"/>
          </a:xfrm>
          <a:prstGeom prst="line">
            <a:avLst/>
          </a:prstGeom>
          <a:ln cap="flat" w="76200">
            <a:solidFill>
              <a:srgbClr val="C23A97"/>
            </a:solidFill>
            <a:prstDash val="solid"/>
            <a:headEnd type="none" len="sm" w="sm"/>
            <a:tailEnd type="none" len="sm" w="sm"/>
          </a:ln>
        </p:spPr>
      </p:sp>
      <p:sp>
        <p:nvSpPr>
          <p:cNvPr name="Freeform 10" id="10"/>
          <p:cNvSpPr/>
          <p:nvPr/>
        </p:nvSpPr>
        <p:spPr>
          <a:xfrm flipH="false" flipV="false" rot="0">
            <a:off x="-331769" y="-609444"/>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3">
              <a:alphaModFix amt="37000"/>
            </a:blip>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690092" y="2372147"/>
            <a:ext cx="20370072" cy="6018193"/>
            <a:chOff x="0" y="0"/>
            <a:chExt cx="5364957" cy="1585039"/>
          </a:xfrm>
        </p:grpSpPr>
        <p:sp>
          <p:nvSpPr>
            <p:cNvPr name="Freeform 4" id="4"/>
            <p:cNvSpPr/>
            <p:nvPr/>
          </p:nvSpPr>
          <p:spPr>
            <a:xfrm flipH="false" flipV="false" rot="0">
              <a:off x="0" y="0"/>
              <a:ext cx="5364957" cy="1585039"/>
            </a:xfrm>
            <a:custGeom>
              <a:avLst/>
              <a:gdLst/>
              <a:ahLst/>
              <a:cxnLst/>
              <a:rect r="r" b="b" t="t" l="l"/>
              <a:pathLst>
                <a:path h="1585039" w="5364957">
                  <a:moveTo>
                    <a:pt x="0" y="0"/>
                  </a:moveTo>
                  <a:lnTo>
                    <a:pt x="5364957" y="0"/>
                  </a:lnTo>
                  <a:lnTo>
                    <a:pt x="5364957" y="1585039"/>
                  </a:lnTo>
                  <a:lnTo>
                    <a:pt x="0" y="1585039"/>
                  </a:lnTo>
                  <a:close/>
                </a:path>
              </a:pathLst>
            </a:custGeom>
            <a:solidFill>
              <a:srgbClr val="F5F5F5"/>
            </a:solidFill>
          </p:spPr>
        </p:sp>
        <p:sp>
          <p:nvSpPr>
            <p:cNvPr name="TextBox 5" id="5"/>
            <p:cNvSpPr txBox="true"/>
            <p:nvPr/>
          </p:nvSpPr>
          <p:spPr>
            <a:xfrm>
              <a:off x="0" y="-28575"/>
              <a:ext cx="5364957" cy="1613614"/>
            </a:xfrm>
            <a:prstGeom prst="rect">
              <a:avLst/>
            </a:prstGeom>
          </p:spPr>
          <p:txBody>
            <a:bodyPr anchor="ctr" rtlCol="false" tIns="50800" lIns="50800" bIns="50800" rIns="50800"/>
            <a:lstStyle/>
            <a:p>
              <a:pPr algn="ctr">
                <a:lnSpc>
                  <a:spcPts val="1869"/>
                </a:lnSpc>
              </a:pPr>
            </a:p>
          </p:txBody>
        </p:sp>
      </p:grpSp>
      <p:sp>
        <p:nvSpPr>
          <p:cNvPr name="TextBox 6" id="6"/>
          <p:cNvSpPr txBox="true"/>
          <p:nvPr/>
        </p:nvSpPr>
        <p:spPr>
          <a:xfrm rot="0">
            <a:off x="1622987" y="3491865"/>
            <a:ext cx="6543672" cy="898081"/>
          </a:xfrm>
          <a:prstGeom prst="rect">
            <a:avLst/>
          </a:prstGeom>
        </p:spPr>
        <p:txBody>
          <a:bodyPr anchor="t" rtlCol="false" tIns="0" lIns="0" bIns="0" rIns="0">
            <a:spAutoFit/>
          </a:bodyPr>
          <a:lstStyle/>
          <a:p>
            <a:pPr algn="r">
              <a:lnSpc>
                <a:spcPts val="6836"/>
              </a:lnSpc>
            </a:pPr>
            <a:r>
              <a:rPr lang="en-US" sz="6215" spc="198">
                <a:solidFill>
                  <a:srgbClr val="000000"/>
                </a:solidFill>
                <a:latin typeface="Days"/>
                <a:ea typeface="Days"/>
                <a:cs typeface="Days"/>
                <a:sym typeface="Days"/>
              </a:rPr>
              <a:t>Miniconda</a:t>
            </a:r>
          </a:p>
        </p:txBody>
      </p:sp>
      <p:sp>
        <p:nvSpPr>
          <p:cNvPr name="TextBox 7" id="7"/>
          <p:cNvSpPr txBox="true"/>
          <p:nvPr/>
        </p:nvSpPr>
        <p:spPr>
          <a:xfrm rot="0">
            <a:off x="8785041" y="3670478"/>
            <a:ext cx="9176347" cy="2121408"/>
          </a:xfrm>
          <a:prstGeom prst="rect">
            <a:avLst/>
          </a:prstGeom>
        </p:spPr>
        <p:txBody>
          <a:bodyPr anchor="t" rtlCol="false" tIns="0" lIns="0" bIns="0" rIns="0">
            <a:spAutoFit/>
          </a:bodyPr>
          <a:lstStyle/>
          <a:p>
            <a:pPr algn="l">
              <a:lnSpc>
                <a:spcPts val="3380"/>
              </a:lnSpc>
            </a:pPr>
            <a:r>
              <a:rPr lang="en-US" sz="2299">
                <a:solidFill>
                  <a:srgbClr val="000000"/>
                </a:solidFill>
                <a:latin typeface="Open Sauce Light"/>
                <a:ea typeface="Open Sauce Light"/>
                <a:cs typeface="Open Sauce Light"/>
                <a:sym typeface="Open Sauce Light"/>
              </a:rPr>
              <a:t>Miniconda is a stripped down </a:t>
            </a:r>
            <a:r>
              <a:rPr lang="en-US" sz="2299" b="true">
                <a:solidFill>
                  <a:srgbClr val="000000"/>
                </a:solidFill>
                <a:latin typeface="Open Sauce Bold"/>
                <a:ea typeface="Open Sauce Bold"/>
                <a:cs typeface="Open Sauce Bold"/>
                <a:sym typeface="Open Sauce Bold"/>
              </a:rPr>
              <a:t>free and open-source distribution of the Python </a:t>
            </a:r>
            <a:r>
              <a:rPr lang="en-US" sz="2299">
                <a:solidFill>
                  <a:srgbClr val="000000"/>
                </a:solidFill>
                <a:latin typeface="Open Sauce Light"/>
                <a:ea typeface="Open Sauce Light"/>
                <a:cs typeface="Open Sauce Light"/>
                <a:sym typeface="Open Sauce Light"/>
              </a:rPr>
              <a:t>and R programming languages </a:t>
            </a:r>
            <a:r>
              <a:rPr lang="en-US" sz="2299" b="true">
                <a:solidFill>
                  <a:srgbClr val="000000"/>
                </a:solidFill>
                <a:latin typeface="Open Sauce Bold"/>
                <a:ea typeface="Open Sauce Bold"/>
                <a:cs typeface="Open Sauce Bold"/>
                <a:sym typeface="Open Sauce Bold"/>
              </a:rPr>
              <a:t>for scientific computing</a:t>
            </a:r>
            <a:r>
              <a:rPr lang="en-US" sz="2299">
                <a:solidFill>
                  <a:srgbClr val="000000"/>
                </a:solidFill>
                <a:latin typeface="Open Sauce Light"/>
                <a:ea typeface="Open Sauce Light"/>
                <a:cs typeface="Open Sauce Light"/>
                <a:sym typeface="Open Sauce Light"/>
              </a:rPr>
              <a:t> (data science, machine learning applications, large-scale data processing, predictive analytics, etc.), that aims to simplify package management and deployment.</a:t>
            </a:r>
          </a:p>
        </p:txBody>
      </p:sp>
      <p:sp>
        <p:nvSpPr>
          <p:cNvPr name="TextBox 8" id="8"/>
          <p:cNvSpPr txBox="true"/>
          <p:nvPr/>
        </p:nvSpPr>
        <p:spPr>
          <a:xfrm rot="0">
            <a:off x="312156" y="4492688"/>
            <a:ext cx="7578278" cy="888556"/>
          </a:xfrm>
          <a:prstGeom prst="rect">
            <a:avLst/>
          </a:prstGeom>
        </p:spPr>
        <p:txBody>
          <a:bodyPr anchor="t" rtlCol="false" tIns="0" lIns="0" bIns="0" rIns="0">
            <a:spAutoFit/>
          </a:bodyPr>
          <a:lstStyle/>
          <a:p>
            <a:pPr algn="r">
              <a:lnSpc>
                <a:spcPts val="6836"/>
              </a:lnSpc>
            </a:pPr>
            <a:r>
              <a:rPr lang="en-US" sz="6215" spc="198">
                <a:solidFill>
                  <a:srgbClr val="000000"/>
                </a:solidFill>
                <a:latin typeface="Open Sauce"/>
                <a:ea typeface="Open Sauce"/>
                <a:cs typeface="Open Sauce"/>
                <a:sym typeface="Open Sauce"/>
              </a:rPr>
              <a:t>What is it?</a:t>
            </a:r>
          </a:p>
        </p:txBody>
      </p:sp>
      <p:sp>
        <p:nvSpPr>
          <p:cNvPr name="AutoShape 9" id="9"/>
          <p:cNvSpPr/>
          <p:nvPr/>
        </p:nvSpPr>
        <p:spPr>
          <a:xfrm flipH="true" flipV="true">
            <a:off x="-7266123" y="5614472"/>
            <a:ext cx="15156557" cy="0"/>
          </a:xfrm>
          <a:prstGeom prst="line">
            <a:avLst/>
          </a:prstGeom>
          <a:ln cap="flat" w="76200">
            <a:solidFill>
              <a:srgbClr val="C23A97"/>
            </a:solidFill>
            <a:prstDash val="solid"/>
            <a:headEnd type="none" len="sm" w="sm"/>
            <a:tailEnd type="none" len="sm" w="sm"/>
          </a:ln>
        </p:spPr>
      </p:sp>
      <p:sp>
        <p:nvSpPr>
          <p:cNvPr name="Freeform 10" id="10"/>
          <p:cNvSpPr/>
          <p:nvPr/>
        </p:nvSpPr>
        <p:spPr>
          <a:xfrm flipH="false" flipV="false" rot="0">
            <a:off x="-331769" y="-609444"/>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3">
              <a:alphaModFix amt="37000"/>
            </a:blip>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690092" y="2372147"/>
            <a:ext cx="20370072" cy="6018193"/>
            <a:chOff x="0" y="0"/>
            <a:chExt cx="5364957" cy="1585039"/>
          </a:xfrm>
        </p:grpSpPr>
        <p:sp>
          <p:nvSpPr>
            <p:cNvPr name="Freeform 4" id="4"/>
            <p:cNvSpPr/>
            <p:nvPr/>
          </p:nvSpPr>
          <p:spPr>
            <a:xfrm flipH="false" flipV="false" rot="0">
              <a:off x="0" y="0"/>
              <a:ext cx="5364957" cy="1585039"/>
            </a:xfrm>
            <a:custGeom>
              <a:avLst/>
              <a:gdLst/>
              <a:ahLst/>
              <a:cxnLst/>
              <a:rect r="r" b="b" t="t" l="l"/>
              <a:pathLst>
                <a:path h="1585039" w="5364957">
                  <a:moveTo>
                    <a:pt x="0" y="0"/>
                  </a:moveTo>
                  <a:lnTo>
                    <a:pt x="5364957" y="0"/>
                  </a:lnTo>
                  <a:lnTo>
                    <a:pt x="5364957" y="1585039"/>
                  </a:lnTo>
                  <a:lnTo>
                    <a:pt x="0" y="1585039"/>
                  </a:lnTo>
                  <a:close/>
                </a:path>
              </a:pathLst>
            </a:custGeom>
            <a:solidFill>
              <a:srgbClr val="F5F5F5"/>
            </a:solidFill>
          </p:spPr>
        </p:sp>
        <p:sp>
          <p:nvSpPr>
            <p:cNvPr name="TextBox 5" id="5"/>
            <p:cNvSpPr txBox="true"/>
            <p:nvPr/>
          </p:nvSpPr>
          <p:spPr>
            <a:xfrm>
              <a:off x="0" y="-28575"/>
              <a:ext cx="5364957" cy="1613614"/>
            </a:xfrm>
            <a:prstGeom prst="rect">
              <a:avLst/>
            </a:prstGeom>
          </p:spPr>
          <p:txBody>
            <a:bodyPr anchor="ctr" rtlCol="false" tIns="50800" lIns="50800" bIns="50800" rIns="50800"/>
            <a:lstStyle/>
            <a:p>
              <a:pPr algn="ctr">
                <a:lnSpc>
                  <a:spcPts val="1869"/>
                </a:lnSpc>
              </a:pPr>
            </a:p>
          </p:txBody>
        </p:sp>
      </p:grpSp>
      <p:sp>
        <p:nvSpPr>
          <p:cNvPr name="TextBox 6" id="6"/>
          <p:cNvSpPr txBox="true"/>
          <p:nvPr/>
        </p:nvSpPr>
        <p:spPr>
          <a:xfrm rot="0">
            <a:off x="1622987" y="3491865"/>
            <a:ext cx="6543672" cy="898081"/>
          </a:xfrm>
          <a:prstGeom prst="rect">
            <a:avLst/>
          </a:prstGeom>
        </p:spPr>
        <p:txBody>
          <a:bodyPr anchor="t" rtlCol="false" tIns="0" lIns="0" bIns="0" rIns="0">
            <a:spAutoFit/>
          </a:bodyPr>
          <a:lstStyle/>
          <a:p>
            <a:pPr algn="r">
              <a:lnSpc>
                <a:spcPts val="6836"/>
              </a:lnSpc>
            </a:pPr>
            <a:r>
              <a:rPr lang="en-US" sz="6215" spc="198">
                <a:solidFill>
                  <a:srgbClr val="000000"/>
                </a:solidFill>
                <a:latin typeface="Days"/>
                <a:ea typeface="Days"/>
                <a:cs typeface="Days"/>
                <a:sym typeface="Days"/>
              </a:rPr>
              <a:t>Miniconda</a:t>
            </a:r>
          </a:p>
        </p:txBody>
      </p:sp>
      <p:sp>
        <p:nvSpPr>
          <p:cNvPr name="TextBox 7" id="7"/>
          <p:cNvSpPr txBox="true"/>
          <p:nvPr/>
        </p:nvSpPr>
        <p:spPr>
          <a:xfrm rot="0">
            <a:off x="8671686" y="2982658"/>
            <a:ext cx="9176347" cy="4264533"/>
          </a:xfrm>
          <a:prstGeom prst="rect">
            <a:avLst/>
          </a:prstGeom>
        </p:spPr>
        <p:txBody>
          <a:bodyPr anchor="t" rtlCol="false" tIns="0" lIns="0" bIns="0" rIns="0">
            <a:spAutoFit/>
          </a:bodyPr>
          <a:lstStyle/>
          <a:p>
            <a:pPr algn="l">
              <a:lnSpc>
                <a:spcPts val="3380"/>
              </a:lnSpc>
            </a:pPr>
            <a:r>
              <a:rPr lang="en-US" sz="2299" spc="73">
                <a:solidFill>
                  <a:srgbClr val="000000"/>
                </a:solidFill>
                <a:latin typeface="Open Sauce"/>
                <a:ea typeface="Open Sauce"/>
                <a:cs typeface="Open Sauce"/>
                <a:sym typeface="Open Sauce"/>
              </a:rPr>
              <a:t>Package Management:</a:t>
            </a:r>
            <a:r>
              <a:rPr lang="en-US" sz="2299" spc="73">
                <a:solidFill>
                  <a:srgbClr val="000000"/>
                </a:solidFill>
                <a:latin typeface="Open Sauce"/>
                <a:ea typeface="Open Sauce"/>
                <a:cs typeface="Open Sauce"/>
                <a:sym typeface="Open Sauce"/>
              </a:rPr>
              <a:t> Mini</a:t>
            </a:r>
            <a:r>
              <a:rPr lang="en-US" sz="2299" spc="73">
                <a:solidFill>
                  <a:srgbClr val="000000"/>
                </a:solidFill>
                <a:latin typeface="Open Sauce"/>
                <a:ea typeface="Open Sauce"/>
                <a:cs typeface="Open Sauce"/>
                <a:sym typeface="Open Sauce"/>
              </a:rPr>
              <a:t>c</a:t>
            </a:r>
            <a:r>
              <a:rPr lang="en-US" sz="2299" spc="73">
                <a:solidFill>
                  <a:srgbClr val="000000"/>
                </a:solidFill>
                <a:latin typeface="Open Sauce"/>
                <a:ea typeface="Open Sauce"/>
                <a:cs typeface="Open Sauce"/>
                <a:sym typeface="Open Sauce"/>
              </a:rPr>
              <a:t>on</a:t>
            </a:r>
            <a:r>
              <a:rPr lang="en-US" sz="2299" spc="73">
                <a:solidFill>
                  <a:srgbClr val="000000"/>
                </a:solidFill>
                <a:latin typeface="Open Sauce"/>
                <a:ea typeface="Open Sauce"/>
                <a:cs typeface="Open Sauce"/>
                <a:sym typeface="Open Sauce"/>
              </a:rPr>
              <a:t>d</a:t>
            </a:r>
            <a:r>
              <a:rPr lang="en-US" sz="2299" spc="73">
                <a:solidFill>
                  <a:srgbClr val="000000"/>
                </a:solidFill>
                <a:latin typeface="Open Sauce"/>
                <a:ea typeface="Open Sauce"/>
                <a:cs typeface="Open Sauce"/>
                <a:sym typeface="Open Sauce"/>
              </a:rPr>
              <a:t>a</a:t>
            </a:r>
            <a:r>
              <a:rPr lang="en-US" sz="2299" spc="73">
                <a:solidFill>
                  <a:srgbClr val="000000"/>
                </a:solidFill>
                <a:latin typeface="Open Sauce"/>
                <a:ea typeface="Open Sauce"/>
                <a:cs typeface="Open Sauce"/>
                <a:sym typeface="Open Sauce"/>
              </a:rPr>
              <a:t> use</a:t>
            </a:r>
            <a:r>
              <a:rPr lang="en-US" sz="2299" spc="73">
                <a:solidFill>
                  <a:srgbClr val="000000"/>
                </a:solidFill>
                <a:latin typeface="Open Sauce"/>
                <a:ea typeface="Open Sauce"/>
                <a:cs typeface="Open Sauce"/>
                <a:sym typeface="Open Sauce"/>
              </a:rPr>
              <a:t>s a </a:t>
            </a:r>
            <a:r>
              <a:rPr lang="en-US" sz="2299" spc="73" b="true">
                <a:solidFill>
                  <a:srgbClr val="000000"/>
                </a:solidFill>
                <a:latin typeface="Open Sauce Bold"/>
                <a:ea typeface="Open Sauce Bold"/>
                <a:cs typeface="Open Sauce Bold"/>
                <a:sym typeface="Open Sauce Bold"/>
              </a:rPr>
              <a:t>package manager </a:t>
            </a:r>
            <a:r>
              <a:rPr lang="en-US" sz="2299" spc="73">
                <a:solidFill>
                  <a:srgbClr val="000000"/>
                </a:solidFill>
                <a:latin typeface="Open Sauce"/>
                <a:ea typeface="Open Sauce"/>
                <a:cs typeface="Open Sauce"/>
                <a:sym typeface="Open Sauce"/>
              </a:rPr>
              <a:t>cal</a:t>
            </a:r>
            <a:r>
              <a:rPr lang="en-US" sz="2299" spc="73">
                <a:solidFill>
                  <a:srgbClr val="000000"/>
                </a:solidFill>
                <a:latin typeface="Open Sauce"/>
                <a:ea typeface="Open Sauce"/>
                <a:cs typeface="Open Sauce"/>
                <a:sym typeface="Open Sauce"/>
              </a:rPr>
              <a:t>le</a:t>
            </a:r>
            <a:r>
              <a:rPr lang="en-US" sz="2299" spc="73">
                <a:solidFill>
                  <a:srgbClr val="000000"/>
                </a:solidFill>
                <a:latin typeface="Open Sauce"/>
                <a:ea typeface="Open Sauce"/>
                <a:cs typeface="Open Sauce"/>
                <a:sym typeface="Open Sauce"/>
              </a:rPr>
              <a:t>d </a:t>
            </a:r>
            <a:r>
              <a:rPr lang="en-US" sz="2299" spc="73" b="true">
                <a:solidFill>
                  <a:srgbClr val="000000"/>
                </a:solidFill>
                <a:latin typeface="Open Sauce Bold"/>
                <a:ea typeface="Open Sauce Bold"/>
                <a:cs typeface="Open Sauce Bold"/>
                <a:sym typeface="Open Sauce Bold"/>
              </a:rPr>
              <a:t>conda</a:t>
            </a:r>
            <a:r>
              <a:rPr lang="en-US" sz="2299" spc="73">
                <a:solidFill>
                  <a:srgbClr val="000000"/>
                </a:solidFill>
                <a:latin typeface="Open Sauce"/>
                <a:ea typeface="Open Sauce"/>
                <a:cs typeface="Open Sauce"/>
                <a:sym typeface="Open Sauce"/>
              </a:rPr>
              <a:t> that</a:t>
            </a:r>
            <a:r>
              <a:rPr lang="en-US" sz="2299" spc="73">
                <a:solidFill>
                  <a:srgbClr val="000000"/>
                </a:solidFill>
                <a:latin typeface="Open Sauce"/>
                <a:ea typeface="Open Sauce"/>
                <a:cs typeface="Open Sauce"/>
                <a:sym typeface="Open Sauce"/>
              </a:rPr>
              <a:t> </a:t>
            </a:r>
            <a:r>
              <a:rPr lang="en-US" sz="2299" spc="73" b="true">
                <a:solidFill>
                  <a:srgbClr val="000000"/>
                </a:solidFill>
                <a:latin typeface="Open Sauce Bold"/>
                <a:ea typeface="Open Sauce Bold"/>
                <a:cs typeface="Open Sauce Bold"/>
                <a:sym typeface="Open Sauce Bold"/>
              </a:rPr>
              <a:t>enables you to install multiple versions of software packages and their dependencies</a:t>
            </a:r>
            <a:r>
              <a:rPr lang="en-US" sz="2299" spc="73">
                <a:solidFill>
                  <a:srgbClr val="000000"/>
                </a:solidFill>
                <a:latin typeface="Open Sauce"/>
                <a:ea typeface="Open Sauce"/>
                <a:cs typeface="Open Sauce"/>
                <a:sym typeface="Open Sauce"/>
              </a:rPr>
              <a:t>. It</a:t>
            </a:r>
            <a:r>
              <a:rPr lang="en-US" sz="2299" spc="73">
                <a:solidFill>
                  <a:srgbClr val="000000"/>
                </a:solidFill>
                <a:latin typeface="Open Sauce"/>
                <a:ea typeface="Open Sauce"/>
                <a:cs typeface="Open Sauce"/>
                <a:sym typeface="Open Sauce"/>
              </a:rPr>
              <a:t> also allow</a:t>
            </a:r>
            <a:r>
              <a:rPr lang="en-US" sz="2299" spc="73">
                <a:solidFill>
                  <a:srgbClr val="000000"/>
                </a:solidFill>
                <a:latin typeface="Open Sauce"/>
                <a:ea typeface="Open Sauce"/>
                <a:cs typeface="Open Sauce"/>
                <a:sym typeface="Open Sauce"/>
              </a:rPr>
              <a:t>s </a:t>
            </a:r>
            <a:r>
              <a:rPr lang="en-US" sz="2299" spc="73">
                <a:solidFill>
                  <a:srgbClr val="000000"/>
                </a:solidFill>
                <a:latin typeface="Open Sauce"/>
                <a:ea typeface="Open Sauce"/>
                <a:cs typeface="Open Sauce"/>
                <a:sym typeface="Open Sauce"/>
              </a:rPr>
              <a:t>you to </a:t>
            </a:r>
            <a:r>
              <a:rPr lang="en-US" sz="2299" spc="73" b="true">
                <a:solidFill>
                  <a:srgbClr val="000000"/>
                </a:solidFill>
                <a:latin typeface="Open Sauce Bold"/>
                <a:ea typeface="Open Sauce Bold"/>
                <a:cs typeface="Open Sauce Bold"/>
                <a:sym typeface="Open Sauce Bold"/>
              </a:rPr>
              <a:t>create isolated environments</a:t>
            </a:r>
            <a:r>
              <a:rPr lang="en-US" sz="2299" spc="73">
                <a:solidFill>
                  <a:srgbClr val="000000"/>
                </a:solidFill>
                <a:latin typeface="Open Sauce"/>
                <a:ea typeface="Open Sauce"/>
                <a:cs typeface="Open Sauce"/>
                <a:sym typeface="Open Sauce"/>
              </a:rPr>
              <a:t> </a:t>
            </a:r>
            <a:r>
              <a:rPr lang="en-US" sz="2299" spc="73">
                <a:solidFill>
                  <a:srgbClr val="000000"/>
                </a:solidFill>
                <a:latin typeface="Open Sauce"/>
                <a:ea typeface="Open Sauce"/>
                <a:cs typeface="Open Sauce"/>
                <a:sym typeface="Open Sauce"/>
              </a:rPr>
              <a:t>wher</a:t>
            </a:r>
            <a:r>
              <a:rPr lang="en-US" sz="2299" spc="73">
                <a:solidFill>
                  <a:srgbClr val="000000"/>
                </a:solidFill>
                <a:latin typeface="Open Sauce"/>
                <a:ea typeface="Open Sauce"/>
                <a:cs typeface="Open Sauce"/>
                <a:sym typeface="Open Sauce"/>
              </a:rPr>
              <a:t>e y</a:t>
            </a:r>
            <a:r>
              <a:rPr lang="en-US" sz="2299" spc="73">
                <a:solidFill>
                  <a:srgbClr val="000000"/>
                </a:solidFill>
                <a:latin typeface="Open Sauce"/>
                <a:ea typeface="Open Sauce"/>
                <a:cs typeface="Open Sauce"/>
                <a:sym typeface="Open Sauce"/>
              </a:rPr>
              <a:t>ou</a:t>
            </a:r>
            <a:r>
              <a:rPr lang="en-US" sz="2299" spc="73">
                <a:solidFill>
                  <a:srgbClr val="000000"/>
                </a:solidFill>
                <a:latin typeface="Open Sauce"/>
                <a:ea typeface="Open Sauce"/>
                <a:cs typeface="Open Sauce"/>
                <a:sym typeface="Open Sauce"/>
              </a:rPr>
              <a:t> </a:t>
            </a:r>
            <a:r>
              <a:rPr lang="en-US" sz="2299" spc="73">
                <a:solidFill>
                  <a:srgbClr val="000000"/>
                </a:solidFill>
                <a:latin typeface="Open Sauce"/>
                <a:ea typeface="Open Sauce"/>
                <a:cs typeface="Open Sauce"/>
                <a:sym typeface="Open Sauce"/>
              </a:rPr>
              <a:t>can</a:t>
            </a:r>
            <a:r>
              <a:rPr lang="en-US" sz="2299" spc="73">
                <a:solidFill>
                  <a:srgbClr val="000000"/>
                </a:solidFill>
                <a:latin typeface="Open Sauce"/>
                <a:ea typeface="Open Sauce"/>
                <a:cs typeface="Open Sauce"/>
                <a:sym typeface="Open Sauce"/>
              </a:rPr>
              <a:t> </a:t>
            </a:r>
            <a:r>
              <a:rPr lang="en-US" sz="2299" spc="73" b="true">
                <a:solidFill>
                  <a:srgbClr val="000000"/>
                </a:solidFill>
                <a:latin typeface="Open Sauce Bold"/>
                <a:ea typeface="Open Sauce Bold"/>
                <a:cs typeface="Open Sauce Bold"/>
                <a:sym typeface="Open Sauce Bold"/>
              </a:rPr>
              <a:t>install different package versions with</a:t>
            </a:r>
            <a:r>
              <a:rPr lang="en-US" sz="2299" spc="73" b="true">
                <a:solidFill>
                  <a:srgbClr val="000000"/>
                </a:solidFill>
                <a:latin typeface="Open Sauce Bold"/>
                <a:ea typeface="Open Sauce Bold"/>
                <a:cs typeface="Open Sauce Bold"/>
                <a:sym typeface="Open Sauce Bold"/>
              </a:rPr>
              <a:t>out conflicts</a:t>
            </a:r>
            <a:r>
              <a:rPr lang="en-US" sz="2299" spc="73">
                <a:solidFill>
                  <a:srgbClr val="000000"/>
                </a:solidFill>
                <a:latin typeface="Open Sauce"/>
                <a:ea typeface="Open Sauce"/>
                <a:cs typeface="Open Sauce"/>
                <a:sym typeface="Open Sauce"/>
              </a:rPr>
              <a:t>.</a:t>
            </a:r>
          </a:p>
          <a:p>
            <a:pPr algn="l">
              <a:lnSpc>
                <a:spcPts val="3380"/>
              </a:lnSpc>
            </a:pPr>
          </a:p>
          <a:p>
            <a:pPr algn="l">
              <a:lnSpc>
                <a:spcPts val="3380"/>
              </a:lnSpc>
            </a:pPr>
            <a:r>
              <a:rPr lang="en-US" sz="2299" spc="73">
                <a:solidFill>
                  <a:srgbClr val="000000"/>
                </a:solidFill>
                <a:latin typeface="Open Sauce"/>
                <a:ea typeface="Open Sauce"/>
                <a:cs typeface="Open Sauce"/>
                <a:sym typeface="Open Sauce"/>
              </a:rPr>
              <a:t>P</a:t>
            </a:r>
            <a:r>
              <a:rPr lang="en-US" sz="2299" spc="73">
                <a:solidFill>
                  <a:srgbClr val="000000"/>
                </a:solidFill>
                <a:latin typeface="Open Sauce"/>
                <a:ea typeface="Open Sauce"/>
                <a:cs typeface="Open Sauce"/>
                <a:sym typeface="Open Sauce"/>
              </a:rPr>
              <a:t>la</a:t>
            </a:r>
            <a:r>
              <a:rPr lang="en-US" sz="2299" spc="73">
                <a:solidFill>
                  <a:srgbClr val="000000"/>
                </a:solidFill>
                <a:latin typeface="Open Sauce"/>
                <a:ea typeface="Open Sauce"/>
                <a:cs typeface="Open Sauce"/>
                <a:sym typeface="Open Sauce"/>
              </a:rPr>
              <a:t>t</a:t>
            </a:r>
            <a:r>
              <a:rPr lang="en-US" sz="2299" spc="73">
                <a:solidFill>
                  <a:srgbClr val="000000"/>
                </a:solidFill>
                <a:latin typeface="Open Sauce"/>
                <a:ea typeface="Open Sauce"/>
                <a:cs typeface="Open Sauce"/>
                <a:sym typeface="Open Sauce"/>
              </a:rPr>
              <a:t>f</a:t>
            </a:r>
            <a:r>
              <a:rPr lang="en-US" sz="2299" spc="73">
                <a:solidFill>
                  <a:srgbClr val="000000"/>
                </a:solidFill>
                <a:latin typeface="Open Sauce"/>
                <a:ea typeface="Open Sauce"/>
                <a:cs typeface="Open Sauce"/>
                <a:sym typeface="Open Sauce"/>
              </a:rPr>
              <a:t>o</a:t>
            </a:r>
            <a:r>
              <a:rPr lang="en-US" sz="2299" spc="73">
                <a:solidFill>
                  <a:srgbClr val="000000"/>
                </a:solidFill>
                <a:latin typeface="Open Sauce"/>
                <a:ea typeface="Open Sauce"/>
                <a:cs typeface="Open Sauce"/>
                <a:sym typeface="Open Sauce"/>
              </a:rPr>
              <a:t>rm-Ag</a:t>
            </a:r>
            <a:r>
              <a:rPr lang="en-US" sz="2299" spc="73">
                <a:solidFill>
                  <a:srgbClr val="000000"/>
                </a:solidFill>
                <a:latin typeface="Open Sauce"/>
                <a:ea typeface="Open Sauce"/>
                <a:cs typeface="Open Sauce"/>
                <a:sym typeface="Open Sauce"/>
              </a:rPr>
              <a:t>n</a:t>
            </a:r>
            <a:r>
              <a:rPr lang="en-US" sz="2299" spc="73">
                <a:solidFill>
                  <a:srgbClr val="000000"/>
                </a:solidFill>
                <a:latin typeface="Open Sauce"/>
                <a:ea typeface="Open Sauce"/>
                <a:cs typeface="Open Sauce"/>
                <a:sym typeface="Open Sauce"/>
              </a:rPr>
              <a:t>ostic:</a:t>
            </a:r>
            <a:r>
              <a:rPr lang="en-US" sz="2299" spc="73">
                <a:solidFill>
                  <a:srgbClr val="000000"/>
                </a:solidFill>
                <a:latin typeface="Open Sauce"/>
                <a:ea typeface="Open Sauce"/>
                <a:cs typeface="Open Sauce"/>
                <a:sym typeface="Open Sauce"/>
              </a:rPr>
              <a:t> Mini</a:t>
            </a:r>
            <a:r>
              <a:rPr lang="en-US" sz="2299" spc="73" b="true">
                <a:solidFill>
                  <a:srgbClr val="000000"/>
                </a:solidFill>
                <a:latin typeface="Open Sauce Bold"/>
                <a:ea typeface="Open Sauce Bold"/>
                <a:cs typeface="Open Sauce Bold"/>
                <a:sym typeface="Open Sauce Bold"/>
              </a:rPr>
              <a:t>conda is available for Windows, macOS, and Linux</a:t>
            </a:r>
            <a:r>
              <a:rPr lang="en-US" sz="2299" spc="73">
                <a:solidFill>
                  <a:srgbClr val="000000"/>
                </a:solidFill>
                <a:latin typeface="Open Sauce"/>
                <a:ea typeface="Open Sauce"/>
                <a:cs typeface="Open Sauce"/>
                <a:sym typeface="Open Sauce"/>
              </a:rPr>
              <a:t>.</a:t>
            </a:r>
            <a:r>
              <a:rPr lang="en-US" sz="2299" spc="73">
                <a:solidFill>
                  <a:srgbClr val="000000"/>
                </a:solidFill>
                <a:latin typeface="Open Sauce"/>
                <a:ea typeface="Open Sauce"/>
                <a:cs typeface="Open Sauce"/>
                <a:sym typeface="Open Sauce"/>
              </a:rPr>
              <a:t> </a:t>
            </a:r>
            <a:r>
              <a:rPr lang="en-US" sz="2299" spc="73">
                <a:solidFill>
                  <a:srgbClr val="000000"/>
                </a:solidFill>
                <a:latin typeface="Open Sauce"/>
                <a:ea typeface="Open Sauce"/>
                <a:cs typeface="Open Sauce"/>
                <a:sym typeface="Open Sauce"/>
              </a:rPr>
              <a:t>This</a:t>
            </a:r>
            <a:r>
              <a:rPr lang="en-US" sz="2299" spc="73">
                <a:solidFill>
                  <a:srgbClr val="000000"/>
                </a:solidFill>
                <a:latin typeface="Open Sauce"/>
                <a:ea typeface="Open Sauce"/>
                <a:cs typeface="Open Sauce"/>
                <a:sym typeface="Open Sauce"/>
              </a:rPr>
              <a:t> </a:t>
            </a:r>
            <a:r>
              <a:rPr lang="en-US" sz="2299" spc="73">
                <a:solidFill>
                  <a:srgbClr val="000000"/>
                </a:solidFill>
                <a:latin typeface="Open Sauce"/>
                <a:ea typeface="Open Sauce"/>
                <a:cs typeface="Open Sauce"/>
                <a:sym typeface="Open Sauce"/>
              </a:rPr>
              <a:t>m</a:t>
            </a:r>
            <a:r>
              <a:rPr lang="en-US" sz="2299" spc="73">
                <a:solidFill>
                  <a:srgbClr val="000000"/>
                </a:solidFill>
                <a:latin typeface="Open Sauce"/>
                <a:ea typeface="Open Sauce"/>
                <a:cs typeface="Open Sauce"/>
                <a:sym typeface="Open Sauce"/>
              </a:rPr>
              <a:t>a</a:t>
            </a:r>
            <a:r>
              <a:rPr lang="en-US" sz="2299" spc="73">
                <a:solidFill>
                  <a:srgbClr val="000000"/>
                </a:solidFill>
                <a:latin typeface="Open Sauce"/>
                <a:ea typeface="Open Sauce"/>
                <a:cs typeface="Open Sauce"/>
                <a:sym typeface="Open Sauce"/>
              </a:rPr>
              <a:t>kes</a:t>
            </a:r>
            <a:r>
              <a:rPr lang="en-US" sz="2299" spc="73">
                <a:solidFill>
                  <a:srgbClr val="000000"/>
                </a:solidFill>
                <a:latin typeface="Open Sauce"/>
                <a:ea typeface="Open Sauce"/>
                <a:cs typeface="Open Sauce"/>
                <a:sym typeface="Open Sauce"/>
              </a:rPr>
              <a:t> i</a:t>
            </a:r>
            <a:r>
              <a:rPr lang="en-US" sz="2299" spc="73">
                <a:solidFill>
                  <a:srgbClr val="000000"/>
                </a:solidFill>
                <a:latin typeface="Open Sauce"/>
                <a:ea typeface="Open Sauce"/>
                <a:cs typeface="Open Sauce"/>
                <a:sym typeface="Open Sauce"/>
              </a:rPr>
              <a:t>t</a:t>
            </a:r>
            <a:r>
              <a:rPr lang="en-US" sz="2299" spc="73">
                <a:solidFill>
                  <a:srgbClr val="000000"/>
                </a:solidFill>
                <a:latin typeface="Open Sauce"/>
                <a:ea typeface="Open Sauce"/>
                <a:cs typeface="Open Sauce"/>
                <a:sym typeface="Open Sauce"/>
              </a:rPr>
              <a:t> </a:t>
            </a:r>
            <a:r>
              <a:rPr lang="en-US" sz="2299" spc="73">
                <a:solidFill>
                  <a:srgbClr val="000000"/>
                </a:solidFill>
                <a:latin typeface="Open Sauce"/>
                <a:ea typeface="Open Sauce"/>
                <a:cs typeface="Open Sauce"/>
                <a:sym typeface="Open Sauce"/>
              </a:rPr>
              <a:t>e</a:t>
            </a:r>
            <a:r>
              <a:rPr lang="en-US" sz="2299" spc="73">
                <a:solidFill>
                  <a:srgbClr val="000000"/>
                </a:solidFill>
                <a:latin typeface="Open Sauce"/>
                <a:ea typeface="Open Sauce"/>
                <a:cs typeface="Open Sauce"/>
                <a:sym typeface="Open Sauce"/>
              </a:rPr>
              <a:t>a</a:t>
            </a:r>
            <a:r>
              <a:rPr lang="en-US" sz="2299" spc="73">
                <a:solidFill>
                  <a:srgbClr val="000000"/>
                </a:solidFill>
                <a:latin typeface="Open Sauce"/>
                <a:ea typeface="Open Sauce"/>
                <a:cs typeface="Open Sauce"/>
                <a:sym typeface="Open Sauce"/>
              </a:rPr>
              <a:t>s</a:t>
            </a:r>
            <a:r>
              <a:rPr lang="en-US" sz="2299" spc="73">
                <a:solidFill>
                  <a:srgbClr val="000000"/>
                </a:solidFill>
                <a:latin typeface="Open Sauce"/>
                <a:ea typeface="Open Sauce"/>
                <a:cs typeface="Open Sauce"/>
                <a:sym typeface="Open Sauce"/>
              </a:rPr>
              <a:t>ie</a:t>
            </a:r>
            <a:r>
              <a:rPr lang="en-US" sz="2299" spc="73">
                <a:solidFill>
                  <a:srgbClr val="000000"/>
                </a:solidFill>
                <a:latin typeface="Open Sauce"/>
                <a:ea typeface="Open Sauce"/>
                <a:cs typeface="Open Sauce"/>
                <a:sym typeface="Open Sauce"/>
              </a:rPr>
              <a:t>r</a:t>
            </a:r>
            <a:r>
              <a:rPr lang="en-US" sz="2299" spc="73">
                <a:solidFill>
                  <a:srgbClr val="000000"/>
                </a:solidFill>
                <a:latin typeface="Open Sauce"/>
                <a:ea typeface="Open Sauce"/>
                <a:cs typeface="Open Sauce"/>
                <a:sym typeface="Open Sauce"/>
              </a:rPr>
              <a:t> </a:t>
            </a:r>
            <a:r>
              <a:rPr lang="en-US" sz="2299" spc="73">
                <a:solidFill>
                  <a:srgbClr val="000000"/>
                </a:solidFill>
                <a:latin typeface="Open Sauce"/>
                <a:ea typeface="Open Sauce"/>
                <a:cs typeface="Open Sauce"/>
                <a:sym typeface="Open Sauce"/>
              </a:rPr>
              <a:t>f</a:t>
            </a:r>
            <a:r>
              <a:rPr lang="en-US" sz="2299" spc="73">
                <a:solidFill>
                  <a:srgbClr val="000000"/>
                </a:solidFill>
                <a:latin typeface="Open Sauce"/>
                <a:ea typeface="Open Sauce"/>
                <a:cs typeface="Open Sauce"/>
                <a:sym typeface="Open Sauce"/>
              </a:rPr>
              <a:t>o</a:t>
            </a:r>
            <a:r>
              <a:rPr lang="en-US" sz="2299" spc="73">
                <a:solidFill>
                  <a:srgbClr val="000000"/>
                </a:solidFill>
                <a:latin typeface="Open Sauce"/>
                <a:ea typeface="Open Sauce"/>
                <a:cs typeface="Open Sauce"/>
                <a:sym typeface="Open Sauce"/>
              </a:rPr>
              <a:t>r</a:t>
            </a:r>
            <a:r>
              <a:rPr lang="en-US" sz="2299" spc="73">
                <a:solidFill>
                  <a:srgbClr val="000000"/>
                </a:solidFill>
                <a:latin typeface="Open Sauce"/>
                <a:ea typeface="Open Sauce"/>
                <a:cs typeface="Open Sauce"/>
                <a:sym typeface="Open Sauce"/>
              </a:rPr>
              <a:t> te</a:t>
            </a:r>
            <a:r>
              <a:rPr lang="en-US" sz="2299" spc="73">
                <a:solidFill>
                  <a:srgbClr val="000000"/>
                </a:solidFill>
                <a:latin typeface="Open Sauce"/>
                <a:ea typeface="Open Sauce"/>
                <a:cs typeface="Open Sauce"/>
                <a:sym typeface="Open Sauce"/>
              </a:rPr>
              <a:t>a</a:t>
            </a:r>
            <a:r>
              <a:rPr lang="en-US" sz="2299" spc="73">
                <a:solidFill>
                  <a:srgbClr val="000000"/>
                </a:solidFill>
                <a:latin typeface="Open Sauce"/>
                <a:ea typeface="Open Sauce"/>
                <a:cs typeface="Open Sauce"/>
                <a:sym typeface="Open Sauce"/>
              </a:rPr>
              <a:t>ms </a:t>
            </a:r>
            <a:r>
              <a:rPr lang="en-US" sz="2299" spc="73">
                <a:solidFill>
                  <a:srgbClr val="000000"/>
                </a:solidFill>
                <a:latin typeface="Open Sauce"/>
                <a:ea typeface="Open Sauce"/>
                <a:cs typeface="Open Sauce"/>
                <a:sym typeface="Open Sauce"/>
              </a:rPr>
              <a:t>to coll</a:t>
            </a:r>
            <a:r>
              <a:rPr lang="en-US" sz="2299" spc="73">
                <a:solidFill>
                  <a:srgbClr val="000000"/>
                </a:solidFill>
                <a:latin typeface="Open Sauce"/>
                <a:ea typeface="Open Sauce"/>
                <a:cs typeface="Open Sauce"/>
                <a:sym typeface="Open Sauce"/>
              </a:rPr>
              <a:t>a</a:t>
            </a:r>
            <a:r>
              <a:rPr lang="en-US" sz="2299" spc="73">
                <a:solidFill>
                  <a:srgbClr val="000000"/>
                </a:solidFill>
                <a:latin typeface="Open Sauce"/>
                <a:ea typeface="Open Sauce"/>
                <a:cs typeface="Open Sauce"/>
                <a:sym typeface="Open Sauce"/>
              </a:rPr>
              <a:t>borate</a:t>
            </a:r>
            <a:r>
              <a:rPr lang="en-US" sz="2299" spc="73">
                <a:solidFill>
                  <a:srgbClr val="000000"/>
                </a:solidFill>
                <a:latin typeface="Open Sauce"/>
                <a:ea typeface="Open Sauce"/>
                <a:cs typeface="Open Sauce"/>
                <a:sym typeface="Open Sauce"/>
              </a:rPr>
              <a:t> </a:t>
            </a:r>
            <a:r>
              <a:rPr lang="en-US" sz="2299" spc="73">
                <a:solidFill>
                  <a:srgbClr val="000000"/>
                </a:solidFill>
                <a:latin typeface="Open Sauce"/>
                <a:ea typeface="Open Sauce"/>
                <a:cs typeface="Open Sauce"/>
                <a:sym typeface="Open Sauce"/>
              </a:rPr>
              <a:t>reg</a:t>
            </a:r>
            <a:r>
              <a:rPr lang="en-US" sz="2299" spc="73">
                <a:solidFill>
                  <a:srgbClr val="000000"/>
                </a:solidFill>
                <a:latin typeface="Open Sauce"/>
                <a:ea typeface="Open Sauce"/>
                <a:cs typeface="Open Sauce"/>
                <a:sym typeface="Open Sauce"/>
              </a:rPr>
              <a:t>a</a:t>
            </a:r>
            <a:r>
              <a:rPr lang="en-US" sz="2299" spc="73">
                <a:solidFill>
                  <a:srgbClr val="000000"/>
                </a:solidFill>
                <a:latin typeface="Open Sauce"/>
                <a:ea typeface="Open Sauce"/>
                <a:cs typeface="Open Sauce"/>
                <a:sym typeface="Open Sauce"/>
              </a:rPr>
              <a:t>rdle</a:t>
            </a:r>
            <a:r>
              <a:rPr lang="en-US" sz="2299" spc="73">
                <a:solidFill>
                  <a:srgbClr val="000000"/>
                </a:solidFill>
                <a:latin typeface="Open Sauce"/>
                <a:ea typeface="Open Sauce"/>
                <a:cs typeface="Open Sauce"/>
                <a:sym typeface="Open Sauce"/>
              </a:rPr>
              <a:t>s</a:t>
            </a:r>
            <a:r>
              <a:rPr lang="en-US" sz="2299" spc="73">
                <a:solidFill>
                  <a:srgbClr val="000000"/>
                </a:solidFill>
                <a:latin typeface="Open Sauce"/>
                <a:ea typeface="Open Sauce"/>
                <a:cs typeface="Open Sauce"/>
                <a:sym typeface="Open Sauce"/>
              </a:rPr>
              <a:t>s of</a:t>
            </a:r>
            <a:r>
              <a:rPr lang="en-US" sz="2299" spc="73">
                <a:solidFill>
                  <a:srgbClr val="000000"/>
                </a:solidFill>
                <a:latin typeface="Open Sauce"/>
                <a:ea typeface="Open Sauce"/>
                <a:cs typeface="Open Sauce"/>
                <a:sym typeface="Open Sauce"/>
              </a:rPr>
              <a:t> the</a:t>
            </a:r>
            <a:r>
              <a:rPr lang="en-US" sz="2299" spc="73">
                <a:solidFill>
                  <a:srgbClr val="000000"/>
                </a:solidFill>
                <a:latin typeface="Open Sauce"/>
                <a:ea typeface="Open Sauce"/>
                <a:cs typeface="Open Sauce"/>
                <a:sym typeface="Open Sauce"/>
              </a:rPr>
              <a:t>ir</a:t>
            </a:r>
            <a:r>
              <a:rPr lang="en-US" sz="2299" spc="73">
                <a:solidFill>
                  <a:srgbClr val="000000"/>
                </a:solidFill>
                <a:latin typeface="Open Sauce"/>
                <a:ea typeface="Open Sauce"/>
                <a:cs typeface="Open Sauce"/>
                <a:sym typeface="Open Sauce"/>
              </a:rPr>
              <a:t> </a:t>
            </a:r>
            <a:r>
              <a:rPr lang="en-US" sz="2299" spc="73">
                <a:solidFill>
                  <a:srgbClr val="000000"/>
                </a:solidFill>
                <a:latin typeface="Open Sauce"/>
                <a:ea typeface="Open Sauce"/>
                <a:cs typeface="Open Sauce"/>
                <a:sym typeface="Open Sauce"/>
              </a:rPr>
              <a:t>op</a:t>
            </a:r>
            <a:r>
              <a:rPr lang="en-US" sz="2299" spc="73">
                <a:solidFill>
                  <a:srgbClr val="000000"/>
                </a:solidFill>
                <a:latin typeface="Open Sauce"/>
                <a:ea typeface="Open Sauce"/>
                <a:cs typeface="Open Sauce"/>
                <a:sym typeface="Open Sauce"/>
              </a:rPr>
              <a:t>e</a:t>
            </a:r>
            <a:r>
              <a:rPr lang="en-US" sz="2299" spc="73">
                <a:solidFill>
                  <a:srgbClr val="000000"/>
                </a:solidFill>
                <a:latin typeface="Open Sauce"/>
                <a:ea typeface="Open Sauce"/>
                <a:cs typeface="Open Sauce"/>
                <a:sym typeface="Open Sauce"/>
              </a:rPr>
              <a:t>rat</a:t>
            </a:r>
            <a:r>
              <a:rPr lang="en-US" sz="2299" spc="73">
                <a:solidFill>
                  <a:srgbClr val="000000"/>
                </a:solidFill>
                <a:latin typeface="Open Sauce"/>
                <a:ea typeface="Open Sauce"/>
                <a:cs typeface="Open Sauce"/>
                <a:sym typeface="Open Sauce"/>
              </a:rPr>
              <a:t>in</a:t>
            </a:r>
            <a:r>
              <a:rPr lang="en-US" sz="2299" spc="73">
                <a:solidFill>
                  <a:srgbClr val="000000"/>
                </a:solidFill>
                <a:latin typeface="Open Sauce"/>
                <a:ea typeface="Open Sauce"/>
                <a:cs typeface="Open Sauce"/>
                <a:sym typeface="Open Sauce"/>
              </a:rPr>
              <a:t>g sys</a:t>
            </a:r>
            <a:r>
              <a:rPr lang="en-US" sz="2299" spc="73">
                <a:solidFill>
                  <a:srgbClr val="000000"/>
                </a:solidFill>
                <a:latin typeface="Open Sauce"/>
                <a:ea typeface="Open Sauce"/>
                <a:cs typeface="Open Sauce"/>
                <a:sym typeface="Open Sauce"/>
              </a:rPr>
              <a:t>te</a:t>
            </a:r>
            <a:r>
              <a:rPr lang="en-US" sz="2299" spc="73">
                <a:solidFill>
                  <a:srgbClr val="000000"/>
                </a:solidFill>
                <a:latin typeface="Open Sauce"/>
                <a:ea typeface="Open Sauce"/>
                <a:cs typeface="Open Sauce"/>
                <a:sym typeface="Open Sauce"/>
              </a:rPr>
              <a:t>m.</a:t>
            </a:r>
          </a:p>
          <a:p>
            <a:pPr algn="l">
              <a:lnSpc>
                <a:spcPts val="3380"/>
              </a:lnSpc>
            </a:pPr>
          </a:p>
        </p:txBody>
      </p:sp>
      <p:sp>
        <p:nvSpPr>
          <p:cNvPr name="TextBox 8" id="8"/>
          <p:cNvSpPr txBox="true"/>
          <p:nvPr/>
        </p:nvSpPr>
        <p:spPr>
          <a:xfrm rot="0">
            <a:off x="1346762" y="4492688"/>
            <a:ext cx="6543672" cy="888556"/>
          </a:xfrm>
          <a:prstGeom prst="rect">
            <a:avLst/>
          </a:prstGeom>
        </p:spPr>
        <p:txBody>
          <a:bodyPr anchor="t" rtlCol="false" tIns="0" lIns="0" bIns="0" rIns="0">
            <a:spAutoFit/>
          </a:bodyPr>
          <a:lstStyle/>
          <a:p>
            <a:pPr algn="r">
              <a:lnSpc>
                <a:spcPts val="6836"/>
              </a:lnSpc>
            </a:pPr>
            <a:r>
              <a:rPr lang="en-US" b="true" sz="6215" spc="198">
                <a:solidFill>
                  <a:srgbClr val="000000"/>
                </a:solidFill>
                <a:latin typeface="Open Sauce Medium"/>
                <a:ea typeface="Open Sauce Medium"/>
                <a:cs typeface="Open Sauce Medium"/>
                <a:sym typeface="Open Sauce Medium"/>
              </a:rPr>
              <a:t>Key features</a:t>
            </a:r>
          </a:p>
        </p:txBody>
      </p:sp>
      <p:sp>
        <p:nvSpPr>
          <p:cNvPr name="AutoShape 9" id="9"/>
          <p:cNvSpPr/>
          <p:nvPr/>
        </p:nvSpPr>
        <p:spPr>
          <a:xfrm flipH="true" flipV="true">
            <a:off x="-7266123" y="5614472"/>
            <a:ext cx="15156557" cy="0"/>
          </a:xfrm>
          <a:prstGeom prst="line">
            <a:avLst/>
          </a:prstGeom>
          <a:ln cap="flat" w="76200">
            <a:solidFill>
              <a:srgbClr val="C23A97"/>
            </a:solidFill>
            <a:prstDash val="solid"/>
            <a:headEnd type="none" len="sm" w="sm"/>
            <a:tailEnd type="none" len="sm" w="sm"/>
          </a:ln>
        </p:spPr>
      </p:sp>
      <p:sp>
        <p:nvSpPr>
          <p:cNvPr name="Freeform 10" id="10"/>
          <p:cNvSpPr/>
          <p:nvPr/>
        </p:nvSpPr>
        <p:spPr>
          <a:xfrm flipH="false" flipV="false" rot="0">
            <a:off x="-331769" y="-609444"/>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3">
              <a:alphaModFix amt="37000"/>
            </a:blip>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690092" y="2372147"/>
            <a:ext cx="20370072" cy="6018193"/>
            <a:chOff x="0" y="0"/>
            <a:chExt cx="5364957" cy="1585039"/>
          </a:xfrm>
        </p:grpSpPr>
        <p:sp>
          <p:nvSpPr>
            <p:cNvPr name="Freeform 4" id="4"/>
            <p:cNvSpPr/>
            <p:nvPr/>
          </p:nvSpPr>
          <p:spPr>
            <a:xfrm flipH="false" flipV="false" rot="0">
              <a:off x="0" y="0"/>
              <a:ext cx="5364957" cy="1585039"/>
            </a:xfrm>
            <a:custGeom>
              <a:avLst/>
              <a:gdLst/>
              <a:ahLst/>
              <a:cxnLst/>
              <a:rect r="r" b="b" t="t" l="l"/>
              <a:pathLst>
                <a:path h="1585039" w="5364957">
                  <a:moveTo>
                    <a:pt x="0" y="0"/>
                  </a:moveTo>
                  <a:lnTo>
                    <a:pt x="5364957" y="0"/>
                  </a:lnTo>
                  <a:lnTo>
                    <a:pt x="5364957" y="1585039"/>
                  </a:lnTo>
                  <a:lnTo>
                    <a:pt x="0" y="1585039"/>
                  </a:lnTo>
                  <a:close/>
                </a:path>
              </a:pathLst>
            </a:custGeom>
            <a:solidFill>
              <a:srgbClr val="F5F5F5"/>
            </a:solidFill>
          </p:spPr>
        </p:sp>
        <p:sp>
          <p:nvSpPr>
            <p:cNvPr name="TextBox 5" id="5"/>
            <p:cNvSpPr txBox="true"/>
            <p:nvPr/>
          </p:nvSpPr>
          <p:spPr>
            <a:xfrm>
              <a:off x="0" y="-28575"/>
              <a:ext cx="5364957" cy="1613614"/>
            </a:xfrm>
            <a:prstGeom prst="rect">
              <a:avLst/>
            </a:prstGeom>
          </p:spPr>
          <p:txBody>
            <a:bodyPr anchor="ctr" rtlCol="false" tIns="50800" lIns="50800" bIns="50800" rIns="50800"/>
            <a:lstStyle/>
            <a:p>
              <a:pPr algn="ctr">
                <a:lnSpc>
                  <a:spcPts val="1869"/>
                </a:lnSpc>
              </a:pPr>
            </a:p>
          </p:txBody>
        </p:sp>
      </p:grpSp>
      <p:sp>
        <p:nvSpPr>
          <p:cNvPr name="TextBox 6" id="6"/>
          <p:cNvSpPr txBox="true"/>
          <p:nvPr/>
        </p:nvSpPr>
        <p:spPr>
          <a:xfrm rot="0">
            <a:off x="1622987" y="3491865"/>
            <a:ext cx="6543672" cy="898081"/>
          </a:xfrm>
          <a:prstGeom prst="rect">
            <a:avLst/>
          </a:prstGeom>
        </p:spPr>
        <p:txBody>
          <a:bodyPr anchor="t" rtlCol="false" tIns="0" lIns="0" bIns="0" rIns="0">
            <a:spAutoFit/>
          </a:bodyPr>
          <a:lstStyle/>
          <a:p>
            <a:pPr algn="r">
              <a:lnSpc>
                <a:spcPts val="6836"/>
              </a:lnSpc>
            </a:pPr>
            <a:r>
              <a:rPr lang="en-US" sz="6215" spc="198">
                <a:solidFill>
                  <a:srgbClr val="000000"/>
                </a:solidFill>
                <a:latin typeface="Days"/>
                <a:ea typeface="Days"/>
                <a:cs typeface="Days"/>
                <a:sym typeface="Days"/>
              </a:rPr>
              <a:t>Conda</a:t>
            </a:r>
          </a:p>
        </p:txBody>
      </p:sp>
      <p:sp>
        <p:nvSpPr>
          <p:cNvPr name="TextBox 7" id="7"/>
          <p:cNvSpPr txBox="true"/>
          <p:nvPr/>
        </p:nvSpPr>
        <p:spPr>
          <a:xfrm rot="0">
            <a:off x="8652793" y="3387090"/>
            <a:ext cx="9176347" cy="2121408"/>
          </a:xfrm>
          <a:prstGeom prst="rect">
            <a:avLst/>
          </a:prstGeom>
        </p:spPr>
        <p:txBody>
          <a:bodyPr anchor="t" rtlCol="false" tIns="0" lIns="0" bIns="0" rIns="0">
            <a:spAutoFit/>
          </a:bodyPr>
          <a:lstStyle/>
          <a:p>
            <a:pPr algn="l">
              <a:lnSpc>
                <a:spcPts val="3380"/>
              </a:lnSpc>
            </a:pPr>
            <a:r>
              <a:rPr lang="en-US" sz="2299">
                <a:solidFill>
                  <a:srgbClr val="000000"/>
                </a:solidFill>
                <a:latin typeface="Open Sauce"/>
                <a:ea typeface="Open Sauce"/>
                <a:cs typeface="Open Sauce"/>
                <a:sym typeface="Open Sauce"/>
              </a:rPr>
              <a:t>Conda can be used in</a:t>
            </a:r>
            <a:r>
              <a:rPr lang="en-US" sz="2299" b="true">
                <a:solidFill>
                  <a:srgbClr val="000000"/>
                </a:solidFill>
                <a:latin typeface="Open Sauce Bold"/>
                <a:ea typeface="Open Sauce Bold"/>
                <a:cs typeface="Open Sauce Bold"/>
                <a:sym typeface="Open Sauce Bold"/>
              </a:rPr>
              <a:t> </a:t>
            </a:r>
            <a:r>
              <a:rPr lang="en-US" sz="2299" b="true">
                <a:solidFill>
                  <a:srgbClr val="000000"/>
                </a:solidFill>
                <a:latin typeface="Open Sauce Bold"/>
                <a:ea typeface="Open Sauce Bold"/>
                <a:cs typeface="Open Sauce Bold"/>
                <a:sym typeface="Open Sauce Bold"/>
              </a:rPr>
              <a:t>Chemistry</a:t>
            </a:r>
            <a:r>
              <a:rPr lang="en-US" sz="2299">
                <a:solidFill>
                  <a:srgbClr val="000000"/>
                </a:solidFill>
                <a:latin typeface="Open Sauce"/>
                <a:ea typeface="Open Sauce"/>
                <a:cs typeface="Open Sauce"/>
                <a:sym typeface="Open Sauce"/>
              </a:rPr>
              <a:t> for managing packages and environments necessary for various computations, simulations, and data analysis tasks. Python libraries such as NumPy, SciPy, Matplotlib, pandas, and many others that are commonly used in scientific computing, are included in the Miniconda distribution.</a:t>
            </a:r>
          </a:p>
        </p:txBody>
      </p:sp>
      <p:sp>
        <p:nvSpPr>
          <p:cNvPr name="TextBox 8" id="8"/>
          <p:cNvSpPr txBox="true"/>
          <p:nvPr/>
        </p:nvSpPr>
        <p:spPr>
          <a:xfrm rot="0">
            <a:off x="0" y="4492688"/>
            <a:ext cx="7890434" cy="888556"/>
          </a:xfrm>
          <a:prstGeom prst="rect">
            <a:avLst/>
          </a:prstGeom>
        </p:spPr>
        <p:txBody>
          <a:bodyPr anchor="t" rtlCol="false" tIns="0" lIns="0" bIns="0" rIns="0">
            <a:spAutoFit/>
          </a:bodyPr>
          <a:lstStyle/>
          <a:p>
            <a:pPr algn="r">
              <a:lnSpc>
                <a:spcPts val="6836"/>
              </a:lnSpc>
            </a:pPr>
            <a:r>
              <a:rPr lang="en-US" b="true" sz="6215" spc="198">
                <a:solidFill>
                  <a:srgbClr val="000000"/>
                </a:solidFill>
                <a:latin typeface="Open Sauce Medium"/>
                <a:ea typeface="Open Sauce Medium"/>
                <a:cs typeface="Open Sauce Medium"/>
                <a:sym typeface="Open Sauce Medium"/>
              </a:rPr>
              <a:t>Use in Chemistry</a:t>
            </a:r>
          </a:p>
        </p:txBody>
      </p:sp>
      <p:sp>
        <p:nvSpPr>
          <p:cNvPr name="AutoShape 9" id="9"/>
          <p:cNvSpPr/>
          <p:nvPr/>
        </p:nvSpPr>
        <p:spPr>
          <a:xfrm flipH="true" flipV="true">
            <a:off x="-7266123" y="5614472"/>
            <a:ext cx="15156557" cy="0"/>
          </a:xfrm>
          <a:prstGeom prst="line">
            <a:avLst/>
          </a:prstGeom>
          <a:ln cap="flat" w="76200">
            <a:solidFill>
              <a:srgbClr val="C23A97"/>
            </a:solidFill>
            <a:prstDash val="solid"/>
            <a:headEnd type="none" len="sm" w="sm"/>
            <a:tailEnd type="none" len="sm" w="sm"/>
          </a:ln>
        </p:spPr>
      </p:sp>
      <p:sp>
        <p:nvSpPr>
          <p:cNvPr name="Freeform 10" id="10"/>
          <p:cNvSpPr/>
          <p:nvPr/>
        </p:nvSpPr>
        <p:spPr>
          <a:xfrm flipH="false" flipV="false" rot="0">
            <a:off x="-331769" y="-609444"/>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3">
              <a:alphaModFix amt="37000"/>
            </a:blip>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2923865">
            <a:off x="-2984685" y="1184351"/>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5400000">
            <a:off x="8046708" y="385825"/>
            <a:ext cx="11245538" cy="9778557"/>
            <a:chOff x="0" y="0"/>
            <a:chExt cx="2961788" cy="2575423"/>
          </a:xfrm>
        </p:grpSpPr>
        <p:sp>
          <p:nvSpPr>
            <p:cNvPr name="Freeform 4" id="4"/>
            <p:cNvSpPr/>
            <p:nvPr/>
          </p:nvSpPr>
          <p:spPr>
            <a:xfrm flipH="false" flipV="false" rot="0">
              <a:off x="0" y="0"/>
              <a:ext cx="2961788" cy="2575422"/>
            </a:xfrm>
            <a:custGeom>
              <a:avLst/>
              <a:gdLst/>
              <a:ahLst/>
              <a:cxnLst/>
              <a:rect r="r" b="b" t="t" l="l"/>
              <a:pathLst>
                <a:path h="2575422" w="2961788">
                  <a:moveTo>
                    <a:pt x="0" y="0"/>
                  </a:moveTo>
                  <a:lnTo>
                    <a:pt x="2961788" y="0"/>
                  </a:lnTo>
                  <a:lnTo>
                    <a:pt x="2961788" y="2575422"/>
                  </a:lnTo>
                  <a:lnTo>
                    <a:pt x="0" y="2575422"/>
                  </a:lnTo>
                  <a:close/>
                </a:path>
              </a:pathLst>
            </a:custGeom>
            <a:solidFill>
              <a:srgbClr val="192253"/>
            </a:solidFill>
          </p:spPr>
        </p:sp>
        <p:sp>
          <p:nvSpPr>
            <p:cNvPr name="TextBox 5" id="5"/>
            <p:cNvSpPr txBox="true"/>
            <p:nvPr/>
          </p:nvSpPr>
          <p:spPr>
            <a:xfrm>
              <a:off x="0" y="-28575"/>
              <a:ext cx="2961788" cy="2603998"/>
            </a:xfrm>
            <a:prstGeom prst="rect">
              <a:avLst/>
            </a:prstGeom>
          </p:spPr>
          <p:txBody>
            <a:bodyPr anchor="ctr" rtlCol="false" tIns="50800" lIns="50800" bIns="50800" rIns="50800"/>
            <a:lstStyle/>
            <a:p>
              <a:pPr algn="ctr">
                <a:lnSpc>
                  <a:spcPts val="1869"/>
                </a:lnSpc>
              </a:pPr>
            </a:p>
          </p:txBody>
        </p:sp>
      </p:grpSp>
      <p:sp>
        <p:nvSpPr>
          <p:cNvPr name="AutoShape 6" id="6"/>
          <p:cNvSpPr/>
          <p:nvPr/>
        </p:nvSpPr>
        <p:spPr>
          <a:xfrm flipH="true" flipV="true">
            <a:off x="-488525" y="8289279"/>
            <a:ext cx="15156557" cy="0"/>
          </a:xfrm>
          <a:prstGeom prst="line">
            <a:avLst/>
          </a:prstGeom>
          <a:ln cap="flat" w="76200">
            <a:solidFill>
              <a:srgbClr val="C23A97"/>
            </a:solidFill>
            <a:prstDash val="solid"/>
            <a:headEnd type="none" len="sm" w="sm"/>
            <a:tailEnd type="none" len="sm" w="sm"/>
          </a:ln>
        </p:spPr>
      </p:sp>
      <p:sp>
        <p:nvSpPr>
          <p:cNvPr name="AutoShape 7" id="7"/>
          <p:cNvSpPr/>
          <p:nvPr/>
        </p:nvSpPr>
        <p:spPr>
          <a:xfrm flipH="true">
            <a:off x="10559239" y="2561194"/>
            <a:ext cx="8347436" cy="0"/>
          </a:xfrm>
          <a:prstGeom prst="line">
            <a:avLst/>
          </a:prstGeom>
          <a:ln cap="flat" w="76200">
            <a:solidFill>
              <a:srgbClr val="F5F5F5"/>
            </a:solidFill>
            <a:prstDash val="solid"/>
            <a:headEnd type="none" len="sm" w="sm"/>
            <a:tailEnd type="none" len="sm" w="sm"/>
          </a:ln>
        </p:spPr>
      </p:sp>
      <p:sp>
        <p:nvSpPr>
          <p:cNvPr name="TextBox 8" id="8"/>
          <p:cNvSpPr txBox="true"/>
          <p:nvPr/>
        </p:nvSpPr>
        <p:spPr>
          <a:xfrm rot="0">
            <a:off x="12417871" y="4906804"/>
            <a:ext cx="5561336" cy="784225"/>
          </a:xfrm>
          <a:prstGeom prst="rect">
            <a:avLst/>
          </a:prstGeom>
        </p:spPr>
        <p:txBody>
          <a:bodyPr anchor="t" rtlCol="false" tIns="0" lIns="0" bIns="0" rIns="0">
            <a:spAutoFit/>
          </a:bodyPr>
          <a:lstStyle/>
          <a:p>
            <a:pPr algn="just">
              <a:lnSpc>
                <a:spcPts val="6049"/>
              </a:lnSpc>
            </a:pPr>
            <a:r>
              <a:rPr lang="en-US" b="true" sz="5499" spc="175">
                <a:solidFill>
                  <a:srgbClr val="FFFFFF"/>
                </a:solidFill>
                <a:latin typeface="Open Sauce Medium"/>
                <a:ea typeface="Open Sauce Medium"/>
                <a:cs typeface="Open Sauce Medium"/>
                <a:sym typeface="Open Sauce Medium"/>
              </a:rPr>
              <a:t>Why Conda?</a:t>
            </a:r>
          </a:p>
        </p:txBody>
      </p:sp>
      <p:sp>
        <p:nvSpPr>
          <p:cNvPr name="Freeform 9" id="9"/>
          <p:cNvSpPr/>
          <p:nvPr/>
        </p:nvSpPr>
        <p:spPr>
          <a:xfrm flipH="false" flipV="false" rot="0">
            <a:off x="14451407" y="-347665"/>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4">
              <a:alphaModFix amt="37000"/>
            </a:blip>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8100000">
            <a:off x="-5281063" y="-2431920"/>
            <a:ext cx="16893429" cy="10074627"/>
          </a:xfrm>
          <a:custGeom>
            <a:avLst/>
            <a:gdLst/>
            <a:ahLst/>
            <a:cxnLst/>
            <a:rect r="r" b="b" t="t" l="l"/>
            <a:pathLst>
              <a:path h="10074627" w="16893429">
                <a:moveTo>
                  <a:pt x="0" y="0"/>
                </a:moveTo>
                <a:lnTo>
                  <a:pt x="16893430" y="0"/>
                </a:lnTo>
                <a:lnTo>
                  <a:pt x="16893430" y="10074627"/>
                </a:lnTo>
                <a:lnTo>
                  <a:pt x="0" y="100746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427040" y="1028700"/>
            <a:ext cx="15433919" cy="7619050"/>
            <a:chOff x="0" y="0"/>
            <a:chExt cx="4064900" cy="2006663"/>
          </a:xfrm>
        </p:grpSpPr>
        <p:sp>
          <p:nvSpPr>
            <p:cNvPr name="Freeform 4" id="4"/>
            <p:cNvSpPr/>
            <p:nvPr/>
          </p:nvSpPr>
          <p:spPr>
            <a:xfrm flipH="false" flipV="false" rot="0">
              <a:off x="0" y="0"/>
              <a:ext cx="4064900" cy="2006663"/>
            </a:xfrm>
            <a:custGeom>
              <a:avLst/>
              <a:gdLst/>
              <a:ahLst/>
              <a:cxnLst/>
              <a:rect r="r" b="b" t="t" l="l"/>
              <a:pathLst>
                <a:path h="2006663" w="4064900">
                  <a:moveTo>
                    <a:pt x="0" y="0"/>
                  </a:moveTo>
                  <a:lnTo>
                    <a:pt x="4064900" y="0"/>
                  </a:lnTo>
                  <a:lnTo>
                    <a:pt x="4064900" y="2006663"/>
                  </a:lnTo>
                  <a:lnTo>
                    <a:pt x="0" y="200666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64900" cy="2035238"/>
            </a:xfrm>
            <a:prstGeom prst="rect">
              <a:avLst/>
            </a:prstGeom>
          </p:spPr>
          <p:txBody>
            <a:bodyPr anchor="ctr" rtlCol="false" tIns="50800" lIns="50800" bIns="50800" rIns="50800"/>
            <a:lstStyle/>
            <a:p>
              <a:pPr algn="ctr">
                <a:lnSpc>
                  <a:spcPts val="1869"/>
                </a:lnSpc>
              </a:pPr>
            </a:p>
          </p:txBody>
        </p:sp>
      </p:grpSp>
      <p:sp>
        <p:nvSpPr>
          <p:cNvPr name="Freeform 6" id="6"/>
          <p:cNvSpPr/>
          <p:nvPr/>
        </p:nvSpPr>
        <p:spPr>
          <a:xfrm flipH="false" flipV="false" rot="0">
            <a:off x="2718917" y="1530481"/>
            <a:ext cx="12850166" cy="6615489"/>
          </a:xfrm>
          <a:custGeom>
            <a:avLst/>
            <a:gdLst/>
            <a:ahLst/>
            <a:cxnLst/>
            <a:rect r="r" b="b" t="t" l="l"/>
            <a:pathLst>
              <a:path h="6615489" w="12850166">
                <a:moveTo>
                  <a:pt x="0" y="0"/>
                </a:moveTo>
                <a:lnTo>
                  <a:pt x="12850166" y="0"/>
                </a:lnTo>
                <a:lnTo>
                  <a:pt x="12850166" y="6615488"/>
                </a:lnTo>
                <a:lnTo>
                  <a:pt x="0" y="6615488"/>
                </a:lnTo>
                <a:lnTo>
                  <a:pt x="0" y="0"/>
                </a:lnTo>
                <a:close/>
              </a:path>
            </a:pathLst>
          </a:custGeom>
          <a:blipFill>
            <a:blip r:embed="rId4"/>
            <a:stretch>
              <a:fillRect l="0" t="0" r="0" b="0"/>
            </a:stretch>
          </a:blipFill>
        </p:spPr>
      </p:sp>
      <p:sp>
        <p:nvSpPr>
          <p:cNvPr name="Freeform 7" id="7"/>
          <p:cNvSpPr/>
          <p:nvPr/>
        </p:nvSpPr>
        <p:spPr>
          <a:xfrm flipH="false" flipV="false" rot="0">
            <a:off x="14536776" y="-623672"/>
            <a:ext cx="4202802" cy="2362325"/>
          </a:xfrm>
          <a:custGeom>
            <a:avLst/>
            <a:gdLst/>
            <a:ahLst/>
            <a:cxnLst/>
            <a:rect r="r" b="b" t="t" l="l"/>
            <a:pathLst>
              <a:path h="2362325" w="4202802">
                <a:moveTo>
                  <a:pt x="0" y="0"/>
                </a:moveTo>
                <a:lnTo>
                  <a:pt x="4202803" y="0"/>
                </a:lnTo>
                <a:lnTo>
                  <a:pt x="4202803" y="2362325"/>
                </a:lnTo>
                <a:lnTo>
                  <a:pt x="0" y="2362325"/>
                </a:lnTo>
                <a:lnTo>
                  <a:pt x="0" y="0"/>
                </a:lnTo>
                <a:close/>
              </a:path>
            </a:pathLst>
          </a:custGeom>
          <a:blipFill>
            <a:blip r:embed="rId5">
              <a:alphaModFix amt="37000"/>
            </a:blip>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2923865">
            <a:off x="-2984685" y="1184351"/>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5400000">
            <a:off x="8046708" y="385825"/>
            <a:ext cx="11245538" cy="9778557"/>
            <a:chOff x="0" y="0"/>
            <a:chExt cx="2961788" cy="2575423"/>
          </a:xfrm>
        </p:grpSpPr>
        <p:sp>
          <p:nvSpPr>
            <p:cNvPr name="Freeform 4" id="4"/>
            <p:cNvSpPr/>
            <p:nvPr/>
          </p:nvSpPr>
          <p:spPr>
            <a:xfrm flipH="false" flipV="false" rot="0">
              <a:off x="0" y="0"/>
              <a:ext cx="2961788" cy="2575422"/>
            </a:xfrm>
            <a:custGeom>
              <a:avLst/>
              <a:gdLst/>
              <a:ahLst/>
              <a:cxnLst/>
              <a:rect r="r" b="b" t="t" l="l"/>
              <a:pathLst>
                <a:path h="2575422" w="2961788">
                  <a:moveTo>
                    <a:pt x="0" y="0"/>
                  </a:moveTo>
                  <a:lnTo>
                    <a:pt x="2961788" y="0"/>
                  </a:lnTo>
                  <a:lnTo>
                    <a:pt x="2961788" y="2575422"/>
                  </a:lnTo>
                  <a:lnTo>
                    <a:pt x="0" y="2575422"/>
                  </a:lnTo>
                  <a:close/>
                </a:path>
              </a:pathLst>
            </a:custGeom>
            <a:solidFill>
              <a:srgbClr val="192253"/>
            </a:solidFill>
          </p:spPr>
        </p:sp>
        <p:sp>
          <p:nvSpPr>
            <p:cNvPr name="TextBox 5" id="5"/>
            <p:cNvSpPr txBox="true"/>
            <p:nvPr/>
          </p:nvSpPr>
          <p:spPr>
            <a:xfrm>
              <a:off x="0" y="-28575"/>
              <a:ext cx="2961788" cy="2603998"/>
            </a:xfrm>
            <a:prstGeom prst="rect">
              <a:avLst/>
            </a:prstGeom>
          </p:spPr>
          <p:txBody>
            <a:bodyPr anchor="ctr" rtlCol="false" tIns="50800" lIns="50800" bIns="50800" rIns="50800"/>
            <a:lstStyle/>
            <a:p>
              <a:pPr algn="ctr">
                <a:lnSpc>
                  <a:spcPts val="1869"/>
                </a:lnSpc>
              </a:pPr>
            </a:p>
          </p:txBody>
        </p:sp>
      </p:grpSp>
      <p:sp>
        <p:nvSpPr>
          <p:cNvPr name="AutoShape 6" id="6"/>
          <p:cNvSpPr/>
          <p:nvPr/>
        </p:nvSpPr>
        <p:spPr>
          <a:xfrm flipH="true" flipV="true">
            <a:off x="-488525" y="8289279"/>
            <a:ext cx="15156557" cy="0"/>
          </a:xfrm>
          <a:prstGeom prst="line">
            <a:avLst/>
          </a:prstGeom>
          <a:ln cap="flat" w="76200">
            <a:solidFill>
              <a:srgbClr val="C23A97"/>
            </a:solidFill>
            <a:prstDash val="solid"/>
            <a:headEnd type="none" len="sm" w="sm"/>
            <a:tailEnd type="none" len="sm" w="sm"/>
          </a:ln>
        </p:spPr>
      </p:sp>
      <p:sp>
        <p:nvSpPr>
          <p:cNvPr name="AutoShape 7" id="7"/>
          <p:cNvSpPr/>
          <p:nvPr/>
        </p:nvSpPr>
        <p:spPr>
          <a:xfrm flipH="true">
            <a:off x="10559239" y="2561194"/>
            <a:ext cx="8347436" cy="0"/>
          </a:xfrm>
          <a:prstGeom prst="line">
            <a:avLst/>
          </a:prstGeom>
          <a:ln cap="flat" w="76200">
            <a:solidFill>
              <a:srgbClr val="F5F5F5"/>
            </a:solidFill>
            <a:prstDash val="solid"/>
            <a:headEnd type="none" len="sm" w="sm"/>
            <a:tailEnd type="none" len="sm" w="sm"/>
          </a:ln>
        </p:spPr>
      </p:sp>
      <p:sp>
        <p:nvSpPr>
          <p:cNvPr name="TextBox 8" id="8"/>
          <p:cNvSpPr txBox="true"/>
          <p:nvPr/>
        </p:nvSpPr>
        <p:spPr>
          <a:xfrm rot="0">
            <a:off x="12417871" y="4906804"/>
            <a:ext cx="5561336" cy="2308225"/>
          </a:xfrm>
          <a:prstGeom prst="rect">
            <a:avLst/>
          </a:prstGeom>
        </p:spPr>
        <p:txBody>
          <a:bodyPr anchor="t" rtlCol="false" tIns="0" lIns="0" bIns="0" rIns="0">
            <a:spAutoFit/>
          </a:bodyPr>
          <a:lstStyle/>
          <a:p>
            <a:pPr algn="just">
              <a:lnSpc>
                <a:spcPts val="6049"/>
              </a:lnSpc>
            </a:pPr>
            <a:r>
              <a:rPr lang="en-US" b="true" sz="5499" spc="175">
                <a:solidFill>
                  <a:srgbClr val="FFFFFF"/>
                </a:solidFill>
                <a:latin typeface="Open Sauce Medium"/>
                <a:ea typeface="Open Sauce Medium"/>
                <a:cs typeface="Open Sauce Medium"/>
                <a:sym typeface="Open Sauce Medium"/>
              </a:rPr>
              <a:t>CREATE CONDA ENVIRONMENT</a:t>
            </a:r>
          </a:p>
        </p:txBody>
      </p:sp>
      <p:sp>
        <p:nvSpPr>
          <p:cNvPr name="Freeform 9" id="9"/>
          <p:cNvSpPr/>
          <p:nvPr/>
        </p:nvSpPr>
        <p:spPr>
          <a:xfrm flipH="false" flipV="false" rot="0">
            <a:off x="14355953" y="-347665"/>
            <a:ext cx="4202802" cy="2362325"/>
          </a:xfrm>
          <a:custGeom>
            <a:avLst/>
            <a:gdLst/>
            <a:ahLst/>
            <a:cxnLst/>
            <a:rect r="r" b="b" t="t" l="l"/>
            <a:pathLst>
              <a:path h="2362325" w="4202802">
                <a:moveTo>
                  <a:pt x="0" y="0"/>
                </a:moveTo>
                <a:lnTo>
                  <a:pt x="4202803" y="0"/>
                </a:lnTo>
                <a:lnTo>
                  <a:pt x="4202803" y="2362325"/>
                </a:lnTo>
                <a:lnTo>
                  <a:pt x="0" y="2362325"/>
                </a:lnTo>
                <a:lnTo>
                  <a:pt x="0" y="0"/>
                </a:lnTo>
                <a:close/>
              </a:path>
            </a:pathLst>
          </a:custGeom>
          <a:blipFill>
            <a:blip r:embed="rId4">
              <a:alphaModFix amt="37000"/>
            </a:blip>
            <a:stretch>
              <a:fillRect l="0" t="0" r="0" b="0"/>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8100000">
            <a:off x="-5281063" y="-2431920"/>
            <a:ext cx="16893429" cy="10074627"/>
          </a:xfrm>
          <a:custGeom>
            <a:avLst/>
            <a:gdLst/>
            <a:ahLst/>
            <a:cxnLst/>
            <a:rect r="r" b="b" t="t" l="l"/>
            <a:pathLst>
              <a:path h="10074627" w="16893429">
                <a:moveTo>
                  <a:pt x="0" y="0"/>
                </a:moveTo>
                <a:lnTo>
                  <a:pt x="16893430" y="0"/>
                </a:lnTo>
                <a:lnTo>
                  <a:pt x="16893430" y="10074627"/>
                </a:lnTo>
                <a:lnTo>
                  <a:pt x="0" y="100746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66398" y="1333975"/>
            <a:ext cx="15433919" cy="7619050"/>
            <a:chOff x="0" y="0"/>
            <a:chExt cx="4064900" cy="2006663"/>
          </a:xfrm>
        </p:grpSpPr>
        <p:sp>
          <p:nvSpPr>
            <p:cNvPr name="Freeform 4" id="4"/>
            <p:cNvSpPr/>
            <p:nvPr/>
          </p:nvSpPr>
          <p:spPr>
            <a:xfrm flipH="false" flipV="false" rot="0">
              <a:off x="0" y="0"/>
              <a:ext cx="4064900" cy="2006663"/>
            </a:xfrm>
            <a:custGeom>
              <a:avLst/>
              <a:gdLst/>
              <a:ahLst/>
              <a:cxnLst/>
              <a:rect r="r" b="b" t="t" l="l"/>
              <a:pathLst>
                <a:path h="2006663" w="4064900">
                  <a:moveTo>
                    <a:pt x="0" y="0"/>
                  </a:moveTo>
                  <a:lnTo>
                    <a:pt x="4064900" y="0"/>
                  </a:lnTo>
                  <a:lnTo>
                    <a:pt x="4064900" y="2006663"/>
                  </a:lnTo>
                  <a:lnTo>
                    <a:pt x="0" y="200666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64900" cy="2035238"/>
            </a:xfrm>
            <a:prstGeom prst="rect">
              <a:avLst/>
            </a:prstGeom>
          </p:spPr>
          <p:txBody>
            <a:bodyPr anchor="ctr" rtlCol="false" tIns="50800" lIns="50800" bIns="50800" rIns="50800"/>
            <a:lstStyle/>
            <a:p>
              <a:pPr algn="ctr">
                <a:lnSpc>
                  <a:spcPts val="1869"/>
                </a:lnSpc>
              </a:pPr>
            </a:p>
          </p:txBody>
        </p:sp>
      </p:grpSp>
      <p:sp>
        <p:nvSpPr>
          <p:cNvPr name="TextBox 6" id="6"/>
          <p:cNvSpPr txBox="true"/>
          <p:nvPr/>
        </p:nvSpPr>
        <p:spPr>
          <a:xfrm rot="0">
            <a:off x="2226667" y="2066527"/>
            <a:ext cx="13834665" cy="2009775"/>
          </a:xfrm>
          <a:prstGeom prst="rect">
            <a:avLst/>
          </a:prstGeom>
        </p:spPr>
        <p:txBody>
          <a:bodyPr anchor="t" rtlCol="false" tIns="0" lIns="0" bIns="0" rIns="0">
            <a:spAutoFit/>
          </a:bodyPr>
          <a:lstStyle/>
          <a:p>
            <a:pPr algn="ctr">
              <a:lnSpc>
                <a:spcPts val="7920"/>
              </a:lnSpc>
            </a:pPr>
            <a:r>
              <a:rPr lang="en-US" sz="6600">
                <a:solidFill>
                  <a:srgbClr val="000000"/>
                </a:solidFill>
                <a:latin typeface="Open Sauce"/>
                <a:ea typeface="Open Sauce"/>
                <a:cs typeface="Open Sauce"/>
                <a:sym typeface="Open Sauce"/>
              </a:rPr>
              <a:t>Create a new conda environment using the command line </a:t>
            </a:r>
          </a:p>
        </p:txBody>
      </p:sp>
      <p:sp>
        <p:nvSpPr>
          <p:cNvPr name="TextBox 7" id="7"/>
          <p:cNvSpPr txBox="true"/>
          <p:nvPr/>
        </p:nvSpPr>
        <p:spPr>
          <a:xfrm rot="0">
            <a:off x="5791625" y="5545534"/>
            <a:ext cx="8902933"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Hint: Use anaconda prompt -windows </a:t>
            </a:r>
          </a:p>
        </p:txBody>
      </p:sp>
      <p:sp>
        <p:nvSpPr>
          <p:cNvPr name="TextBox 8" id="8"/>
          <p:cNvSpPr txBox="true"/>
          <p:nvPr/>
        </p:nvSpPr>
        <p:spPr>
          <a:xfrm rot="0">
            <a:off x="5791625" y="6469580"/>
            <a:ext cx="6130299"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Hint: Use ‘Conda create’ </a:t>
            </a:r>
          </a:p>
        </p:txBody>
      </p:sp>
      <p:sp>
        <p:nvSpPr>
          <p:cNvPr name="Freeform 9" id="9"/>
          <p:cNvSpPr/>
          <p:nvPr/>
        </p:nvSpPr>
        <p:spPr>
          <a:xfrm flipH="false" flipV="false" rot="0">
            <a:off x="14508320" y="-552531"/>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4">
              <a:alphaModFix amt="37000"/>
            </a:blip>
            <a:stretch>
              <a:fillRect l="0" t="0" r="0" b="0"/>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2923865">
            <a:off x="-2984685" y="1184351"/>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5400000">
            <a:off x="8046708" y="385825"/>
            <a:ext cx="11245538" cy="9778557"/>
            <a:chOff x="0" y="0"/>
            <a:chExt cx="2961788" cy="2575423"/>
          </a:xfrm>
        </p:grpSpPr>
        <p:sp>
          <p:nvSpPr>
            <p:cNvPr name="Freeform 4" id="4"/>
            <p:cNvSpPr/>
            <p:nvPr/>
          </p:nvSpPr>
          <p:spPr>
            <a:xfrm flipH="false" flipV="false" rot="0">
              <a:off x="0" y="0"/>
              <a:ext cx="2961788" cy="2575422"/>
            </a:xfrm>
            <a:custGeom>
              <a:avLst/>
              <a:gdLst/>
              <a:ahLst/>
              <a:cxnLst/>
              <a:rect r="r" b="b" t="t" l="l"/>
              <a:pathLst>
                <a:path h="2575422" w="2961788">
                  <a:moveTo>
                    <a:pt x="0" y="0"/>
                  </a:moveTo>
                  <a:lnTo>
                    <a:pt x="2961788" y="0"/>
                  </a:lnTo>
                  <a:lnTo>
                    <a:pt x="2961788" y="2575422"/>
                  </a:lnTo>
                  <a:lnTo>
                    <a:pt x="0" y="2575422"/>
                  </a:lnTo>
                  <a:close/>
                </a:path>
              </a:pathLst>
            </a:custGeom>
            <a:solidFill>
              <a:srgbClr val="192253"/>
            </a:solidFill>
          </p:spPr>
        </p:sp>
        <p:sp>
          <p:nvSpPr>
            <p:cNvPr name="TextBox 5" id="5"/>
            <p:cNvSpPr txBox="true"/>
            <p:nvPr/>
          </p:nvSpPr>
          <p:spPr>
            <a:xfrm>
              <a:off x="0" y="-28575"/>
              <a:ext cx="2961788" cy="2603998"/>
            </a:xfrm>
            <a:prstGeom prst="rect">
              <a:avLst/>
            </a:prstGeom>
          </p:spPr>
          <p:txBody>
            <a:bodyPr anchor="ctr" rtlCol="false" tIns="50800" lIns="50800" bIns="50800" rIns="50800"/>
            <a:lstStyle/>
            <a:p>
              <a:pPr algn="ctr">
                <a:lnSpc>
                  <a:spcPts val="1869"/>
                </a:lnSpc>
              </a:pPr>
            </a:p>
          </p:txBody>
        </p:sp>
      </p:grpSp>
      <p:sp>
        <p:nvSpPr>
          <p:cNvPr name="AutoShape 6" id="6"/>
          <p:cNvSpPr/>
          <p:nvPr/>
        </p:nvSpPr>
        <p:spPr>
          <a:xfrm flipH="true" flipV="true">
            <a:off x="-488525" y="8289279"/>
            <a:ext cx="15156557" cy="0"/>
          </a:xfrm>
          <a:prstGeom prst="line">
            <a:avLst/>
          </a:prstGeom>
          <a:ln cap="flat" w="76200">
            <a:solidFill>
              <a:srgbClr val="C23A97"/>
            </a:solidFill>
            <a:prstDash val="solid"/>
            <a:headEnd type="none" len="sm" w="sm"/>
            <a:tailEnd type="none" len="sm" w="sm"/>
          </a:ln>
        </p:spPr>
      </p:sp>
      <p:sp>
        <p:nvSpPr>
          <p:cNvPr name="AutoShape 7" id="7"/>
          <p:cNvSpPr/>
          <p:nvPr/>
        </p:nvSpPr>
        <p:spPr>
          <a:xfrm flipH="true">
            <a:off x="10559239" y="2561194"/>
            <a:ext cx="8347436" cy="0"/>
          </a:xfrm>
          <a:prstGeom prst="line">
            <a:avLst/>
          </a:prstGeom>
          <a:ln cap="flat" w="76200">
            <a:solidFill>
              <a:srgbClr val="F5F5F5"/>
            </a:solidFill>
            <a:prstDash val="solid"/>
            <a:headEnd type="none" len="sm" w="sm"/>
            <a:tailEnd type="none" len="sm" w="sm"/>
          </a:ln>
        </p:spPr>
      </p:sp>
      <p:sp>
        <p:nvSpPr>
          <p:cNvPr name="TextBox 8" id="8"/>
          <p:cNvSpPr txBox="true"/>
          <p:nvPr/>
        </p:nvSpPr>
        <p:spPr>
          <a:xfrm rot="0">
            <a:off x="12417871" y="4906804"/>
            <a:ext cx="5561336" cy="784225"/>
          </a:xfrm>
          <a:prstGeom prst="rect">
            <a:avLst/>
          </a:prstGeom>
        </p:spPr>
        <p:txBody>
          <a:bodyPr anchor="t" rtlCol="false" tIns="0" lIns="0" bIns="0" rIns="0">
            <a:spAutoFit/>
          </a:bodyPr>
          <a:lstStyle/>
          <a:p>
            <a:pPr algn="just">
              <a:lnSpc>
                <a:spcPts val="6049"/>
              </a:lnSpc>
            </a:pPr>
            <a:r>
              <a:rPr lang="en-US" b="true" sz="5499" spc="175">
                <a:solidFill>
                  <a:srgbClr val="FFFFFF"/>
                </a:solidFill>
                <a:latin typeface="Open Sauce Medium"/>
                <a:ea typeface="Open Sauce Medium"/>
                <a:cs typeface="Open Sauce Medium"/>
                <a:sym typeface="Open Sauce Medium"/>
              </a:rPr>
              <a:t>PYTHON</a:t>
            </a:r>
          </a:p>
        </p:txBody>
      </p:sp>
      <p:sp>
        <p:nvSpPr>
          <p:cNvPr name="Freeform 9" id="9"/>
          <p:cNvSpPr/>
          <p:nvPr/>
        </p:nvSpPr>
        <p:spPr>
          <a:xfrm flipH="false" flipV="false" rot="0">
            <a:off x="14455133" y="-433035"/>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4">
              <a:alphaModFix amt="37000"/>
            </a:blip>
            <a:stretch>
              <a:fillRect l="0" t="0" r="0" b="0"/>
            </a:stretch>
          </a:blipFill>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2923865">
            <a:off x="-2984685" y="1184351"/>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5400000">
            <a:off x="8046708" y="385825"/>
            <a:ext cx="11245538" cy="9778557"/>
            <a:chOff x="0" y="0"/>
            <a:chExt cx="2961788" cy="2575423"/>
          </a:xfrm>
        </p:grpSpPr>
        <p:sp>
          <p:nvSpPr>
            <p:cNvPr name="Freeform 4" id="4"/>
            <p:cNvSpPr/>
            <p:nvPr/>
          </p:nvSpPr>
          <p:spPr>
            <a:xfrm flipH="false" flipV="false" rot="0">
              <a:off x="0" y="0"/>
              <a:ext cx="2961788" cy="2575422"/>
            </a:xfrm>
            <a:custGeom>
              <a:avLst/>
              <a:gdLst/>
              <a:ahLst/>
              <a:cxnLst/>
              <a:rect r="r" b="b" t="t" l="l"/>
              <a:pathLst>
                <a:path h="2575422" w="2961788">
                  <a:moveTo>
                    <a:pt x="0" y="0"/>
                  </a:moveTo>
                  <a:lnTo>
                    <a:pt x="2961788" y="0"/>
                  </a:lnTo>
                  <a:lnTo>
                    <a:pt x="2961788" y="2575422"/>
                  </a:lnTo>
                  <a:lnTo>
                    <a:pt x="0" y="2575422"/>
                  </a:lnTo>
                  <a:close/>
                </a:path>
              </a:pathLst>
            </a:custGeom>
            <a:solidFill>
              <a:srgbClr val="192253"/>
            </a:solidFill>
          </p:spPr>
        </p:sp>
        <p:sp>
          <p:nvSpPr>
            <p:cNvPr name="TextBox 5" id="5"/>
            <p:cNvSpPr txBox="true"/>
            <p:nvPr/>
          </p:nvSpPr>
          <p:spPr>
            <a:xfrm>
              <a:off x="0" y="-28575"/>
              <a:ext cx="2961788" cy="2603998"/>
            </a:xfrm>
            <a:prstGeom prst="rect">
              <a:avLst/>
            </a:prstGeom>
          </p:spPr>
          <p:txBody>
            <a:bodyPr anchor="ctr" rtlCol="false" tIns="50800" lIns="50800" bIns="50800" rIns="50800"/>
            <a:lstStyle/>
            <a:p>
              <a:pPr algn="ctr">
                <a:lnSpc>
                  <a:spcPts val="1869"/>
                </a:lnSpc>
              </a:pPr>
            </a:p>
          </p:txBody>
        </p:sp>
      </p:grpSp>
      <p:sp>
        <p:nvSpPr>
          <p:cNvPr name="AutoShape 6" id="6"/>
          <p:cNvSpPr/>
          <p:nvPr/>
        </p:nvSpPr>
        <p:spPr>
          <a:xfrm flipH="true" flipV="true">
            <a:off x="-488525" y="8289279"/>
            <a:ext cx="15156557" cy="0"/>
          </a:xfrm>
          <a:prstGeom prst="line">
            <a:avLst/>
          </a:prstGeom>
          <a:ln cap="flat" w="76200">
            <a:solidFill>
              <a:srgbClr val="C23A97"/>
            </a:solidFill>
            <a:prstDash val="solid"/>
            <a:headEnd type="none" len="sm" w="sm"/>
            <a:tailEnd type="none" len="sm" w="sm"/>
          </a:ln>
        </p:spPr>
      </p:sp>
      <p:sp>
        <p:nvSpPr>
          <p:cNvPr name="AutoShape 7" id="7"/>
          <p:cNvSpPr/>
          <p:nvPr/>
        </p:nvSpPr>
        <p:spPr>
          <a:xfrm flipH="true">
            <a:off x="10559239" y="2561194"/>
            <a:ext cx="8347436" cy="0"/>
          </a:xfrm>
          <a:prstGeom prst="line">
            <a:avLst/>
          </a:prstGeom>
          <a:ln cap="flat" w="76200">
            <a:solidFill>
              <a:srgbClr val="F5F5F5"/>
            </a:solidFill>
            <a:prstDash val="solid"/>
            <a:headEnd type="none" len="sm" w="sm"/>
            <a:tailEnd type="none" len="sm" w="sm"/>
          </a:ln>
        </p:spPr>
      </p:sp>
      <p:sp>
        <p:nvSpPr>
          <p:cNvPr name="TextBox 8" id="8"/>
          <p:cNvSpPr txBox="true"/>
          <p:nvPr/>
        </p:nvSpPr>
        <p:spPr>
          <a:xfrm rot="0">
            <a:off x="12417871" y="4906804"/>
            <a:ext cx="4500323" cy="784225"/>
          </a:xfrm>
          <a:prstGeom prst="rect">
            <a:avLst/>
          </a:prstGeom>
        </p:spPr>
        <p:txBody>
          <a:bodyPr anchor="t" rtlCol="false" tIns="0" lIns="0" bIns="0" rIns="0">
            <a:spAutoFit/>
          </a:bodyPr>
          <a:lstStyle/>
          <a:p>
            <a:pPr algn="just">
              <a:lnSpc>
                <a:spcPts val="6049"/>
              </a:lnSpc>
            </a:pPr>
            <a:r>
              <a:rPr lang="en-US" b="true" sz="5499" spc="175">
                <a:solidFill>
                  <a:srgbClr val="FFFFFF"/>
                </a:solidFill>
                <a:latin typeface="Open Sauce Medium"/>
                <a:ea typeface="Open Sauce Medium"/>
                <a:cs typeface="Open Sauce Medium"/>
                <a:sym typeface="Open Sauce Medium"/>
              </a:rPr>
              <a:t>KEY TERMS</a:t>
            </a:r>
          </a:p>
        </p:txBody>
      </p:sp>
      <p:sp>
        <p:nvSpPr>
          <p:cNvPr name="Freeform 9" id="9"/>
          <p:cNvSpPr/>
          <p:nvPr/>
        </p:nvSpPr>
        <p:spPr>
          <a:xfrm flipH="false" flipV="false" rot="0">
            <a:off x="14270165" y="-347665"/>
            <a:ext cx="4202802" cy="2362325"/>
          </a:xfrm>
          <a:custGeom>
            <a:avLst/>
            <a:gdLst/>
            <a:ahLst/>
            <a:cxnLst/>
            <a:rect r="r" b="b" t="t" l="l"/>
            <a:pathLst>
              <a:path h="2362325" w="4202802">
                <a:moveTo>
                  <a:pt x="0" y="0"/>
                </a:moveTo>
                <a:lnTo>
                  <a:pt x="4202803" y="0"/>
                </a:lnTo>
                <a:lnTo>
                  <a:pt x="4202803" y="2362325"/>
                </a:lnTo>
                <a:lnTo>
                  <a:pt x="0" y="2362325"/>
                </a:lnTo>
                <a:lnTo>
                  <a:pt x="0" y="0"/>
                </a:lnTo>
                <a:close/>
              </a:path>
            </a:pathLst>
          </a:custGeom>
          <a:blipFill>
            <a:blip r:embed="rId4">
              <a:alphaModFix amt="37000"/>
            </a:blip>
            <a:stretch>
              <a:fillRect l="0" t="0" r="0" b="0"/>
            </a:stretch>
          </a:blipFill>
        </p:spPr>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5015114">
            <a:off x="9740863" y="2343404"/>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47506" y="1333975"/>
            <a:ext cx="15433919" cy="7619050"/>
            <a:chOff x="0" y="0"/>
            <a:chExt cx="4064900" cy="2006663"/>
          </a:xfrm>
        </p:grpSpPr>
        <p:sp>
          <p:nvSpPr>
            <p:cNvPr name="Freeform 4" id="4"/>
            <p:cNvSpPr/>
            <p:nvPr/>
          </p:nvSpPr>
          <p:spPr>
            <a:xfrm flipH="false" flipV="false" rot="0">
              <a:off x="0" y="0"/>
              <a:ext cx="4064900" cy="2006663"/>
            </a:xfrm>
            <a:custGeom>
              <a:avLst/>
              <a:gdLst/>
              <a:ahLst/>
              <a:cxnLst/>
              <a:rect r="r" b="b" t="t" l="l"/>
              <a:pathLst>
                <a:path h="2006663" w="4064900">
                  <a:moveTo>
                    <a:pt x="0" y="0"/>
                  </a:moveTo>
                  <a:lnTo>
                    <a:pt x="4064900" y="0"/>
                  </a:lnTo>
                  <a:lnTo>
                    <a:pt x="4064900" y="2006663"/>
                  </a:lnTo>
                  <a:lnTo>
                    <a:pt x="0" y="200666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64900" cy="2035238"/>
            </a:xfrm>
            <a:prstGeom prst="rect">
              <a:avLst/>
            </a:prstGeom>
          </p:spPr>
          <p:txBody>
            <a:bodyPr anchor="ctr" rtlCol="false" tIns="50800" lIns="50800" bIns="50800" rIns="50800"/>
            <a:lstStyle/>
            <a:p>
              <a:pPr algn="ctr">
                <a:lnSpc>
                  <a:spcPts val="1869"/>
                </a:lnSpc>
              </a:pPr>
            </a:p>
          </p:txBody>
        </p:sp>
      </p:grpSp>
      <p:sp>
        <p:nvSpPr>
          <p:cNvPr name="AutoShape 6" id="6"/>
          <p:cNvSpPr/>
          <p:nvPr/>
        </p:nvSpPr>
        <p:spPr>
          <a:xfrm flipV="true">
            <a:off x="2363428" y="2652442"/>
            <a:ext cx="0" cy="5211720"/>
          </a:xfrm>
          <a:prstGeom prst="line">
            <a:avLst/>
          </a:prstGeom>
          <a:ln cap="flat" w="38100">
            <a:solidFill>
              <a:srgbClr val="192253"/>
            </a:solidFill>
            <a:prstDash val="solid"/>
            <a:headEnd type="none" len="sm" w="sm"/>
            <a:tailEnd type="none" len="sm" w="sm"/>
          </a:ln>
        </p:spPr>
      </p:sp>
      <p:grpSp>
        <p:nvGrpSpPr>
          <p:cNvPr name="Group 7" id="7"/>
          <p:cNvGrpSpPr>
            <a:grpSpLocks noChangeAspect="true"/>
          </p:cNvGrpSpPr>
          <p:nvPr/>
        </p:nvGrpSpPr>
        <p:grpSpPr>
          <a:xfrm rot="0">
            <a:off x="2178468" y="2467483"/>
            <a:ext cx="369918" cy="369918"/>
            <a:chOff x="6705600" y="1371600"/>
            <a:chExt cx="10972800" cy="10972800"/>
          </a:xfrm>
        </p:grpSpPr>
        <p:sp>
          <p:nvSpPr>
            <p:cNvPr name="Freeform 8" id="8"/>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9" id="9"/>
          <p:cNvGrpSpPr>
            <a:grpSpLocks noChangeAspect="true"/>
          </p:cNvGrpSpPr>
          <p:nvPr/>
        </p:nvGrpSpPr>
        <p:grpSpPr>
          <a:xfrm rot="0">
            <a:off x="2178468" y="4447221"/>
            <a:ext cx="369918" cy="369918"/>
            <a:chOff x="6705600" y="1371600"/>
            <a:chExt cx="10972800" cy="10972800"/>
          </a:xfrm>
        </p:grpSpPr>
        <p:sp>
          <p:nvSpPr>
            <p:cNvPr name="Freeform 10" id="10"/>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sp>
        <p:nvSpPr>
          <p:cNvPr name="TextBox 11" id="11"/>
          <p:cNvSpPr txBox="true"/>
          <p:nvPr/>
        </p:nvSpPr>
        <p:spPr>
          <a:xfrm rot="0">
            <a:off x="2762916" y="2441888"/>
            <a:ext cx="5260448"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Interpreted</a:t>
            </a:r>
          </a:p>
        </p:txBody>
      </p:sp>
      <p:sp>
        <p:nvSpPr>
          <p:cNvPr name="TextBox 12" id="12"/>
          <p:cNvSpPr txBox="true"/>
          <p:nvPr/>
        </p:nvSpPr>
        <p:spPr>
          <a:xfrm rot="0">
            <a:off x="2762916" y="4401675"/>
            <a:ext cx="5260448"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Object Oriented</a:t>
            </a:r>
          </a:p>
        </p:txBody>
      </p:sp>
      <p:sp>
        <p:nvSpPr>
          <p:cNvPr name="TextBox 13" id="13"/>
          <p:cNvSpPr txBox="true"/>
          <p:nvPr/>
        </p:nvSpPr>
        <p:spPr>
          <a:xfrm rot="0">
            <a:off x="2762916" y="5108368"/>
            <a:ext cx="5626420" cy="1018794"/>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Object-oriented programming (OOP) is a paradigm that uses "objects" – instances of classes – which contain data and procedures to manipulate data. In Python, this allows for code to be structured as reusable/interactive components.</a:t>
            </a:r>
          </a:p>
        </p:txBody>
      </p:sp>
      <p:grpSp>
        <p:nvGrpSpPr>
          <p:cNvPr name="Group 14" id="14"/>
          <p:cNvGrpSpPr>
            <a:grpSpLocks noChangeAspect="true"/>
          </p:cNvGrpSpPr>
          <p:nvPr/>
        </p:nvGrpSpPr>
        <p:grpSpPr>
          <a:xfrm rot="0">
            <a:off x="2178468" y="6360189"/>
            <a:ext cx="369918" cy="369918"/>
            <a:chOff x="6705600" y="1371600"/>
            <a:chExt cx="10972800" cy="10972800"/>
          </a:xfrm>
        </p:grpSpPr>
        <p:sp>
          <p:nvSpPr>
            <p:cNvPr name="Freeform 15" id="15"/>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sp>
        <p:nvSpPr>
          <p:cNvPr name="TextBox 16" id="16"/>
          <p:cNvSpPr txBox="true"/>
          <p:nvPr/>
        </p:nvSpPr>
        <p:spPr>
          <a:xfrm rot="0">
            <a:off x="2762916" y="6355762"/>
            <a:ext cx="5260448"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High level</a:t>
            </a:r>
          </a:p>
        </p:txBody>
      </p:sp>
      <p:sp>
        <p:nvSpPr>
          <p:cNvPr name="AutoShape 17" id="17"/>
          <p:cNvSpPr/>
          <p:nvPr/>
        </p:nvSpPr>
        <p:spPr>
          <a:xfrm flipV="true">
            <a:off x="8968956" y="2652442"/>
            <a:ext cx="0" cy="5211720"/>
          </a:xfrm>
          <a:prstGeom prst="line">
            <a:avLst/>
          </a:prstGeom>
          <a:ln cap="flat" w="38100">
            <a:solidFill>
              <a:srgbClr val="192253"/>
            </a:solidFill>
            <a:prstDash val="solid"/>
            <a:headEnd type="none" len="sm" w="sm"/>
            <a:tailEnd type="none" len="sm" w="sm"/>
          </a:ln>
        </p:spPr>
      </p:sp>
      <p:grpSp>
        <p:nvGrpSpPr>
          <p:cNvPr name="Group 18" id="18"/>
          <p:cNvGrpSpPr>
            <a:grpSpLocks noChangeAspect="true"/>
          </p:cNvGrpSpPr>
          <p:nvPr/>
        </p:nvGrpSpPr>
        <p:grpSpPr>
          <a:xfrm rot="0">
            <a:off x="8783997" y="2467483"/>
            <a:ext cx="369918" cy="369918"/>
            <a:chOff x="6705600" y="1371600"/>
            <a:chExt cx="10972800" cy="10972800"/>
          </a:xfrm>
        </p:grpSpPr>
        <p:sp>
          <p:nvSpPr>
            <p:cNvPr name="Freeform 19" id="19"/>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20" id="20"/>
          <p:cNvGrpSpPr>
            <a:grpSpLocks noChangeAspect="true"/>
          </p:cNvGrpSpPr>
          <p:nvPr/>
        </p:nvGrpSpPr>
        <p:grpSpPr>
          <a:xfrm rot="0">
            <a:off x="8783997" y="4447221"/>
            <a:ext cx="369918" cy="369918"/>
            <a:chOff x="6705600" y="1371600"/>
            <a:chExt cx="10972800" cy="10972800"/>
          </a:xfrm>
        </p:grpSpPr>
        <p:sp>
          <p:nvSpPr>
            <p:cNvPr name="Freeform 21" id="21"/>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sp>
        <p:nvSpPr>
          <p:cNvPr name="TextBox 22" id="22"/>
          <p:cNvSpPr txBox="true"/>
          <p:nvPr/>
        </p:nvSpPr>
        <p:spPr>
          <a:xfrm rot="0">
            <a:off x="9368445" y="2441888"/>
            <a:ext cx="6205076"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Scripting/None compiled</a:t>
            </a:r>
          </a:p>
        </p:txBody>
      </p:sp>
      <p:sp>
        <p:nvSpPr>
          <p:cNvPr name="TextBox 23" id="23"/>
          <p:cNvSpPr txBox="true"/>
          <p:nvPr/>
        </p:nvSpPr>
        <p:spPr>
          <a:xfrm rot="0">
            <a:off x="9368445" y="4401675"/>
            <a:ext cx="5260448"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Dynamically typed </a:t>
            </a:r>
          </a:p>
        </p:txBody>
      </p:sp>
      <p:grpSp>
        <p:nvGrpSpPr>
          <p:cNvPr name="Group 24" id="24"/>
          <p:cNvGrpSpPr>
            <a:grpSpLocks noChangeAspect="true"/>
          </p:cNvGrpSpPr>
          <p:nvPr/>
        </p:nvGrpSpPr>
        <p:grpSpPr>
          <a:xfrm rot="0">
            <a:off x="8783997" y="6360189"/>
            <a:ext cx="369918" cy="369918"/>
            <a:chOff x="6705600" y="1371600"/>
            <a:chExt cx="10972800" cy="10972800"/>
          </a:xfrm>
        </p:grpSpPr>
        <p:sp>
          <p:nvSpPr>
            <p:cNvPr name="Freeform 25" id="25"/>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sp>
        <p:nvSpPr>
          <p:cNvPr name="TextBox 26" id="26"/>
          <p:cNvSpPr txBox="true"/>
          <p:nvPr/>
        </p:nvSpPr>
        <p:spPr>
          <a:xfrm rot="0">
            <a:off x="9368445" y="6355762"/>
            <a:ext cx="5260448"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Garbage Collected</a:t>
            </a:r>
          </a:p>
        </p:txBody>
      </p:sp>
      <p:sp>
        <p:nvSpPr>
          <p:cNvPr name="TextBox 27" id="27"/>
          <p:cNvSpPr txBox="true"/>
          <p:nvPr/>
        </p:nvSpPr>
        <p:spPr>
          <a:xfrm rot="0">
            <a:off x="2762916" y="3103170"/>
            <a:ext cx="5626420" cy="1018794"/>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Interpreted refers to the type of programming language that is  executed by an interpreter without needing to be compiled. Python is an interpreted language, it reads and executes code line-by-line, which allows for easier debugging and flexibility.</a:t>
            </a:r>
          </a:p>
        </p:txBody>
      </p:sp>
      <p:sp>
        <p:nvSpPr>
          <p:cNvPr name="TextBox 28" id="28"/>
          <p:cNvSpPr txBox="true"/>
          <p:nvPr/>
        </p:nvSpPr>
        <p:spPr>
          <a:xfrm rot="0">
            <a:off x="2762916" y="7007272"/>
            <a:ext cx="5626420" cy="761619"/>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A high-level language, like Python, is designed to be more user-friendly, readable, and abstracted from machine language, making it easier for people to write and understand.</a:t>
            </a:r>
          </a:p>
        </p:txBody>
      </p:sp>
      <p:sp>
        <p:nvSpPr>
          <p:cNvPr name="TextBox 29" id="29"/>
          <p:cNvSpPr txBox="true"/>
          <p:nvPr/>
        </p:nvSpPr>
        <p:spPr>
          <a:xfrm rot="0">
            <a:off x="9368445" y="3103170"/>
            <a:ext cx="5626420" cy="1018794"/>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A scripting or non-compiled language, like Python, is a type of programming language that doesn't require a separate compilation step. Instead, it's executed line-by-line at runtime, which allows for more flexibility and quicker iteration.</a:t>
            </a:r>
          </a:p>
        </p:txBody>
      </p:sp>
      <p:sp>
        <p:nvSpPr>
          <p:cNvPr name="TextBox 30" id="30"/>
          <p:cNvSpPr txBox="true"/>
          <p:nvPr/>
        </p:nvSpPr>
        <p:spPr>
          <a:xfrm rot="0">
            <a:off x="9368445" y="5080777"/>
            <a:ext cx="5626420" cy="1018794"/>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In a dynamically typed language like Python, variable types are checked during runtime, which means you can assign different types of data to the same variable and the interpreter determines the type on the fly.</a:t>
            </a:r>
          </a:p>
        </p:txBody>
      </p:sp>
      <p:sp>
        <p:nvSpPr>
          <p:cNvPr name="TextBox 31" id="31"/>
          <p:cNvSpPr txBox="true"/>
          <p:nvPr/>
        </p:nvSpPr>
        <p:spPr>
          <a:xfrm rot="0">
            <a:off x="9369006" y="7007272"/>
            <a:ext cx="5626420" cy="1018794"/>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Garbage collection in Python refers to the automatic management of memory, where the interpreter automatically frees up the memory that is no longer in use, eliminating the need for manual memory management.</a:t>
            </a:r>
          </a:p>
        </p:txBody>
      </p:sp>
      <p:sp>
        <p:nvSpPr>
          <p:cNvPr name="Freeform 32" id="32"/>
          <p:cNvSpPr/>
          <p:nvPr/>
        </p:nvSpPr>
        <p:spPr>
          <a:xfrm flipH="false" flipV="false" rot="0">
            <a:off x="-331769" y="-609444"/>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4">
              <a:alphaModFix amt="37000"/>
            </a:blip>
            <a:stretch>
              <a:fillRect l="0" t="0" r="0" b="0"/>
            </a:stretch>
          </a:blipFill>
        </p:spPr>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5015114">
            <a:off x="9740863" y="2343404"/>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47506" y="1333975"/>
            <a:ext cx="15433919" cy="7619050"/>
            <a:chOff x="0" y="0"/>
            <a:chExt cx="4064900" cy="2006663"/>
          </a:xfrm>
        </p:grpSpPr>
        <p:sp>
          <p:nvSpPr>
            <p:cNvPr name="Freeform 4" id="4"/>
            <p:cNvSpPr/>
            <p:nvPr/>
          </p:nvSpPr>
          <p:spPr>
            <a:xfrm flipH="false" flipV="false" rot="0">
              <a:off x="0" y="0"/>
              <a:ext cx="4064900" cy="2006663"/>
            </a:xfrm>
            <a:custGeom>
              <a:avLst/>
              <a:gdLst/>
              <a:ahLst/>
              <a:cxnLst/>
              <a:rect r="r" b="b" t="t" l="l"/>
              <a:pathLst>
                <a:path h="2006663" w="4064900">
                  <a:moveTo>
                    <a:pt x="0" y="0"/>
                  </a:moveTo>
                  <a:lnTo>
                    <a:pt x="4064900" y="0"/>
                  </a:lnTo>
                  <a:lnTo>
                    <a:pt x="4064900" y="2006663"/>
                  </a:lnTo>
                  <a:lnTo>
                    <a:pt x="0" y="200666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64900" cy="2035238"/>
            </a:xfrm>
            <a:prstGeom prst="rect">
              <a:avLst/>
            </a:prstGeom>
          </p:spPr>
          <p:txBody>
            <a:bodyPr anchor="ctr" rtlCol="false" tIns="50800" lIns="50800" bIns="50800" rIns="50800"/>
            <a:lstStyle/>
            <a:p>
              <a:pPr algn="ctr">
                <a:lnSpc>
                  <a:spcPts val="1869"/>
                </a:lnSpc>
              </a:pPr>
            </a:p>
          </p:txBody>
        </p:sp>
      </p:grpSp>
      <p:sp>
        <p:nvSpPr>
          <p:cNvPr name="AutoShape 6" id="6"/>
          <p:cNvSpPr/>
          <p:nvPr/>
        </p:nvSpPr>
        <p:spPr>
          <a:xfrm flipV="true">
            <a:off x="2363428" y="2652442"/>
            <a:ext cx="0" cy="5211720"/>
          </a:xfrm>
          <a:prstGeom prst="line">
            <a:avLst/>
          </a:prstGeom>
          <a:ln cap="flat" w="38100">
            <a:solidFill>
              <a:srgbClr val="192253"/>
            </a:solidFill>
            <a:prstDash val="solid"/>
            <a:headEnd type="none" len="sm" w="sm"/>
            <a:tailEnd type="none" len="sm" w="sm"/>
          </a:ln>
        </p:spPr>
      </p:sp>
      <p:grpSp>
        <p:nvGrpSpPr>
          <p:cNvPr name="Group 7" id="7"/>
          <p:cNvGrpSpPr>
            <a:grpSpLocks noChangeAspect="true"/>
          </p:cNvGrpSpPr>
          <p:nvPr/>
        </p:nvGrpSpPr>
        <p:grpSpPr>
          <a:xfrm rot="0">
            <a:off x="2178468" y="2467483"/>
            <a:ext cx="369918" cy="369918"/>
            <a:chOff x="6705600" y="1371600"/>
            <a:chExt cx="10972800" cy="10972800"/>
          </a:xfrm>
        </p:grpSpPr>
        <p:sp>
          <p:nvSpPr>
            <p:cNvPr name="Freeform 8" id="8"/>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9" id="9"/>
          <p:cNvGrpSpPr>
            <a:grpSpLocks noChangeAspect="true"/>
          </p:cNvGrpSpPr>
          <p:nvPr/>
        </p:nvGrpSpPr>
        <p:grpSpPr>
          <a:xfrm rot="0">
            <a:off x="2178468" y="4447221"/>
            <a:ext cx="369918" cy="369918"/>
            <a:chOff x="6705600" y="1371600"/>
            <a:chExt cx="10972800" cy="10972800"/>
          </a:xfrm>
        </p:grpSpPr>
        <p:sp>
          <p:nvSpPr>
            <p:cNvPr name="Freeform 10" id="10"/>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sp>
        <p:nvSpPr>
          <p:cNvPr name="TextBox 11" id="11"/>
          <p:cNvSpPr txBox="true"/>
          <p:nvPr/>
        </p:nvSpPr>
        <p:spPr>
          <a:xfrm rot="0">
            <a:off x="2762916" y="2441888"/>
            <a:ext cx="5260448"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White Space</a:t>
            </a:r>
          </a:p>
        </p:txBody>
      </p:sp>
      <p:sp>
        <p:nvSpPr>
          <p:cNvPr name="TextBox 12" id="12"/>
          <p:cNvSpPr txBox="true"/>
          <p:nvPr/>
        </p:nvSpPr>
        <p:spPr>
          <a:xfrm rot="0">
            <a:off x="2762916" y="4401675"/>
            <a:ext cx="5260448"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Function</a:t>
            </a:r>
          </a:p>
        </p:txBody>
      </p:sp>
      <p:sp>
        <p:nvSpPr>
          <p:cNvPr name="TextBox 13" id="13"/>
          <p:cNvSpPr txBox="true"/>
          <p:nvPr/>
        </p:nvSpPr>
        <p:spPr>
          <a:xfrm rot="0">
            <a:off x="2852777" y="3103170"/>
            <a:ext cx="5626420" cy="1018794"/>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In Python, whitespace is significant as it uses indentation to define blocks of code. This means the structure of your code is determined by the spaces and tabs, enhancing readability and consistency.</a:t>
            </a:r>
          </a:p>
        </p:txBody>
      </p:sp>
      <p:grpSp>
        <p:nvGrpSpPr>
          <p:cNvPr name="Group 14" id="14"/>
          <p:cNvGrpSpPr>
            <a:grpSpLocks noChangeAspect="true"/>
          </p:cNvGrpSpPr>
          <p:nvPr/>
        </p:nvGrpSpPr>
        <p:grpSpPr>
          <a:xfrm rot="0">
            <a:off x="2178468" y="6360189"/>
            <a:ext cx="369918" cy="369918"/>
            <a:chOff x="6705600" y="1371600"/>
            <a:chExt cx="10972800" cy="10972800"/>
          </a:xfrm>
        </p:grpSpPr>
        <p:sp>
          <p:nvSpPr>
            <p:cNvPr name="Freeform 15" id="15"/>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sp>
        <p:nvSpPr>
          <p:cNvPr name="TextBox 16" id="16"/>
          <p:cNvSpPr txBox="true"/>
          <p:nvPr/>
        </p:nvSpPr>
        <p:spPr>
          <a:xfrm rot="0">
            <a:off x="2762916" y="6355762"/>
            <a:ext cx="5260448"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Class</a:t>
            </a:r>
          </a:p>
        </p:txBody>
      </p:sp>
      <p:sp>
        <p:nvSpPr>
          <p:cNvPr name="AutoShape 17" id="17"/>
          <p:cNvSpPr/>
          <p:nvPr/>
        </p:nvSpPr>
        <p:spPr>
          <a:xfrm flipV="true">
            <a:off x="8968956" y="2652442"/>
            <a:ext cx="0" cy="5211720"/>
          </a:xfrm>
          <a:prstGeom prst="line">
            <a:avLst/>
          </a:prstGeom>
          <a:ln cap="flat" w="38100">
            <a:solidFill>
              <a:srgbClr val="192253"/>
            </a:solidFill>
            <a:prstDash val="solid"/>
            <a:headEnd type="none" len="sm" w="sm"/>
            <a:tailEnd type="none" len="sm" w="sm"/>
          </a:ln>
        </p:spPr>
      </p:sp>
      <p:grpSp>
        <p:nvGrpSpPr>
          <p:cNvPr name="Group 18" id="18"/>
          <p:cNvGrpSpPr>
            <a:grpSpLocks noChangeAspect="true"/>
          </p:cNvGrpSpPr>
          <p:nvPr/>
        </p:nvGrpSpPr>
        <p:grpSpPr>
          <a:xfrm rot="0">
            <a:off x="8783997" y="2467483"/>
            <a:ext cx="369918" cy="369918"/>
            <a:chOff x="6705600" y="1371600"/>
            <a:chExt cx="10972800" cy="10972800"/>
          </a:xfrm>
        </p:grpSpPr>
        <p:sp>
          <p:nvSpPr>
            <p:cNvPr name="Freeform 19" id="19"/>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20" id="20"/>
          <p:cNvGrpSpPr>
            <a:grpSpLocks noChangeAspect="true"/>
          </p:cNvGrpSpPr>
          <p:nvPr/>
        </p:nvGrpSpPr>
        <p:grpSpPr>
          <a:xfrm rot="0">
            <a:off x="8783997" y="4447221"/>
            <a:ext cx="369918" cy="369918"/>
            <a:chOff x="6705600" y="1371600"/>
            <a:chExt cx="10972800" cy="10972800"/>
          </a:xfrm>
        </p:grpSpPr>
        <p:sp>
          <p:nvSpPr>
            <p:cNvPr name="Freeform 21" id="21"/>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sp>
        <p:nvSpPr>
          <p:cNvPr name="TextBox 22" id="22"/>
          <p:cNvSpPr txBox="true"/>
          <p:nvPr/>
        </p:nvSpPr>
        <p:spPr>
          <a:xfrm rot="0">
            <a:off x="9368445" y="2441888"/>
            <a:ext cx="6205076"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Module</a:t>
            </a:r>
          </a:p>
        </p:txBody>
      </p:sp>
      <p:sp>
        <p:nvSpPr>
          <p:cNvPr name="TextBox 23" id="23"/>
          <p:cNvSpPr txBox="true"/>
          <p:nvPr/>
        </p:nvSpPr>
        <p:spPr>
          <a:xfrm rot="0">
            <a:off x="9368445" y="4401675"/>
            <a:ext cx="5260448"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Bold"/>
                <a:ea typeface="Open Sauce Bold"/>
                <a:cs typeface="Open Sauce Bold"/>
                <a:sym typeface="Open Sauce Bold"/>
              </a:rPr>
              <a:t>Package</a:t>
            </a:r>
          </a:p>
        </p:txBody>
      </p:sp>
      <p:grpSp>
        <p:nvGrpSpPr>
          <p:cNvPr name="Group 24" id="24"/>
          <p:cNvGrpSpPr>
            <a:grpSpLocks noChangeAspect="true"/>
          </p:cNvGrpSpPr>
          <p:nvPr/>
        </p:nvGrpSpPr>
        <p:grpSpPr>
          <a:xfrm rot="0">
            <a:off x="8783997" y="6360189"/>
            <a:ext cx="369918" cy="369918"/>
            <a:chOff x="6705600" y="1371600"/>
            <a:chExt cx="10972800" cy="10972800"/>
          </a:xfrm>
        </p:grpSpPr>
        <p:sp>
          <p:nvSpPr>
            <p:cNvPr name="Freeform 25" id="25"/>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sp>
        <p:nvSpPr>
          <p:cNvPr name="TextBox 26" id="26"/>
          <p:cNvSpPr txBox="true"/>
          <p:nvPr/>
        </p:nvSpPr>
        <p:spPr>
          <a:xfrm rot="0">
            <a:off x="9368445" y="6355762"/>
            <a:ext cx="5260448"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Library</a:t>
            </a:r>
          </a:p>
        </p:txBody>
      </p:sp>
      <p:sp>
        <p:nvSpPr>
          <p:cNvPr name="TextBox 27" id="27"/>
          <p:cNvSpPr txBox="true"/>
          <p:nvPr/>
        </p:nvSpPr>
        <p:spPr>
          <a:xfrm rot="0">
            <a:off x="2762916" y="5080777"/>
            <a:ext cx="5626420" cy="1018794"/>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A function in Python is a block of reusable code that is used to perform a specific action. You can define your own functions, and Python also provides many built-in functions. Functions help improve modularity and code reusability.</a:t>
            </a:r>
          </a:p>
        </p:txBody>
      </p:sp>
      <p:sp>
        <p:nvSpPr>
          <p:cNvPr name="TextBox 28" id="28"/>
          <p:cNvSpPr txBox="true"/>
          <p:nvPr/>
        </p:nvSpPr>
        <p:spPr>
          <a:xfrm rot="0">
            <a:off x="2762916" y="6845368"/>
            <a:ext cx="5626420" cy="1018794"/>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A class in Python is a blueprint for creating objects. It defines a set of attributes and methods that characterize any object created from the class. This concept is part of Object-Oriented Programming, promoting code reuse and encapsulation.</a:t>
            </a:r>
          </a:p>
        </p:txBody>
      </p:sp>
      <p:sp>
        <p:nvSpPr>
          <p:cNvPr name="TextBox 29" id="29"/>
          <p:cNvSpPr txBox="true"/>
          <p:nvPr/>
        </p:nvSpPr>
        <p:spPr>
          <a:xfrm rot="0">
            <a:off x="9368445" y="3103170"/>
            <a:ext cx="5626420" cy="1018794"/>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A module in Python is a file containing Python code, usually with definitions of functions, classes, or variables, that can be imported and used in other programs. This promotes code organization and reuse across different projects.</a:t>
            </a:r>
          </a:p>
        </p:txBody>
      </p:sp>
      <p:sp>
        <p:nvSpPr>
          <p:cNvPr name="TextBox 30" id="30"/>
          <p:cNvSpPr txBox="true"/>
          <p:nvPr/>
        </p:nvSpPr>
        <p:spPr>
          <a:xfrm rot="0">
            <a:off x="9264465" y="5105400"/>
            <a:ext cx="5626420" cy="761619"/>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A package in Python is a way of organizing related modules into a  hierarchy. It's a directory that contains multiple module files and a special `__init__.py` file to indicate that the directory is a package. </a:t>
            </a:r>
          </a:p>
        </p:txBody>
      </p:sp>
      <p:sp>
        <p:nvSpPr>
          <p:cNvPr name="TextBox 31" id="31"/>
          <p:cNvSpPr txBox="true"/>
          <p:nvPr/>
        </p:nvSpPr>
        <p:spPr>
          <a:xfrm rot="0">
            <a:off x="9185458" y="6845368"/>
            <a:ext cx="5626420" cy="1275969"/>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A library in Python is a collection of modules and packages that provides functionality, such as input-output processing, image manipulation, or scientific calculations. By importing a library, you can use pre-written code and functions, which saves time and allows you to perform complex tasks more easily.</a:t>
            </a:r>
          </a:p>
        </p:txBody>
      </p:sp>
      <p:sp>
        <p:nvSpPr>
          <p:cNvPr name="Freeform 32" id="32"/>
          <p:cNvSpPr/>
          <p:nvPr/>
        </p:nvSpPr>
        <p:spPr>
          <a:xfrm flipH="false" flipV="false" rot="0">
            <a:off x="-331769" y="-609444"/>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4">
              <a:alphaModFix amt="37000"/>
            </a:blip>
            <a:stretch>
              <a:fillRect l="0" t="0" r="0" b="0"/>
            </a:stretch>
          </a:blipFill>
        </p:spPr>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5015114">
            <a:off x="10643071" y="2381081"/>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47506" y="1333975"/>
            <a:ext cx="15433919" cy="7619050"/>
            <a:chOff x="0" y="0"/>
            <a:chExt cx="4064900" cy="2006663"/>
          </a:xfrm>
        </p:grpSpPr>
        <p:sp>
          <p:nvSpPr>
            <p:cNvPr name="Freeform 4" id="4"/>
            <p:cNvSpPr/>
            <p:nvPr/>
          </p:nvSpPr>
          <p:spPr>
            <a:xfrm flipH="false" flipV="false" rot="0">
              <a:off x="0" y="0"/>
              <a:ext cx="4064900" cy="2006663"/>
            </a:xfrm>
            <a:custGeom>
              <a:avLst/>
              <a:gdLst/>
              <a:ahLst/>
              <a:cxnLst/>
              <a:rect r="r" b="b" t="t" l="l"/>
              <a:pathLst>
                <a:path h="2006663" w="4064900">
                  <a:moveTo>
                    <a:pt x="0" y="0"/>
                  </a:moveTo>
                  <a:lnTo>
                    <a:pt x="4064900" y="0"/>
                  </a:lnTo>
                  <a:lnTo>
                    <a:pt x="4064900" y="2006663"/>
                  </a:lnTo>
                  <a:lnTo>
                    <a:pt x="0" y="200666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64900" cy="2035238"/>
            </a:xfrm>
            <a:prstGeom prst="rect">
              <a:avLst/>
            </a:prstGeom>
          </p:spPr>
          <p:txBody>
            <a:bodyPr anchor="ctr" rtlCol="false" tIns="50800" lIns="50800" bIns="50800" rIns="50800"/>
            <a:lstStyle/>
            <a:p>
              <a:pPr algn="ctr">
                <a:lnSpc>
                  <a:spcPts val="1869"/>
                </a:lnSpc>
              </a:pPr>
            </a:p>
          </p:txBody>
        </p:sp>
      </p:grpSp>
      <p:sp>
        <p:nvSpPr>
          <p:cNvPr name="AutoShape 6" id="6"/>
          <p:cNvSpPr/>
          <p:nvPr/>
        </p:nvSpPr>
        <p:spPr>
          <a:xfrm flipV="true">
            <a:off x="2363428" y="2652442"/>
            <a:ext cx="0" cy="5211720"/>
          </a:xfrm>
          <a:prstGeom prst="line">
            <a:avLst/>
          </a:prstGeom>
          <a:ln cap="flat" w="38100">
            <a:solidFill>
              <a:srgbClr val="192253"/>
            </a:solidFill>
            <a:prstDash val="solid"/>
            <a:headEnd type="none" len="sm" w="sm"/>
            <a:tailEnd type="none" len="sm" w="sm"/>
          </a:ln>
        </p:spPr>
      </p:sp>
      <p:grpSp>
        <p:nvGrpSpPr>
          <p:cNvPr name="Group 7" id="7"/>
          <p:cNvGrpSpPr>
            <a:grpSpLocks noChangeAspect="true"/>
          </p:cNvGrpSpPr>
          <p:nvPr/>
        </p:nvGrpSpPr>
        <p:grpSpPr>
          <a:xfrm rot="0">
            <a:off x="2178468" y="2467483"/>
            <a:ext cx="369918" cy="369918"/>
            <a:chOff x="6705600" y="1371600"/>
            <a:chExt cx="10972800" cy="10972800"/>
          </a:xfrm>
        </p:grpSpPr>
        <p:sp>
          <p:nvSpPr>
            <p:cNvPr name="Freeform 8" id="8"/>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9" id="9"/>
          <p:cNvGrpSpPr>
            <a:grpSpLocks noChangeAspect="true"/>
          </p:cNvGrpSpPr>
          <p:nvPr/>
        </p:nvGrpSpPr>
        <p:grpSpPr>
          <a:xfrm rot="0">
            <a:off x="2178468" y="4447221"/>
            <a:ext cx="369918" cy="369918"/>
            <a:chOff x="6705600" y="1371600"/>
            <a:chExt cx="10972800" cy="10972800"/>
          </a:xfrm>
        </p:grpSpPr>
        <p:sp>
          <p:nvSpPr>
            <p:cNvPr name="Freeform 10" id="10"/>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sp>
        <p:nvSpPr>
          <p:cNvPr name="TextBox 11" id="11"/>
          <p:cNvSpPr txBox="true"/>
          <p:nvPr/>
        </p:nvSpPr>
        <p:spPr>
          <a:xfrm rot="0">
            <a:off x="2762916" y="2441888"/>
            <a:ext cx="5260448"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List</a:t>
            </a:r>
          </a:p>
        </p:txBody>
      </p:sp>
      <p:sp>
        <p:nvSpPr>
          <p:cNvPr name="TextBox 12" id="12"/>
          <p:cNvSpPr txBox="true"/>
          <p:nvPr/>
        </p:nvSpPr>
        <p:spPr>
          <a:xfrm rot="0">
            <a:off x="2762916" y="4401675"/>
            <a:ext cx="5260448"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Tuple</a:t>
            </a:r>
          </a:p>
        </p:txBody>
      </p:sp>
      <p:sp>
        <p:nvSpPr>
          <p:cNvPr name="TextBox 13" id="13"/>
          <p:cNvSpPr txBox="true"/>
          <p:nvPr/>
        </p:nvSpPr>
        <p:spPr>
          <a:xfrm rot="0">
            <a:off x="2852777" y="3103170"/>
            <a:ext cx="5626420" cy="1018794"/>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A list in Python is an ordered collection of items, which can be of different types. It is mutable, meaning that its elements can be changed after the list is created. Lists are defined by enclosing a comma-separated sequence of items in square brackets `[]`.</a:t>
            </a:r>
          </a:p>
        </p:txBody>
      </p:sp>
      <p:grpSp>
        <p:nvGrpSpPr>
          <p:cNvPr name="Group 14" id="14"/>
          <p:cNvGrpSpPr>
            <a:grpSpLocks noChangeAspect="true"/>
          </p:cNvGrpSpPr>
          <p:nvPr/>
        </p:nvGrpSpPr>
        <p:grpSpPr>
          <a:xfrm rot="0">
            <a:off x="2178468" y="6360189"/>
            <a:ext cx="369918" cy="369918"/>
            <a:chOff x="6705600" y="1371600"/>
            <a:chExt cx="10972800" cy="10972800"/>
          </a:xfrm>
        </p:grpSpPr>
        <p:sp>
          <p:nvSpPr>
            <p:cNvPr name="Freeform 15" id="15"/>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sp>
        <p:nvSpPr>
          <p:cNvPr name="TextBox 16" id="16"/>
          <p:cNvSpPr txBox="true"/>
          <p:nvPr/>
        </p:nvSpPr>
        <p:spPr>
          <a:xfrm rot="0">
            <a:off x="2762916" y="6355762"/>
            <a:ext cx="5260448"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Dictionary</a:t>
            </a:r>
          </a:p>
        </p:txBody>
      </p:sp>
      <p:sp>
        <p:nvSpPr>
          <p:cNvPr name="AutoShape 17" id="17"/>
          <p:cNvSpPr/>
          <p:nvPr/>
        </p:nvSpPr>
        <p:spPr>
          <a:xfrm flipV="true">
            <a:off x="8968956" y="2652442"/>
            <a:ext cx="0" cy="5211720"/>
          </a:xfrm>
          <a:prstGeom prst="line">
            <a:avLst/>
          </a:prstGeom>
          <a:ln cap="flat" w="38100">
            <a:solidFill>
              <a:srgbClr val="192253"/>
            </a:solidFill>
            <a:prstDash val="solid"/>
            <a:headEnd type="none" len="sm" w="sm"/>
            <a:tailEnd type="none" len="sm" w="sm"/>
          </a:ln>
        </p:spPr>
      </p:sp>
      <p:grpSp>
        <p:nvGrpSpPr>
          <p:cNvPr name="Group 18" id="18"/>
          <p:cNvGrpSpPr>
            <a:grpSpLocks noChangeAspect="true"/>
          </p:cNvGrpSpPr>
          <p:nvPr/>
        </p:nvGrpSpPr>
        <p:grpSpPr>
          <a:xfrm rot="0">
            <a:off x="8783997" y="2467483"/>
            <a:ext cx="369918" cy="369918"/>
            <a:chOff x="6705600" y="1371600"/>
            <a:chExt cx="10972800" cy="10972800"/>
          </a:xfrm>
        </p:grpSpPr>
        <p:sp>
          <p:nvSpPr>
            <p:cNvPr name="Freeform 19" id="19"/>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20" id="20"/>
          <p:cNvGrpSpPr>
            <a:grpSpLocks noChangeAspect="true"/>
          </p:cNvGrpSpPr>
          <p:nvPr/>
        </p:nvGrpSpPr>
        <p:grpSpPr>
          <a:xfrm rot="0">
            <a:off x="8783997" y="4447221"/>
            <a:ext cx="369918" cy="369918"/>
            <a:chOff x="6705600" y="1371600"/>
            <a:chExt cx="10972800" cy="10972800"/>
          </a:xfrm>
        </p:grpSpPr>
        <p:sp>
          <p:nvSpPr>
            <p:cNvPr name="Freeform 21" id="21"/>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sp>
        <p:nvSpPr>
          <p:cNvPr name="TextBox 22" id="22"/>
          <p:cNvSpPr txBox="true"/>
          <p:nvPr/>
        </p:nvSpPr>
        <p:spPr>
          <a:xfrm rot="0">
            <a:off x="9372990" y="4401675"/>
            <a:ext cx="6205076"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Int</a:t>
            </a:r>
          </a:p>
        </p:txBody>
      </p:sp>
      <p:grpSp>
        <p:nvGrpSpPr>
          <p:cNvPr name="Group 23" id="23"/>
          <p:cNvGrpSpPr>
            <a:grpSpLocks noChangeAspect="true"/>
          </p:cNvGrpSpPr>
          <p:nvPr/>
        </p:nvGrpSpPr>
        <p:grpSpPr>
          <a:xfrm rot="0">
            <a:off x="8783997" y="6360189"/>
            <a:ext cx="369918" cy="369918"/>
            <a:chOff x="6705600" y="1371600"/>
            <a:chExt cx="10972800" cy="10972800"/>
          </a:xfrm>
        </p:grpSpPr>
        <p:sp>
          <p:nvSpPr>
            <p:cNvPr name="Freeform 24" id="24"/>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sp>
        <p:nvSpPr>
          <p:cNvPr name="TextBox 25" id="25"/>
          <p:cNvSpPr txBox="true"/>
          <p:nvPr/>
        </p:nvSpPr>
        <p:spPr>
          <a:xfrm rot="0">
            <a:off x="9264465" y="6379239"/>
            <a:ext cx="6205076"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Float</a:t>
            </a:r>
          </a:p>
        </p:txBody>
      </p:sp>
      <p:sp>
        <p:nvSpPr>
          <p:cNvPr name="TextBox 26" id="26"/>
          <p:cNvSpPr txBox="true"/>
          <p:nvPr/>
        </p:nvSpPr>
        <p:spPr>
          <a:xfrm rot="0">
            <a:off x="9372990" y="2486533"/>
            <a:ext cx="6205076"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Set</a:t>
            </a:r>
          </a:p>
        </p:txBody>
      </p:sp>
      <p:sp>
        <p:nvSpPr>
          <p:cNvPr name="TextBox 27" id="27"/>
          <p:cNvSpPr txBox="true"/>
          <p:nvPr/>
        </p:nvSpPr>
        <p:spPr>
          <a:xfrm rot="0">
            <a:off x="2852777" y="5062710"/>
            <a:ext cx="5626420" cy="1018794"/>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A tuple in Python is an ordered collection of items, similar to a list, but it is immutable, meaning that its elements cannot be changed after it's created. Tuples are defined by enclosing a comma-separated sequence of items in parentheses `()`.</a:t>
            </a:r>
          </a:p>
        </p:txBody>
      </p:sp>
      <p:sp>
        <p:nvSpPr>
          <p:cNvPr name="TextBox 28" id="28"/>
          <p:cNvSpPr txBox="true"/>
          <p:nvPr/>
        </p:nvSpPr>
        <p:spPr>
          <a:xfrm rot="0">
            <a:off x="2762916" y="7054897"/>
            <a:ext cx="5626420" cy="1275969"/>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A dictionary in Python is an ordered collection of items where each item is stored as a key-value pair. It's mutable and allows for fast lookup of values based on their keys. Dictionaries are defined by enclosing a comma-separated sequence of key-value pairs in curly braces `{}`.</a:t>
            </a:r>
          </a:p>
        </p:txBody>
      </p:sp>
      <p:sp>
        <p:nvSpPr>
          <p:cNvPr name="TextBox 29" id="29"/>
          <p:cNvSpPr txBox="true"/>
          <p:nvPr/>
        </p:nvSpPr>
        <p:spPr>
          <a:xfrm rot="0">
            <a:off x="9372990" y="3103170"/>
            <a:ext cx="5626420" cy="1018794"/>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A set in Python is an unordered collection of unique items. They are mutable, but they can only contain immutable (hashable) data types. Sets are useful for eliminating duplicate entries. Sets are defined by enclosing items in curly braces `{}`.</a:t>
            </a:r>
          </a:p>
        </p:txBody>
      </p:sp>
      <p:sp>
        <p:nvSpPr>
          <p:cNvPr name="TextBox 30" id="30"/>
          <p:cNvSpPr txBox="true"/>
          <p:nvPr/>
        </p:nvSpPr>
        <p:spPr>
          <a:xfrm rot="0">
            <a:off x="9372990" y="5105400"/>
            <a:ext cx="5626420" cy="761619"/>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An `int` in Python refers to an integer, which is a whole number (positive, negative, or zero) without a decimal point. It's one of the basic built-in types in Python used for numeric computations.</a:t>
            </a:r>
          </a:p>
        </p:txBody>
      </p:sp>
      <p:sp>
        <p:nvSpPr>
          <p:cNvPr name="TextBox 31" id="31"/>
          <p:cNvSpPr txBox="true"/>
          <p:nvPr/>
        </p:nvSpPr>
        <p:spPr>
          <a:xfrm rot="0">
            <a:off x="9264465" y="6992649"/>
            <a:ext cx="5626420" cy="1018794"/>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A `float` in Python refers to a floating-point number, which is a number that has a decimal point. This data type is used when more precision is needed than what integers can provide. Floats can represent real numbers, such as 0.1, 0.5, or even 3.14.</a:t>
            </a:r>
          </a:p>
        </p:txBody>
      </p:sp>
      <p:sp>
        <p:nvSpPr>
          <p:cNvPr name="Freeform 32" id="32"/>
          <p:cNvSpPr/>
          <p:nvPr/>
        </p:nvSpPr>
        <p:spPr>
          <a:xfrm flipH="false" flipV="false" rot="0">
            <a:off x="-331769" y="-609444"/>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4">
              <a:alphaModFix amt="37000"/>
            </a:blip>
            <a:stretch>
              <a:fillRect l="0" t="0" r="0" b="0"/>
            </a:stretch>
          </a:blipFill>
        </p:spPr>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5015114">
            <a:off x="9740863" y="2343404"/>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47506" y="1333975"/>
            <a:ext cx="15433919" cy="7619050"/>
            <a:chOff x="0" y="0"/>
            <a:chExt cx="4064900" cy="2006663"/>
          </a:xfrm>
        </p:grpSpPr>
        <p:sp>
          <p:nvSpPr>
            <p:cNvPr name="Freeform 4" id="4"/>
            <p:cNvSpPr/>
            <p:nvPr/>
          </p:nvSpPr>
          <p:spPr>
            <a:xfrm flipH="false" flipV="false" rot="0">
              <a:off x="0" y="0"/>
              <a:ext cx="4064900" cy="2006663"/>
            </a:xfrm>
            <a:custGeom>
              <a:avLst/>
              <a:gdLst/>
              <a:ahLst/>
              <a:cxnLst/>
              <a:rect r="r" b="b" t="t" l="l"/>
              <a:pathLst>
                <a:path h="2006663" w="4064900">
                  <a:moveTo>
                    <a:pt x="0" y="0"/>
                  </a:moveTo>
                  <a:lnTo>
                    <a:pt x="4064900" y="0"/>
                  </a:lnTo>
                  <a:lnTo>
                    <a:pt x="4064900" y="2006663"/>
                  </a:lnTo>
                  <a:lnTo>
                    <a:pt x="0" y="200666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64900" cy="2035238"/>
            </a:xfrm>
            <a:prstGeom prst="rect">
              <a:avLst/>
            </a:prstGeom>
          </p:spPr>
          <p:txBody>
            <a:bodyPr anchor="ctr" rtlCol="false" tIns="50800" lIns="50800" bIns="50800" rIns="50800"/>
            <a:lstStyle/>
            <a:p>
              <a:pPr algn="ctr">
                <a:lnSpc>
                  <a:spcPts val="1869"/>
                </a:lnSpc>
              </a:pPr>
            </a:p>
          </p:txBody>
        </p:sp>
      </p:grpSp>
      <p:sp>
        <p:nvSpPr>
          <p:cNvPr name="AutoShape 6" id="6"/>
          <p:cNvSpPr/>
          <p:nvPr/>
        </p:nvSpPr>
        <p:spPr>
          <a:xfrm flipV="true">
            <a:off x="2363428" y="2652442"/>
            <a:ext cx="0" cy="5211720"/>
          </a:xfrm>
          <a:prstGeom prst="line">
            <a:avLst/>
          </a:prstGeom>
          <a:ln cap="flat" w="38100">
            <a:solidFill>
              <a:srgbClr val="192253"/>
            </a:solidFill>
            <a:prstDash val="solid"/>
            <a:headEnd type="none" len="sm" w="sm"/>
            <a:tailEnd type="none" len="sm" w="sm"/>
          </a:ln>
        </p:spPr>
      </p:sp>
      <p:grpSp>
        <p:nvGrpSpPr>
          <p:cNvPr name="Group 7" id="7"/>
          <p:cNvGrpSpPr>
            <a:grpSpLocks noChangeAspect="true"/>
          </p:cNvGrpSpPr>
          <p:nvPr/>
        </p:nvGrpSpPr>
        <p:grpSpPr>
          <a:xfrm rot="0">
            <a:off x="2178468" y="2467483"/>
            <a:ext cx="369918" cy="369918"/>
            <a:chOff x="6705600" y="1371600"/>
            <a:chExt cx="10972800" cy="10972800"/>
          </a:xfrm>
        </p:grpSpPr>
        <p:sp>
          <p:nvSpPr>
            <p:cNvPr name="Freeform 8" id="8"/>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9" id="9"/>
          <p:cNvGrpSpPr>
            <a:grpSpLocks noChangeAspect="true"/>
          </p:cNvGrpSpPr>
          <p:nvPr/>
        </p:nvGrpSpPr>
        <p:grpSpPr>
          <a:xfrm rot="0">
            <a:off x="2178468" y="4447221"/>
            <a:ext cx="369918" cy="369918"/>
            <a:chOff x="6705600" y="1371600"/>
            <a:chExt cx="10972800" cy="10972800"/>
          </a:xfrm>
        </p:grpSpPr>
        <p:sp>
          <p:nvSpPr>
            <p:cNvPr name="Freeform 10" id="10"/>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sp>
        <p:nvSpPr>
          <p:cNvPr name="TextBox 11" id="11"/>
          <p:cNvSpPr txBox="true"/>
          <p:nvPr/>
        </p:nvSpPr>
        <p:spPr>
          <a:xfrm rot="0">
            <a:off x="2762916" y="2441888"/>
            <a:ext cx="5260448"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String</a:t>
            </a:r>
          </a:p>
        </p:txBody>
      </p:sp>
      <p:sp>
        <p:nvSpPr>
          <p:cNvPr name="TextBox 12" id="12"/>
          <p:cNvSpPr txBox="true"/>
          <p:nvPr/>
        </p:nvSpPr>
        <p:spPr>
          <a:xfrm rot="0">
            <a:off x="2762916" y="4401675"/>
            <a:ext cx="5260448"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Mutable</a:t>
            </a:r>
          </a:p>
        </p:txBody>
      </p:sp>
      <p:sp>
        <p:nvSpPr>
          <p:cNvPr name="TextBox 13" id="13"/>
          <p:cNvSpPr txBox="true"/>
          <p:nvPr/>
        </p:nvSpPr>
        <p:spPr>
          <a:xfrm rot="0">
            <a:off x="2852777" y="3103170"/>
            <a:ext cx="5626420" cy="1018794"/>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A `string` in Python is a sequence of characters enclosed in quotation marks. They are used to represent text-based data in Python. Strings are immutable, meaning once defined, their contents cannot be changed.</a:t>
            </a:r>
          </a:p>
        </p:txBody>
      </p:sp>
      <p:grpSp>
        <p:nvGrpSpPr>
          <p:cNvPr name="Group 14" id="14"/>
          <p:cNvGrpSpPr>
            <a:grpSpLocks noChangeAspect="true"/>
          </p:cNvGrpSpPr>
          <p:nvPr/>
        </p:nvGrpSpPr>
        <p:grpSpPr>
          <a:xfrm rot="0">
            <a:off x="2178468" y="6360189"/>
            <a:ext cx="369918" cy="369918"/>
            <a:chOff x="6705600" y="1371600"/>
            <a:chExt cx="10972800" cy="10972800"/>
          </a:xfrm>
        </p:grpSpPr>
        <p:sp>
          <p:nvSpPr>
            <p:cNvPr name="Freeform 15" id="15"/>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sp>
        <p:nvSpPr>
          <p:cNvPr name="TextBox 16" id="16"/>
          <p:cNvSpPr txBox="true"/>
          <p:nvPr/>
        </p:nvSpPr>
        <p:spPr>
          <a:xfrm rot="0">
            <a:off x="2762916" y="6355762"/>
            <a:ext cx="5260448"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Immutable</a:t>
            </a:r>
          </a:p>
        </p:txBody>
      </p:sp>
      <p:sp>
        <p:nvSpPr>
          <p:cNvPr name="AutoShape 17" id="17"/>
          <p:cNvSpPr/>
          <p:nvPr/>
        </p:nvSpPr>
        <p:spPr>
          <a:xfrm flipV="true">
            <a:off x="8968956" y="2652442"/>
            <a:ext cx="0" cy="5211720"/>
          </a:xfrm>
          <a:prstGeom prst="line">
            <a:avLst/>
          </a:prstGeom>
          <a:ln cap="flat" w="38100">
            <a:solidFill>
              <a:srgbClr val="192253"/>
            </a:solidFill>
            <a:prstDash val="solid"/>
            <a:headEnd type="none" len="sm" w="sm"/>
            <a:tailEnd type="none" len="sm" w="sm"/>
          </a:ln>
        </p:spPr>
      </p:sp>
      <p:grpSp>
        <p:nvGrpSpPr>
          <p:cNvPr name="Group 18" id="18"/>
          <p:cNvGrpSpPr>
            <a:grpSpLocks noChangeAspect="true"/>
          </p:cNvGrpSpPr>
          <p:nvPr/>
        </p:nvGrpSpPr>
        <p:grpSpPr>
          <a:xfrm rot="0">
            <a:off x="8783997" y="2467483"/>
            <a:ext cx="369918" cy="369918"/>
            <a:chOff x="6705600" y="1371600"/>
            <a:chExt cx="10972800" cy="10972800"/>
          </a:xfrm>
        </p:grpSpPr>
        <p:sp>
          <p:nvSpPr>
            <p:cNvPr name="Freeform 19" id="19"/>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20" id="20"/>
          <p:cNvGrpSpPr>
            <a:grpSpLocks noChangeAspect="true"/>
          </p:cNvGrpSpPr>
          <p:nvPr/>
        </p:nvGrpSpPr>
        <p:grpSpPr>
          <a:xfrm rot="0">
            <a:off x="8783997" y="4447221"/>
            <a:ext cx="369918" cy="369918"/>
            <a:chOff x="6705600" y="1371600"/>
            <a:chExt cx="10972800" cy="10972800"/>
          </a:xfrm>
        </p:grpSpPr>
        <p:sp>
          <p:nvSpPr>
            <p:cNvPr name="Freeform 21" id="21"/>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sp>
        <p:nvSpPr>
          <p:cNvPr name="TextBox 22" id="22"/>
          <p:cNvSpPr txBox="true"/>
          <p:nvPr/>
        </p:nvSpPr>
        <p:spPr>
          <a:xfrm rot="0">
            <a:off x="9368445" y="2441888"/>
            <a:ext cx="6205076"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Comments/docstrings</a:t>
            </a:r>
          </a:p>
        </p:txBody>
      </p:sp>
      <p:grpSp>
        <p:nvGrpSpPr>
          <p:cNvPr name="Group 23" id="23"/>
          <p:cNvGrpSpPr>
            <a:grpSpLocks noChangeAspect="true"/>
          </p:cNvGrpSpPr>
          <p:nvPr/>
        </p:nvGrpSpPr>
        <p:grpSpPr>
          <a:xfrm rot="0">
            <a:off x="8783997" y="6360189"/>
            <a:ext cx="369918" cy="369918"/>
            <a:chOff x="6705600" y="1371600"/>
            <a:chExt cx="10972800" cy="10972800"/>
          </a:xfrm>
        </p:grpSpPr>
        <p:sp>
          <p:nvSpPr>
            <p:cNvPr name="Freeform 24" id="24"/>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sp>
        <p:nvSpPr>
          <p:cNvPr name="TextBox 25" id="25"/>
          <p:cNvSpPr txBox="true"/>
          <p:nvPr/>
        </p:nvSpPr>
        <p:spPr>
          <a:xfrm rot="0">
            <a:off x="9446555" y="4401675"/>
            <a:ext cx="5260448"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Object</a:t>
            </a:r>
          </a:p>
        </p:txBody>
      </p:sp>
      <p:sp>
        <p:nvSpPr>
          <p:cNvPr name="TextBox 26" id="26"/>
          <p:cNvSpPr txBox="true"/>
          <p:nvPr/>
        </p:nvSpPr>
        <p:spPr>
          <a:xfrm rot="0">
            <a:off x="9372990" y="6314643"/>
            <a:ext cx="5260448"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Method</a:t>
            </a:r>
          </a:p>
        </p:txBody>
      </p:sp>
      <p:sp>
        <p:nvSpPr>
          <p:cNvPr name="TextBox 27" id="27"/>
          <p:cNvSpPr txBox="true"/>
          <p:nvPr/>
        </p:nvSpPr>
        <p:spPr>
          <a:xfrm rot="0">
            <a:off x="2852777" y="5062710"/>
            <a:ext cx="5626420" cy="1018794"/>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In Python, a mutable object is one that can be changed after it's created. This means you can modify, add, or remove items without creating a new object. Examples of mutable objects in Python are lists, dictionaries, and sets.</a:t>
            </a:r>
          </a:p>
        </p:txBody>
      </p:sp>
      <p:sp>
        <p:nvSpPr>
          <p:cNvPr name="TextBox 28" id="28"/>
          <p:cNvSpPr txBox="true"/>
          <p:nvPr/>
        </p:nvSpPr>
        <p:spPr>
          <a:xfrm rot="0">
            <a:off x="2762916" y="7016797"/>
            <a:ext cx="5626420" cy="1018794"/>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In Python, an immutable object is one that can't be changed after it's created. This means that modifying its state or contents would result in a new object. Examples of immutable objects in Python are strings, tuples, and numbers (int, float).</a:t>
            </a:r>
          </a:p>
        </p:txBody>
      </p:sp>
      <p:sp>
        <p:nvSpPr>
          <p:cNvPr name="TextBox 29" id="29"/>
          <p:cNvSpPr txBox="true"/>
          <p:nvPr/>
        </p:nvSpPr>
        <p:spPr>
          <a:xfrm rot="0">
            <a:off x="9368445" y="3123840"/>
            <a:ext cx="5626420" cy="1018794"/>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Comments in Python are lines of text in your code that are not executed by the Python interpreter. They're used to explain what the code does or provide additional context. Comments in Python start with the `#` symbol.</a:t>
            </a:r>
          </a:p>
        </p:txBody>
      </p:sp>
      <p:sp>
        <p:nvSpPr>
          <p:cNvPr name="TextBox 30" id="30"/>
          <p:cNvSpPr txBox="true"/>
          <p:nvPr/>
        </p:nvSpPr>
        <p:spPr>
          <a:xfrm rot="0">
            <a:off x="9454731" y="5060217"/>
            <a:ext cx="5626420" cy="1018794"/>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In Python, an object is an instance of a class that encapsulates both data (attributes) and functions (methods) related to that data. Every value in Python is an object, and they can be manipulated and passed around in your program.</a:t>
            </a:r>
          </a:p>
        </p:txBody>
      </p:sp>
      <p:sp>
        <p:nvSpPr>
          <p:cNvPr name="TextBox 31" id="31"/>
          <p:cNvSpPr txBox="true"/>
          <p:nvPr/>
        </p:nvSpPr>
        <p:spPr>
          <a:xfrm rot="0">
            <a:off x="9369006" y="6975678"/>
            <a:ext cx="5626420" cy="1275969"/>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A method in Python is a function that is defined within a class and is associated with objects of that class. Methods provide a way to interact with the object and often manipulate the object's internal state. They can be called using the notation `object.method()`.</a:t>
            </a:r>
          </a:p>
        </p:txBody>
      </p:sp>
      <p:sp>
        <p:nvSpPr>
          <p:cNvPr name="Freeform 32" id="32"/>
          <p:cNvSpPr/>
          <p:nvPr/>
        </p:nvSpPr>
        <p:spPr>
          <a:xfrm flipH="false" flipV="false" rot="0">
            <a:off x="-331769" y="-609444"/>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4">
              <a:alphaModFix amt="37000"/>
            </a:blip>
            <a:stretch>
              <a:fillRect l="0" t="0" r="0" b="0"/>
            </a:stretch>
          </a:blipFill>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5015114">
            <a:off x="9740863" y="2343404"/>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47506" y="1333975"/>
            <a:ext cx="15433919" cy="7619050"/>
            <a:chOff x="0" y="0"/>
            <a:chExt cx="4064900" cy="2006663"/>
          </a:xfrm>
        </p:grpSpPr>
        <p:sp>
          <p:nvSpPr>
            <p:cNvPr name="Freeform 4" id="4"/>
            <p:cNvSpPr/>
            <p:nvPr/>
          </p:nvSpPr>
          <p:spPr>
            <a:xfrm flipH="false" flipV="false" rot="0">
              <a:off x="0" y="0"/>
              <a:ext cx="4064900" cy="2006663"/>
            </a:xfrm>
            <a:custGeom>
              <a:avLst/>
              <a:gdLst/>
              <a:ahLst/>
              <a:cxnLst/>
              <a:rect r="r" b="b" t="t" l="l"/>
              <a:pathLst>
                <a:path h="2006663" w="4064900">
                  <a:moveTo>
                    <a:pt x="0" y="0"/>
                  </a:moveTo>
                  <a:lnTo>
                    <a:pt x="4064900" y="0"/>
                  </a:lnTo>
                  <a:lnTo>
                    <a:pt x="4064900" y="2006663"/>
                  </a:lnTo>
                  <a:lnTo>
                    <a:pt x="0" y="200666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64900" cy="2035238"/>
            </a:xfrm>
            <a:prstGeom prst="rect">
              <a:avLst/>
            </a:prstGeom>
          </p:spPr>
          <p:txBody>
            <a:bodyPr anchor="ctr" rtlCol="false" tIns="50800" lIns="50800" bIns="50800" rIns="50800"/>
            <a:lstStyle/>
            <a:p>
              <a:pPr algn="ctr">
                <a:lnSpc>
                  <a:spcPts val="1869"/>
                </a:lnSpc>
              </a:pPr>
            </a:p>
          </p:txBody>
        </p:sp>
      </p:grpSp>
      <p:sp>
        <p:nvSpPr>
          <p:cNvPr name="AutoShape 6" id="6"/>
          <p:cNvSpPr/>
          <p:nvPr/>
        </p:nvSpPr>
        <p:spPr>
          <a:xfrm flipV="true">
            <a:off x="2363428" y="2652442"/>
            <a:ext cx="0" cy="5211720"/>
          </a:xfrm>
          <a:prstGeom prst="line">
            <a:avLst/>
          </a:prstGeom>
          <a:ln cap="flat" w="38100">
            <a:solidFill>
              <a:srgbClr val="192253"/>
            </a:solidFill>
            <a:prstDash val="solid"/>
            <a:headEnd type="none" len="sm" w="sm"/>
            <a:tailEnd type="none" len="sm" w="sm"/>
          </a:ln>
        </p:spPr>
      </p:sp>
      <p:grpSp>
        <p:nvGrpSpPr>
          <p:cNvPr name="Group 7" id="7"/>
          <p:cNvGrpSpPr>
            <a:grpSpLocks noChangeAspect="true"/>
          </p:cNvGrpSpPr>
          <p:nvPr/>
        </p:nvGrpSpPr>
        <p:grpSpPr>
          <a:xfrm rot="0">
            <a:off x="2178468" y="2467483"/>
            <a:ext cx="369918" cy="369918"/>
            <a:chOff x="6705600" y="1371600"/>
            <a:chExt cx="10972800" cy="10972800"/>
          </a:xfrm>
        </p:grpSpPr>
        <p:sp>
          <p:nvSpPr>
            <p:cNvPr name="Freeform 8" id="8"/>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9" id="9"/>
          <p:cNvGrpSpPr>
            <a:grpSpLocks noChangeAspect="true"/>
          </p:cNvGrpSpPr>
          <p:nvPr/>
        </p:nvGrpSpPr>
        <p:grpSpPr>
          <a:xfrm rot="0">
            <a:off x="2178468" y="4447221"/>
            <a:ext cx="369918" cy="369918"/>
            <a:chOff x="6705600" y="1371600"/>
            <a:chExt cx="10972800" cy="10972800"/>
          </a:xfrm>
        </p:grpSpPr>
        <p:sp>
          <p:nvSpPr>
            <p:cNvPr name="Freeform 10" id="10"/>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sp>
        <p:nvSpPr>
          <p:cNvPr name="TextBox 11" id="11"/>
          <p:cNvSpPr txBox="true"/>
          <p:nvPr/>
        </p:nvSpPr>
        <p:spPr>
          <a:xfrm rot="0">
            <a:off x="2762916" y="2441888"/>
            <a:ext cx="5260448"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Variable</a:t>
            </a:r>
          </a:p>
        </p:txBody>
      </p:sp>
      <p:sp>
        <p:nvSpPr>
          <p:cNvPr name="TextBox 12" id="12"/>
          <p:cNvSpPr txBox="true"/>
          <p:nvPr/>
        </p:nvSpPr>
        <p:spPr>
          <a:xfrm rot="0">
            <a:off x="2762916" y="4401675"/>
            <a:ext cx="5260448"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Exception</a:t>
            </a:r>
          </a:p>
        </p:txBody>
      </p:sp>
      <p:sp>
        <p:nvSpPr>
          <p:cNvPr name="TextBox 13" id="13"/>
          <p:cNvSpPr txBox="true"/>
          <p:nvPr/>
        </p:nvSpPr>
        <p:spPr>
          <a:xfrm rot="0">
            <a:off x="2852777" y="3103170"/>
            <a:ext cx="5626420" cy="1275969"/>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A variable in Python is a symbolic name that is used to store data in memory. This stored data can be of any type, like numbers, strings, lists, etc. A variable allows us to retrieve the stored data by referring to the variable name. Variable assignment is done using the `=` operator.</a:t>
            </a:r>
          </a:p>
        </p:txBody>
      </p:sp>
      <p:grpSp>
        <p:nvGrpSpPr>
          <p:cNvPr name="Group 14" id="14"/>
          <p:cNvGrpSpPr>
            <a:grpSpLocks noChangeAspect="true"/>
          </p:cNvGrpSpPr>
          <p:nvPr/>
        </p:nvGrpSpPr>
        <p:grpSpPr>
          <a:xfrm rot="0">
            <a:off x="2178468" y="6360189"/>
            <a:ext cx="369918" cy="369918"/>
            <a:chOff x="6705600" y="1371600"/>
            <a:chExt cx="10972800" cy="10972800"/>
          </a:xfrm>
        </p:grpSpPr>
        <p:sp>
          <p:nvSpPr>
            <p:cNvPr name="Freeform 15" id="15"/>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sp>
        <p:nvSpPr>
          <p:cNvPr name="TextBox 16" id="16"/>
          <p:cNvSpPr txBox="true"/>
          <p:nvPr/>
        </p:nvSpPr>
        <p:spPr>
          <a:xfrm rot="0">
            <a:off x="2762916" y="6355762"/>
            <a:ext cx="5260448"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Iterable</a:t>
            </a:r>
          </a:p>
        </p:txBody>
      </p:sp>
      <p:sp>
        <p:nvSpPr>
          <p:cNvPr name="TextBox 17" id="17"/>
          <p:cNvSpPr txBox="true"/>
          <p:nvPr/>
        </p:nvSpPr>
        <p:spPr>
          <a:xfrm rot="0">
            <a:off x="2762916" y="5060743"/>
            <a:ext cx="5626420" cy="1275969"/>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An exception in Python is an event that occurs during the execution of a program that disrupts the normal flow of the program's instructions. Exceptions are typically errors that are detected during runtime. Python uses exception objects to represent and handle error conditions.</a:t>
            </a:r>
          </a:p>
        </p:txBody>
      </p:sp>
      <p:sp>
        <p:nvSpPr>
          <p:cNvPr name="TextBox 18" id="18"/>
          <p:cNvSpPr txBox="true"/>
          <p:nvPr/>
        </p:nvSpPr>
        <p:spPr>
          <a:xfrm rot="0">
            <a:off x="2762916" y="7017220"/>
            <a:ext cx="5626420" cy="1275969"/>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An iterable in Python is any object capable of returning its elements one at a time, permitting it to be iterated over in a `for`-loop. Common examples of iterable objects include lists, strings, dictionaries, and sets. Also, files in Python are iterable, as they return lines of text one at a time.</a:t>
            </a:r>
          </a:p>
        </p:txBody>
      </p:sp>
      <p:sp>
        <p:nvSpPr>
          <p:cNvPr name="Freeform 19" id="19"/>
          <p:cNvSpPr/>
          <p:nvPr/>
        </p:nvSpPr>
        <p:spPr>
          <a:xfrm flipH="false" flipV="false" rot="0">
            <a:off x="-331769" y="-609444"/>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4">
              <a:alphaModFix amt="37000"/>
            </a:blip>
            <a:stretch>
              <a:fillRect l="0" t="0" r="0" b="0"/>
            </a:stretch>
          </a:blipFill>
        </p:spPr>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2923865">
            <a:off x="-2984685" y="1184351"/>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5400000">
            <a:off x="8046708" y="385825"/>
            <a:ext cx="11245538" cy="9778557"/>
            <a:chOff x="0" y="0"/>
            <a:chExt cx="2961788" cy="2575423"/>
          </a:xfrm>
        </p:grpSpPr>
        <p:sp>
          <p:nvSpPr>
            <p:cNvPr name="Freeform 4" id="4"/>
            <p:cNvSpPr/>
            <p:nvPr/>
          </p:nvSpPr>
          <p:spPr>
            <a:xfrm flipH="false" flipV="false" rot="0">
              <a:off x="0" y="0"/>
              <a:ext cx="2961788" cy="2575422"/>
            </a:xfrm>
            <a:custGeom>
              <a:avLst/>
              <a:gdLst/>
              <a:ahLst/>
              <a:cxnLst/>
              <a:rect r="r" b="b" t="t" l="l"/>
              <a:pathLst>
                <a:path h="2575422" w="2961788">
                  <a:moveTo>
                    <a:pt x="0" y="0"/>
                  </a:moveTo>
                  <a:lnTo>
                    <a:pt x="2961788" y="0"/>
                  </a:lnTo>
                  <a:lnTo>
                    <a:pt x="2961788" y="2575422"/>
                  </a:lnTo>
                  <a:lnTo>
                    <a:pt x="0" y="2575422"/>
                  </a:lnTo>
                  <a:close/>
                </a:path>
              </a:pathLst>
            </a:custGeom>
            <a:solidFill>
              <a:srgbClr val="192253"/>
            </a:solidFill>
          </p:spPr>
        </p:sp>
        <p:sp>
          <p:nvSpPr>
            <p:cNvPr name="TextBox 5" id="5"/>
            <p:cNvSpPr txBox="true"/>
            <p:nvPr/>
          </p:nvSpPr>
          <p:spPr>
            <a:xfrm>
              <a:off x="0" y="-28575"/>
              <a:ext cx="2961788" cy="2603998"/>
            </a:xfrm>
            <a:prstGeom prst="rect">
              <a:avLst/>
            </a:prstGeom>
          </p:spPr>
          <p:txBody>
            <a:bodyPr anchor="ctr" rtlCol="false" tIns="50800" lIns="50800" bIns="50800" rIns="50800"/>
            <a:lstStyle/>
            <a:p>
              <a:pPr algn="ctr">
                <a:lnSpc>
                  <a:spcPts val="1869"/>
                </a:lnSpc>
              </a:pPr>
            </a:p>
          </p:txBody>
        </p:sp>
      </p:grpSp>
      <p:sp>
        <p:nvSpPr>
          <p:cNvPr name="AutoShape 6" id="6"/>
          <p:cNvSpPr/>
          <p:nvPr/>
        </p:nvSpPr>
        <p:spPr>
          <a:xfrm flipH="true" flipV="true">
            <a:off x="-488525" y="8289279"/>
            <a:ext cx="15156557" cy="0"/>
          </a:xfrm>
          <a:prstGeom prst="line">
            <a:avLst/>
          </a:prstGeom>
          <a:ln cap="flat" w="76200">
            <a:solidFill>
              <a:srgbClr val="C23A97"/>
            </a:solidFill>
            <a:prstDash val="solid"/>
            <a:headEnd type="none" len="sm" w="sm"/>
            <a:tailEnd type="none" len="sm" w="sm"/>
          </a:ln>
        </p:spPr>
      </p:sp>
      <p:sp>
        <p:nvSpPr>
          <p:cNvPr name="AutoShape 7" id="7"/>
          <p:cNvSpPr/>
          <p:nvPr/>
        </p:nvSpPr>
        <p:spPr>
          <a:xfrm flipH="true">
            <a:off x="10559239" y="2561194"/>
            <a:ext cx="8347436" cy="0"/>
          </a:xfrm>
          <a:prstGeom prst="line">
            <a:avLst/>
          </a:prstGeom>
          <a:ln cap="flat" w="76200">
            <a:solidFill>
              <a:srgbClr val="F5F5F5"/>
            </a:solidFill>
            <a:prstDash val="solid"/>
            <a:headEnd type="none" len="sm" w="sm"/>
            <a:tailEnd type="none" len="sm" w="sm"/>
          </a:ln>
        </p:spPr>
      </p:sp>
      <p:sp>
        <p:nvSpPr>
          <p:cNvPr name="TextBox 8" id="8"/>
          <p:cNvSpPr txBox="true"/>
          <p:nvPr/>
        </p:nvSpPr>
        <p:spPr>
          <a:xfrm rot="0">
            <a:off x="12896721" y="4887513"/>
            <a:ext cx="4946474" cy="784225"/>
          </a:xfrm>
          <a:prstGeom prst="rect">
            <a:avLst/>
          </a:prstGeom>
        </p:spPr>
        <p:txBody>
          <a:bodyPr anchor="t" rtlCol="false" tIns="0" lIns="0" bIns="0" rIns="0">
            <a:spAutoFit/>
          </a:bodyPr>
          <a:lstStyle/>
          <a:p>
            <a:pPr algn="l">
              <a:lnSpc>
                <a:spcPts val="6049"/>
              </a:lnSpc>
            </a:pPr>
            <a:r>
              <a:rPr lang="en-US" b="true" sz="5499" spc="175">
                <a:solidFill>
                  <a:srgbClr val="FFFFFF"/>
                </a:solidFill>
                <a:latin typeface="Open Sauce Medium"/>
                <a:ea typeface="Open Sauce Medium"/>
                <a:cs typeface="Open Sauce Medium"/>
                <a:sym typeface="Open Sauce Medium"/>
              </a:rPr>
              <a:t>THE BASICS</a:t>
            </a:r>
          </a:p>
        </p:txBody>
      </p:sp>
      <p:sp>
        <p:nvSpPr>
          <p:cNvPr name="Freeform 9" id="9"/>
          <p:cNvSpPr/>
          <p:nvPr/>
        </p:nvSpPr>
        <p:spPr>
          <a:xfrm flipH="false" flipV="false" rot="0">
            <a:off x="14355953" y="-347665"/>
            <a:ext cx="4202802" cy="2362325"/>
          </a:xfrm>
          <a:custGeom>
            <a:avLst/>
            <a:gdLst/>
            <a:ahLst/>
            <a:cxnLst/>
            <a:rect r="r" b="b" t="t" l="l"/>
            <a:pathLst>
              <a:path h="2362325" w="4202802">
                <a:moveTo>
                  <a:pt x="0" y="0"/>
                </a:moveTo>
                <a:lnTo>
                  <a:pt x="4202803" y="0"/>
                </a:lnTo>
                <a:lnTo>
                  <a:pt x="4202803" y="2362325"/>
                </a:lnTo>
                <a:lnTo>
                  <a:pt x="0" y="2362325"/>
                </a:lnTo>
                <a:lnTo>
                  <a:pt x="0" y="0"/>
                </a:lnTo>
                <a:close/>
              </a:path>
            </a:pathLst>
          </a:custGeom>
          <a:blipFill>
            <a:blip r:embed="rId4">
              <a:alphaModFix amt="37000"/>
            </a:blip>
            <a:stretch>
              <a:fillRect l="0" t="0" r="0" b="0"/>
            </a:stretch>
          </a:blipFill>
        </p:spPr>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5015114">
            <a:off x="9740863" y="2343404"/>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427040" y="1543144"/>
            <a:ext cx="15433919" cy="7619050"/>
            <a:chOff x="0" y="0"/>
            <a:chExt cx="4064900" cy="2006663"/>
          </a:xfrm>
        </p:grpSpPr>
        <p:sp>
          <p:nvSpPr>
            <p:cNvPr name="Freeform 4" id="4"/>
            <p:cNvSpPr/>
            <p:nvPr/>
          </p:nvSpPr>
          <p:spPr>
            <a:xfrm flipH="false" flipV="false" rot="0">
              <a:off x="0" y="0"/>
              <a:ext cx="4064900" cy="2006663"/>
            </a:xfrm>
            <a:custGeom>
              <a:avLst/>
              <a:gdLst/>
              <a:ahLst/>
              <a:cxnLst/>
              <a:rect r="r" b="b" t="t" l="l"/>
              <a:pathLst>
                <a:path h="2006663" w="4064900">
                  <a:moveTo>
                    <a:pt x="0" y="0"/>
                  </a:moveTo>
                  <a:lnTo>
                    <a:pt x="4064900" y="0"/>
                  </a:lnTo>
                  <a:lnTo>
                    <a:pt x="4064900" y="2006663"/>
                  </a:lnTo>
                  <a:lnTo>
                    <a:pt x="0" y="200666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64900" cy="2035238"/>
            </a:xfrm>
            <a:prstGeom prst="rect">
              <a:avLst/>
            </a:prstGeom>
          </p:spPr>
          <p:txBody>
            <a:bodyPr anchor="ctr" rtlCol="false" tIns="50800" lIns="50800" bIns="50800" rIns="50800"/>
            <a:lstStyle/>
            <a:p>
              <a:pPr algn="ctr">
                <a:lnSpc>
                  <a:spcPts val="1869"/>
                </a:lnSpc>
              </a:pPr>
            </a:p>
          </p:txBody>
        </p:sp>
      </p:grpSp>
      <p:sp>
        <p:nvSpPr>
          <p:cNvPr name="AutoShape 6" id="6"/>
          <p:cNvSpPr/>
          <p:nvPr/>
        </p:nvSpPr>
        <p:spPr>
          <a:xfrm flipV="true">
            <a:off x="8654651" y="2652442"/>
            <a:ext cx="0" cy="5211720"/>
          </a:xfrm>
          <a:prstGeom prst="line">
            <a:avLst/>
          </a:prstGeom>
          <a:ln cap="flat" w="38100">
            <a:solidFill>
              <a:srgbClr val="192253"/>
            </a:solidFill>
            <a:prstDash val="solid"/>
            <a:headEnd type="none" len="sm" w="sm"/>
            <a:tailEnd type="none" len="sm" w="sm"/>
          </a:ln>
        </p:spPr>
      </p:sp>
      <p:grpSp>
        <p:nvGrpSpPr>
          <p:cNvPr name="Group 7" id="7"/>
          <p:cNvGrpSpPr>
            <a:grpSpLocks noChangeAspect="true"/>
          </p:cNvGrpSpPr>
          <p:nvPr/>
        </p:nvGrpSpPr>
        <p:grpSpPr>
          <a:xfrm rot="0">
            <a:off x="8469692" y="2467483"/>
            <a:ext cx="369918" cy="369918"/>
            <a:chOff x="6705600" y="1371600"/>
            <a:chExt cx="10972800" cy="10972800"/>
          </a:xfrm>
        </p:grpSpPr>
        <p:sp>
          <p:nvSpPr>
            <p:cNvPr name="Freeform 8" id="8"/>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9" id="9"/>
          <p:cNvGrpSpPr>
            <a:grpSpLocks noChangeAspect="true"/>
          </p:cNvGrpSpPr>
          <p:nvPr/>
        </p:nvGrpSpPr>
        <p:grpSpPr>
          <a:xfrm rot="0">
            <a:off x="8469692" y="4447221"/>
            <a:ext cx="369918" cy="369918"/>
            <a:chOff x="6705600" y="1371600"/>
            <a:chExt cx="10972800" cy="10972800"/>
          </a:xfrm>
        </p:grpSpPr>
        <p:sp>
          <p:nvSpPr>
            <p:cNvPr name="Freeform 10" id="10"/>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11" id="11"/>
          <p:cNvGrpSpPr>
            <a:grpSpLocks noChangeAspect="true"/>
          </p:cNvGrpSpPr>
          <p:nvPr/>
        </p:nvGrpSpPr>
        <p:grpSpPr>
          <a:xfrm rot="0">
            <a:off x="8469692" y="6107456"/>
            <a:ext cx="369918" cy="369918"/>
            <a:chOff x="6705600" y="1371600"/>
            <a:chExt cx="10972800" cy="10972800"/>
          </a:xfrm>
        </p:grpSpPr>
        <p:sp>
          <p:nvSpPr>
            <p:cNvPr name="Freeform 12" id="12"/>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sp>
        <p:nvSpPr>
          <p:cNvPr name="Freeform 13" id="13"/>
          <p:cNvSpPr/>
          <p:nvPr/>
        </p:nvSpPr>
        <p:spPr>
          <a:xfrm flipH="false" flipV="false" rot="0">
            <a:off x="2976804" y="5083704"/>
            <a:ext cx="3442211" cy="1971617"/>
          </a:xfrm>
          <a:custGeom>
            <a:avLst/>
            <a:gdLst/>
            <a:ahLst/>
            <a:cxnLst/>
            <a:rect r="r" b="b" t="t" l="l"/>
            <a:pathLst>
              <a:path h="1971617" w="3442211">
                <a:moveTo>
                  <a:pt x="0" y="0"/>
                </a:moveTo>
                <a:lnTo>
                  <a:pt x="3442211" y="0"/>
                </a:lnTo>
                <a:lnTo>
                  <a:pt x="3442211" y="1971616"/>
                </a:lnTo>
                <a:lnTo>
                  <a:pt x="0" y="1971616"/>
                </a:lnTo>
                <a:lnTo>
                  <a:pt x="0" y="0"/>
                </a:lnTo>
                <a:close/>
              </a:path>
            </a:pathLst>
          </a:custGeom>
          <a:blipFill>
            <a:blip r:embed="rId4"/>
            <a:stretch>
              <a:fillRect l="0" t="0" r="0" b="-54716"/>
            </a:stretch>
          </a:blipFill>
        </p:spPr>
      </p:sp>
      <p:sp>
        <p:nvSpPr>
          <p:cNvPr name="Freeform 14" id="14"/>
          <p:cNvSpPr/>
          <p:nvPr/>
        </p:nvSpPr>
        <p:spPr>
          <a:xfrm flipH="false" flipV="false" rot="0">
            <a:off x="1770005" y="2125297"/>
            <a:ext cx="6394886" cy="1593302"/>
          </a:xfrm>
          <a:custGeom>
            <a:avLst/>
            <a:gdLst/>
            <a:ahLst/>
            <a:cxnLst/>
            <a:rect r="r" b="b" t="t" l="l"/>
            <a:pathLst>
              <a:path h="1593302" w="6394886">
                <a:moveTo>
                  <a:pt x="0" y="0"/>
                </a:moveTo>
                <a:lnTo>
                  <a:pt x="6394887" y="0"/>
                </a:lnTo>
                <a:lnTo>
                  <a:pt x="6394887" y="1593302"/>
                </a:lnTo>
                <a:lnTo>
                  <a:pt x="0" y="1593302"/>
                </a:lnTo>
                <a:lnTo>
                  <a:pt x="0" y="0"/>
                </a:lnTo>
                <a:close/>
              </a:path>
            </a:pathLst>
          </a:custGeom>
          <a:blipFill>
            <a:blip r:embed="rId5"/>
            <a:stretch>
              <a:fillRect l="0" t="0" r="0" b="0"/>
            </a:stretch>
          </a:blipFill>
        </p:spPr>
      </p:sp>
      <p:sp>
        <p:nvSpPr>
          <p:cNvPr name="TextBox 15" id="15"/>
          <p:cNvSpPr txBox="true"/>
          <p:nvPr/>
        </p:nvSpPr>
        <p:spPr>
          <a:xfrm rot="0">
            <a:off x="9054139" y="2441888"/>
            <a:ext cx="5260448"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Operators</a:t>
            </a:r>
          </a:p>
        </p:txBody>
      </p:sp>
      <p:sp>
        <p:nvSpPr>
          <p:cNvPr name="TextBox 16" id="16"/>
          <p:cNvSpPr txBox="true"/>
          <p:nvPr/>
        </p:nvSpPr>
        <p:spPr>
          <a:xfrm rot="0">
            <a:off x="9054139" y="4401675"/>
            <a:ext cx="5260448"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Bold"/>
                <a:ea typeface="Open Sauce Bold"/>
                <a:cs typeface="Open Sauce Bold"/>
                <a:sym typeface="Open Sauce Bold"/>
              </a:rPr>
              <a:t>Variables</a:t>
            </a:r>
          </a:p>
        </p:txBody>
      </p:sp>
      <p:sp>
        <p:nvSpPr>
          <p:cNvPr name="TextBox 17" id="17"/>
          <p:cNvSpPr txBox="true"/>
          <p:nvPr/>
        </p:nvSpPr>
        <p:spPr>
          <a:xfrm rot="0">
            <a:off x="9144000" y="3140440"/>
            <a:ext cx="7022611" cy="504444"/>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In Python, operators can include arithmetic operators (+ for addition), comparison operators (like == for equality), logical operators (and, or)</a:t>
            </a:r>
          </a:p>
        </p:txBody>
      </p:sp>
      <p:sp>
        <p:nvSpPr>
          <p:cNvPr name="TextBox 18" id="18"/>
          <p:cNvSpPr txBox="true"/>
          <p:nvPr/>
        </p:nvSpPr>
        <p:spPr>
          <a:xfrm rot="0">
            <a:off x="9144000" y="5105400"/>
            <a:ext cx="6986316" cy="247269"/>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Variables are used to store references to objects in memory.</a:t>
            </a:r>
          </a:p>
        </p:txBody>
      </p:sp>
      <p:sp>
        <p:nvSpPr>
          <p:cNvPr name="TextBox 19" id="19"/>
          <p:cNvSpPr txBox="true"/>
          <p:nvPr/>
        </p:nvSpPr>
        <p:spPr>
          <a:xfrm rot="0">
            <a:off x="9054139" y="5973490"/>
            <a:ext cx="5260448"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 is assignment !!!</a:t>
            </a:r>
          </a:p>
        </p:txBody>
      </p:sp>
      <p:sp>
        <p:nvSpPr>
          <p:cNvPr name="TextBox 20" id="20"/>
          <p:cNvSpPr txBox="true"/>
          <p:nvPr/>
        </p:nvSpPr>
        <p:spPr>
          <a:xfrm rot="0">
            <a:off x="9107705" y="6587423"/>
            <a:ext cx="7022611" cy="247269"/>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Equals assigns some data to </a:t>
            </a:r>
          </a:p>
        </p:txBody>
      </p:sp>
      <p:grpSp>
        <p:nvGrpSpPr>
          <p:cNvPr name="Group 21" id="21"/>
          <p:cNvGrpSpPr>
            <a:grpSpLocks noChangeAspect="true"/>
          </p:cNvGrpSpPr>
          <p:nvPr/>
        </p:nvGrpSpPr>
        <p:grpSpPr>
          <a:xfrm rot="0">
            <a:off x="8469692" y="7679203"/>
            <a:ext cx="369918" cy="369918"/>
            <a:chOff x="6705600" y="1371600"/>
            <a:chExt cx="10972800" cy="10972800"/>
          </a:xfrm>
        </p:grpSpPr>
        <p:sp>
          <p:nvSpPr>
            <p:cNvPr name="Freeform 22" id="22"/>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sp>
        <p:nvSpPr>
          <p:cNvPr name="TextBox 23" id="23"/>
          <p:cNvSpPr txBox="true"/>
          <p:nvPr/>
        </p:nvSpPr>
        <p:spPr>
          <a:xfrm rot="0">
            <a:off x="9054139" y="7587167"/>
            <a:ext cx="5260448"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what is print?</a:t>
            </a:r>
          </a:p>
        </p:txBody>
      </p:sp>
      <p:sp>
        <p:nvSpPr>
          <p:cNvPr name="Freeform 24" id="24"/>
          <p:cNvSpPr/>
          <p:nvPr/>
        </p:nvSpPr>
        <p:spPr>
          <a:xfrm flipH="false" flipV="false" rot="0">
            <a:off x="-331769" y="-609444"/>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6">
              <a:alphaModFix amt="37000"/>
            </a:blip>
            <a:stretch>
              <a:fillRect l="0" t="0" r="0" b="0"/>
            </a:stretch>
          </a:blipFill>
        </p:spPr>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5015114">
            <a:off x="9740863" y="2343404"/>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flipV="true">
            <a:off x="8654651" y="2652442"/>
            <a:ext cx="0" cy="5211720"/>
          </a:xfrm>
          <a:prstGeom prst="line">
            <a:avLst/>
          </a:prstGeom>
          <a:ln cap="flat" w="38100">
            <a:solidFill>
              <a:srgbClr val="192253"/>
            </a:solidFill>
            <a:prstDash val="solid"/>
            <a:headEnd type="none" len="sm" w="sm"/>
            <a:tailEnd type="none" len="sm" w="sm"/>
          </a:ln>
        </p:spPr>
      </p:sp>
      <p:grpSp>
        <p:nvGrpSpPr>
          <p:cNvPr name="Group 4" id="4"/>
          <p:cNvGrpSpPr>
            <a:grpSpLocks noChangeAspect="true"/>
          </p:cNvGrpSpPr>
          <p:nvPr/>
        </p:nvGrpSpPr>
        <p:grpSpPr>
          <a:xfrm rot="0">
            <a:off x="8469692" y="2467483"/>
            <a:ext cx="369918" cy="369918"/>
            <a:chOff x="6705600" y="1371600"/>
            <a:chExt cx="10972800" cy="10972800"/>
          </a:xfrm>
        </p:grpSpPr>
        <p:sp>
          <p:nvSpPr>
            <p:cNvPr name="Freeform 5" id="5"/>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6" id="6"/>
          <p:cNvGrpSpPr>
            <a:grpSpLocks noChangeAspect="true"/>
          </p:cNvGrpSpPr>
          <p:nvPr/>
        </p:nvGrpSpPr>
        <p:grpSpPr>
          <a:xfrm rot="0">
            <a:off x="8469692" y="4447221"/>
            <a:ext cx="369918" cy="369918"/>
            <a:chOff x="6705600" y="1371600"/>
            <a:chExt cx="10972800" cy="10972800"/>
          </a:xfrm>
        </p:grpSpPr>
        <p:sp>
          <p:nvSpPr>
            <p:cNvPr name="Freeform 7" id="7"/>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8" id="8"/>
          <p:cNvGrpSpPr>
            <a:grpSpLocks noChangeAspect="true"/>
          </p:cNvGrpSpPr>
          <p:nvPr/>
        </p:nvGrpSpPr>
        <p:grpSpPr>
          <a:xfrm rot="0">
            <a:off x="8469692" y="6360189"/>
            <a:ext cx="369918" cy="369918"/>
            <a:chOff x="6705600" y="1371600"/>
            <a:chExt cx="10972800" cy="10972800"/>
          </a:xfrm>
        </p:grpSpPr>
        <p:sp>
          <p:nvSpPr>
            <p:cNvPr name="Freeform 9" id="9"/>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sp>
        <p:nvSpPr>
          <p:cNvPr name="Freeform 10" id="10"/>
          <p:cNvSpPr/>
          <p:nvPr/>
        </p:nvSpPr>
        <p:spPr>
          <a:xfrm flipH="false" flipV="false" rot="0">
            <a:off x="9350265" y="5676519"/>
            <a:ext cx="6427689" cy="2948167"/>
          </a:xfrm>
          <a:custGeom>
            <a:avLst/>
            <a:gdLst/>
            <a:ahLst/>
            <a:cxnLst/>
            <a:rect r="r" b="b" t="t" l="l"/>
            <a:pathLst>
              <a:path h="2948167" w="6427689">
                <a:moveTo>
                  <a:pt x="0" y="0"/>
                </a:moveTo>
                <a:lnTo>
                  <a:pt x="6427689" y="0"/>
                </a:lnTo>
                <a:lnTo>
                  <a:pt x="6427689" y="2948166"/>
                </a:lnTo>
                <a:lnTo>
                  <a:pt x="0" y="2948166"/>
                </a:lnTo>
                <a:lnTo>
                  <a:pt x="0" y="0"/>
                </a:lnTo>
                <a:close/>
              </a:path>
            </a:pathLst>
          </a:custGeom>
          <a:blipFill>
            <a:blip r:embed="rId4"/>
            <a:stretch>
              <a:fillRect l="0" t="0" r="0" b="0"/>
            </a:stretch>
          </a:blipFill>
        </p:spPr>
      </p:sp>
      <p:sp>
        <p:nvSpPr>
          <p:cNvPr name="Freeform 11" id="11"/>
          <p:cNvSpPr/>
          <p:nvPr/>
        </p:nvSpPr>
        <p:spPr>
          <a:xfrm flipH="false" flipV="false" rot="0">
            <a:off x="2432932" y="4379921"/>
            <a:ext cx="5299083" cy="1756761"/>
          </a:xfrm>
          <a:custGeom>
            <a:avLst/>
            <a:gdLst/>
            <a:ahLst/>
            <a:cxnLst/>
            <a:rect r="r" b="b" t="t" l="l"/>
            <a:pathLst>
              <a:path h="1756761" w="5299083">
                <a:moveTo>
                  <a:pt x="0" y="0"/>
                </a:moveTo>
                <a:lnTo>
                  <a:pt x="5299083" y="0"/>
                </a:lnTo>
                <a:lnTo>
                  <a:pt x="5299083" y="1756762"/>
                </a:lnTo>
                <a:lnTo>
                  <a:pt x="0" y="1756762"/>
                </a:lnTo>
                <a:lnTo>
                  <a:pt x="0" y="0"/>
                </a:lnTo>
                <a:close/>
              </a:path>
            </a:pathLst>
          </a:custGeom>
          <a:blipFill>
            <a:blip r:embed="rId5"/>
            <a:stretch>
              <a:fillRect l="0" t="0" r="0" b="0"/>
            </a:stretch>
          </a:blipFill>
        </p:spPr>
      </p:sp>
      <p:sp>
        <p:nvSpPr>
          <p:cNvPr name="TextBox 12" id="12"/>
          <p:cNvSpPr txBox="true"/>
          <p:nvPr/>
        </p:nvSpPr>
        <p:spPr>
          <a:xfrm rot="0">
            <a:off x="9054139" y="2451413"/>
            <a:ext cx="7213458" cy="438134"/>
          </a:xfrm>
          <a:prstGeom prst="rect">
            <a:avLst/>
          </a:prstGeom>
        </p:spPr>
        <p:txBody>
          <a:bodyPr anchor="t" rtlCol="false" tIns="0" lIns="0" bIns="0" rIns="0">
            <a:spAutoFit/>
          </a:bodyPr>
          <a:lstStyle/>
          <a:p>
            <a:pPr algn="just">
              <a:lnSpc>
                <a:spcPts val="3394"/>
              </a:lnSpc>
            </a:pPr>
            <a:r>
              <a:rPr lang="en-US" b="true" sz="3085" spc="98">
                <a:solidFill>
                  <a:srgbClr val="000000"/>
                </a:solidFill>
                <a:latin typeface="Open Sauce Medium"/>
                <a:ea typeface="Open Sauce Medium"/>
                <a:cs typeface="Open Sauce Medium"/>
                <a:sym typeface="Open Sauce Medium"/>
              </a:rPr>
              <a:t>returns a list of all builtin functions</a:t>
            </a:r>
          </a:p>
        </p:txBody>
      </p:sp>
      <p:sp>
        <p:nvSpPr>
          <p:cNvPr name="TextBox 13" id="13"/>
          <p:cNvSpPr txBox="true"/>
          <p:nvPr/>
        </p:nvSpPr>
        <p:spPr>
          <a:xfrm rot="0">
            <a:off x="9149563" y="3220230"/>
            <a:ext cx="7022611" cy="504444"/>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__builtins__ allows direct access to the built-in functions and names defined in the built-in scope of the Python interpreter.</a:t>
            </a:r>
          </a:p>
        </p:txBody>
      </p:sp>
      <p:sp>
        <p:nvSpPr>
          <p:cNvPr name="TextBox 14" id="14"/>
          <p:cNvSpPr txBox="true"/>
          <p:nvPr/>
        </p:nvSpPr>
        <p:spPr>
          <a:xfrm rot="0">
            <a:off x="2432932" y="1605268"/>
            <a:ext cx="13834665" cy="685800"/>
          </a:xfrm>
          <a:prstGeom prst="rect">
            <a:avLst/>
          </a:prstGeom>
        </p:spPr>
        <p:txBody>
          <a:bodyPr anchor="t" rtlCol="false" tIns="0" lIns="0" bIns="0" rIns="0">
            <a:spAutoFit/>
          </a:bodyPr>
          <a:lstStyle/>
          <a:p>
            <a:pPr algn="ctr">
              <a:lnSpc>
                <a:spcPts val="5400"/>
              </a:lnSpc>
            </a:pPr>
            <a:r>
              <a:rPr lang="en-US" sz="4500">
                <a:solidFill>
                  <a:srgbClr val="000000"/>
                </a:solidFill>
                <a:latin typeface="Open Sauce"/>
                <a:ea typeface="Open Sauce"/>
                <a:cs typeface="Open Sauce"/>
                <a:sym typeface="Open Sauce"/>
              </a:rPr>
              <a:t>Builtin functions</a:t>
            </a:r>
          </a:p>
        </p:txBody>
      </p:sp>
      <p:sp>
        <p:nvSpPr>
          <p:cNvPr name="TextBox 15" id="15"/>
          <p:cNvSpPr txBox="true"/>
          <p:nvPr/>
        </p:nvSpPr>
        <p:spPr>
          <a:xfrm rot="0">
            <a:off x="9054139" y="4379005"/>
            <a:ext cx="7213458" cy="438134"/>
          </a:xfrm>
          <a:prstGeom prst="rect">
            <a:avLst/>
          </a:prstGeom>
        </p:spPr>
        <p:txBody>
          <a:bodyPr anchor="t" rtlCol="false" tIns="0" lIns="0" bIns="0" rIns="0">
            <a:spAutoFit/>
          </a:bodyPr>
          <a:lstStyle/>
          <a:p>
            <a:pPr algn="just">
              <a:lnSpc>
                <a:spcPts val="3394"/>
              </a:lnSpc>
            </a:pPr>
            <a:r>
              <a:rPr lang="en-US" b="true" sz="3085" spc="98">
                <a:solidFill>
                  <a:srgbClr val="000000"/>
                </a:solidFill>
                <a:latin typeface="Open Sauce Medium"/>
                <a:ea typeface="Open Sauce Medium"/>
                <a:cs typeface="Open Sauce Medium"/>
                <a:sym typeface="Open Sauce Medium"/>
              </a:rPr>
              <a:t>dir()</a:t>
            </a:r>
          </a:p>
        </p:txBody>
      </p:sp>
      <p:sp>
        <p:nvSpPr>
          <p:cNvPr name="TextBox 16" id="16"/>
          <p:cNvSpPr txBox="true"/>
          <p:nvPr/>
        </p:nvSpPr>
        <p:spPr>
          <a:xfrm rot="0">
            <a:off x="9149563" y="5105400"/>
            <a:ext cx="7022611" cy="247269"/>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Returns all properties and methods of the specified object, without the values.</a:t>
            </a:r>
          </a:p>
        </p:txBody>
      </p:sp>
      <p:sp>
        <p:nvSpPr>
          <p:cNvPr name="Freeform 17" id="17"/>
          <p:cNvSpPr/>
          <p:nvPr/>
        </p:nvSpPr>
        <p:spPr>
          <a:xfrm flipH="false" flipV="false" rot="0">
            <a:off x="-331769" y="-609444"/>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6">
              <a:alphaModFix amt="37000"/>
            </a:blip>
            <a:stretch>
              <a:fillRect l="0" t="0" r="0" b="0"/>
            </a:stretch>
          </a:blipFill>
        </p:spPr>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2923865">
            <a:off x="-2984685" y="1184351"/>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5400000">
            <a:off x="8046708" y="385825"/>
            <a:ext cx="11245538" cy="9778557"/>
            <a:chOff x="0" y="0"/>
            <a:chExt cx="2961788" cy="2575423"/>
          </a:xfrm>
        </p:grpSpPr>
        <p:sp>
          <p:nvSpPr>
            <p:cNvPr name="Freeform 4" id="4"/>
            <p:cNvSpPr/>
            <p:nvPr/>
          </p:nvSpPr>
          <p:spPr>
            <a:xfrm flipH="false" flipV="false" rot="0">
              <a:off x="0" y="0"/>
              <a:ext cx="2961788" cy="2575422"/>
            </a:xfrm>
            <a:custGeom>
              <a:avLst/>
              <a:gdLst/>
              <a:ahLst/>
              <a:cxnLst/>
              <a:rect r="r" b="b" t="t" l="l"/>
              <a:pathLst>
                <a:path h="2575422" w="2961788">
                  <a:moveTo>
                    <a:pt x="0" y="0"/>
                  </a:moveTo>
                  <a:lnTo>
                    <a:pt x="2961788" y="0"/>
                  </a:lnTo>
                  <a:lnTo>
                    <a:pt x="2961788" y="2575422"/>
                  </a:lnTo>
                  <a:lnTo>
                    <a:pt x="0" y="2575422"/>
                  </a:lnTo>
                  <a:close/>
                </a:path>
              </a:pathLst>
            </a:custGeom>
            <a:solidFill>
              <a:srgbClr val="192253"/>
            </a:solidFill>
          </p:spPr>
        </p:sp>
        <p:sp>
          <p:nvSpPr>
            <p:cNvPr name="TextBox 5" id="5"/>
            <p:cNvSpPr txBox="true"/>
            <p:nvPr/>
          </p:nvSpPr>
          <p:spPr>
            <a:xfrm>
              <a:off x="0" y="-28575"/>
              <a:ext cx="2961788" cy="2603998"/>
            </a:xfrm>
            <a:prstGeom prst="rect">
              <a:avLst/>
            </a:prstGeom>
          </p:spPr>
          <p:txBody>
            <a:bodyPr anchor="ctr" rtlCol="false" tIns="50800" lIns="50800" bIns="50800" rIns="50800"/>
            <a:lstStyle/>
            <a:p>
              <a:pPr algn="ctr">
                <a:lnSpc>
                  <a:spcPts val="1869"/>
                </a:lnSpc>
              </a:pPr>
            </a:p>
          </p:txBody>
        </p:sp>
      </p:grpSp>
      <p:sp>
        <p:nvSpPr>
          <p:cNvPr name="AutoShape 6" id="6"/>
          <p:cNvSpPr/>
          <p:nvPr/>
        </p:nvSpPr>
        <p:spPr>
          <a:xfrm flipH="true" flipV="true">
            <a:off x="-488525" y="8289279"/>
            <a:ext cx="15156557" cy="0"/>
          </a:xfrm>
          <a:prstGeom prst="line">
            <a:avLst/>
          </a:prstGeom>
          <a:ln cap="flat" w="76200">
            <a:solidFill>
              <a:srgbClr val="C23A97"/>
            </a:solidFill>
            <a:prstDash val="solid"/>
            <a:headEnd type="none" len="sm" w="sm"/>
            <a:tailEnd type="none" len="sm" w="sm"/>
          </a:ln>
        </p:spPr>
      </p:sp>
      <p:sp>
        <p:nvSpPr>
          <p:cNvPr name="AutoShape 7" id="7"/>
          <p:cNvSpPr/>
          <p:nvPr/>
        </p:nvSpPr>
        <p:spPr>
          <a:xfrm flipH="true">
            <a:off x="10559239" y="2561194"/>
            <a:ext cx="8347436" cy="0"/>
          </a:xfrm>
          <a:prstGeom prst="line">
            <a:avLst/>
          </a:prstGeom>
          <a:ln cap="flat" w="76200">
            <a:solidFill>
              <a:srgbClr val="F5F5F5"/>
            </a:solidFill>
            <a:prstDash val="solid"/>
            <a:headEnd type="none" len="sm" w="sm"/>
            <a:tailEnd type="none" len="sm" w="sm"/>
          </a:ln>
        </p:spPr>
      </p:sp>
      <p:sp>
        <p:nvSpPr>
          <p:cNvPr name="TextBox 8" id="8"/>
          <p:cNvSpPr txBox="true"/>
          <p:nvPr/>
        </p:nvSpPr>
        <p:spPr>
          <a:xfrm rot="0">
            <a:off x="12164387" y="4887513"/>
            <a:ext cx="5678808" cy="3070225"/>
          </a:xfrm>
          <a:prstGeom prst="rect">
            <a:avLst/>
          </a:prstGeom>
        </p:spPr>
        <p:txBody>
          <a:bodyPr anchor="t" rtlCol="false" tIns="0" lIns="0" bIns="0" rIns="0">
            <a:spAutoFit/>
          </a:bodyPr>
          <a:lstStyle/>
          <a:p>
            <a:pPr algn="l">
              <a:lnSpc>
                <a:spcPts val="6049"/>
              </a:lnSpc>
            </a:pPr>
            <a:r>
              <a:rPr lang="en-US" b="true" sz="5499" spc="175">
                <a:solidFill>
                  <a:srgbClr val="FFFFFF"/>
                </a:solidFill>
                <a:latin typeface="Open Sauce Medium"/>
                <a:ea typeface="Open Sauce Medium"/>
                <a:cs typeface="Open Sauce Medium"/>
                <a:sym typeface="Open Sauce Medium"/>
              </a:rPr>
              <a:t>IMPLEMENTING PRIMITIVE DATA STRUCTURES</a:t>
            </a:r>
          </a:p>
        </p:txBody>
      </p:sp>
      <p:sp>
        <p:nvSpPr>
          <p:cNvPr name="Freeform 9" id="9"/>
          <p:cNvSpPr/>
          <p:nvPr/>
        </p:nvSpPr>
        <p:spPr>
          <a:xfrm flipH="false" flipV="false" rot="0">
            <a:off x="14355953" y="-481390"/>
            <a:ext cx="4202802" cy="2362325"/>
          </a:xfrm>
          <a:custGeom>
            <a:avLst/>
            <a:gdLst/>
            <a:ahLst/>
            <a:cxnLst/>
            <a:rect r="r" b="b" t="t" l="l"/>
            <a:pathLst>
              <a:path h="2362325" w="4202802">
                <a:moveTo>
                  <a:pt x="0" y="0"/>
                </a:moveTo>
                <a:lnTo>
                  <a:pt x="4202803" y="0"/>
                </a:lnTo>
                <a:lnTo>
                  <a:pt x="4202803" y="2362325"/>
                </a:lnTo>
                <a:lnTo>
                  <a:pt x="0" y="2362325"/>
                </a:lnTo>
                <a:lnTo>
                  <a:pt x="0" y="0"/>
                </a:lnTo>
                <a:close/>
              </a:path>
            </a:pathLst>
          </a:custGeom>
          <a:blipFill>
            <a:blip r:embed="rId4">
              <a:alphaModFix amt="37000"/>
            </a:blip>
            <a:stretch>
              <a:fillRect l="0" t="0" r="0" b="0"/>
            </a:stretch>
          </a:blipFill>
        </p:spPr>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5015114">
            <a:off x="9740863" y="2343404"/>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266567" y="1028700"/>
            <a:ext cx="15502154" cy="8665317"/>
            <a:chOff x="0" y="0"/>
            <a:chExt cx="4082872" cy="2282224"/>
          </a:xfrm>
        </p:grpSpPr>
        <p:sp>
          <p:nvSpPr>
            <p:cNvPr name="Freeform 4" id="4"/>
            <p:cNvSpPr/>
            <p:nvPr/>
          </p:nvSpPr>
          <p:spPr>
            <a:xfrm flipH="false" flipV="false" rot="0">
              <a:off x="0" y="0"/>
              <a:ext cx="4082872" cy="2282223"/>
            </a:xfrm>
            <a:custGeom>
              <a:avLst/>
              <a:gdLst/>
              <a:ahLst/>
              <a:cxnLst/>
              <a:rect r="r" b="b" t="t" l="l"/>
              <a:pathLst>
                <a:path h="2282223" w="4082872">
                  <a:moveTo>
                    <a:pt x="0" y="0"/>
                  </a:moveTo>
                  <a:lnTo>
                    <a:pt x="4082872" y="0"/>
                  </a:lnTo>
                  <a:lnTo>
                    <a:pt x="4082872" y="2282223"/>
                  </a:lnTo>
                  <a:lnTo>
                    <a:pt x="0" y="228222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82872" cy="2310799"/>
            </a:xfrm>
            <a:prstGeom prst="rect">
              <a:avLst/>
            </a:prstGeom>
          </p:spPr>
          <p:txBody>
            <a:bodyPr anchor="ctr" rtlCol="false" tIns="50800" lIns="50800" bIns="50800" rIns="50800"/>
            <a:lstStyle/>
            <a:p>
              <a:pPr algn="ctr">
                <a:lnSpc>
                  <a:spcPts val="1869"/>
                </a:lnSpc>
              </a:pPr>
            </a:p>
          </p:txBody>
        </p:sp>
      </p:grpSp>
      <p:sp>
        <p:nvSpPr>
          <p:cNvPr name="AutoShape 6" id="6"/>
          <p:cNvSpPr/>
          <p:nvPr/>
        </p:nvSpPr>
        <p:spPr>
          <a:xfrm flipV="true">
            <a:off x="3189916" y="6451217"/>
            <a:ext cx="11464743" cy="36005"/>
          </a:xfrm>
          <a:prstGeom prst="line">
            <a:avLst/>
          </a:prstGeom>
          <a:ln cap="flat" w="38100">
            <a:solidFill>
              <a:srgbClr val="192253"/>
            </a:solidFill>
            <a:prstDash val="solid"/>
            <a:headEnd type="none" len="sm" w="sm"/>
            <a:tailEnd type="none" len="sm" w="sm"/>
          </a:ln>
        </p:spPr>
      </p:sp>
      <p:grpSp>
        <p:nvGrpSpPr>
          <p:cNvPr name="Group 7" id="7"/>
          <p:cNvGrpSpPr>
            <a:grpSpLocks noChangeAspect="true"/>
          </p:cNvGrpSpPr>
          <p:nvPr/>
        </p:nvGrpSpPr>
        <p:grpSpPr>
          <a:xfrm rot="5400000">
            <a:off x="14654658" y="6254575"/>
            <a:ext cx="392053" cy="392053"/>
            <a:chOff x="6705600" y="1371600"/>
            <a:chExt cx="10972800" cy="10972800"/>
          </a:xfrm>
        </p:grpSpPr>
        <p:sp>
          <p:nvSpPr>
            <p:cNvPr name="Freeform 8" id="8"/>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9" id="9"/>
          <p:cNvGrpSpPr>
            <a:grpSpLocks noChangeAspect="true"/>
          </p:cNvGrpSpPr>
          <p:nvPr/>
        </p:nvGrpSpPr>
        <p:grpSpPr>
          <a:xfrm rot="5400000">
            <a:off x="9078166" y="6254575"/>
            <a:ext cx="465293" cy="465293"/>
            <a:chOff x="6705600" y="1371600"/>
            <a:chExt cx="10972800" cy="10972800"/>
          </a:xfrm>
        </p:grpSpPr>
        <p:sp>
          <p:nvSpPr>
            <p:cNvPr name="Freeform 10" id="10"/>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11" id="11"/>
          <p:cNvGrpSpPr>
            <a:grpSpLocks noChangeAspect="true"/>
          </p:cNvGrpSpPr>
          <p:nvPr/>
        </p:nvGrpSpPr>
        <p:grpSpPr>
          <a:xfrm rot="5400000">
            <a:off x="3189916" y="6291195"/>
            <a:ext cx="392053" cy="392053"/>
            <a:chOff x="6705600" y="1371600"/>
            <a:chExt cx="10972800" cy="10972800"/>
          </a:xfrm>
        </p:grpSpPr>
        <p:sp>
          <p:nvSpPr>
            <p:cNvPr name="Freeform 12" id="12"/>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sp>
        <p:nvSpPr>
          <p:cNvPr name="Freeform 13" id="13"/>
          <p:cNvSpPr/>
          <p:nvPr/>
        </p:nvSpPr>
        <p:spPr>
          <a:xfrm flipH="false" flipV="false" rot="0">
            <a:off x="8208587" y="3447631"/>
            <a:ext cx="2204451" cy="1912295"/>
          </a:xfrm>
          <a:custGeom>
            <a:avLst/>
            <a:gdLst/>
            <a:ahLst/>
            <a:cxnLst/>
            <a:rect r="r" b="b" t="t" l="l"/>
            <a:pathLst>
              <a:path h="1912295" w="2204451">
                <a:moveTo>
                  <a:pt x="0" y="0"/>
                </a:moveTo>
                <a:lnTo>
                  <a:pt x="2204451" y="0"/>
                </a:lnTo>
                <a:lnTo>
                  <a:pt x="2204451" y="1912295"/>
                </a:lnTo>
                <a:lnTo>
                  <a:pt x="0" y="1912295"/>
                </a:lnTo>
                <a:lnTo>
                  <a:pt x="0" y="0"/>
                </a:lnTo>
                <a:close/>
              </a:path>
            </a:pathLst>
          </a:custGeom>
          <a:blipFill>
            <a:blip r:embed="rId4"/>
            <a:stretch>
              <a:fillRect l="0" t="0" r="0" b="0"/>
            </a:stretch>
          </a:blipFill>
        </p:spPr>
      </p:sp>
      <p:sp>
        <p:nvSpPr>
          <p:cNvPr name="TextBox 14" id="14"/>
          <p:cNvSpPr txBox="true"/>
          <p:nvPr/>
        </p:nvSpPr>
        <p:spPr>
          <a:xfrm rot="0">
            <a:off x="7926442" y="7128364"/>
            <a:ext cx="4017484" cy="1394460"/>
          </a:xfrm>
          <a:prstGeom prst="rect">
            <a:avLst/>
          </a:prstGeom>
        </p:spPr>
        <p:txBody>
          <a:bodyPr anchor="t" rtlCol="false" tIns="0" lIns="0" bIns="0" rIns="0">
            <a:spAutoFit/>
          </a:bodyPr>
          <a:lstStyle/>
          <a:p>
            <a:pPr algn="l">
              <a:lnSpc>
                <a:spcPts val="3630"/>
              </a:lnSpc>
            </a:pPr>
            <a:r>
              <a:rPr lang="en-US" sz="3300" spc="105" b="true">
                <a:solidFill>
                  <a:srgbClr val="000000"/>
                </a:solidFill>
                <a:latin typeface="Open Sauce Bold"/>
                <a:ea typeface="Open Sauce Bold"/>
                <a:cs typeface="Open Sauce Bold"/>
                <a:sym typeface="Open Sauce Bold"/>
              </a:rPr>
              <a:t>Each int object has int and meta data </a:t>
            </a:r>
          </a:p>
        </p:txBody>
      </p:sp>
      <p:sp>
        <p:nvSpPr>
          <p:cNvPr name="TextBox 15" id="15"/>
          <p:cNvSpPr txBox="true"/>
          <p:nvPr/>
        </p:nvSpPr>
        <p:spPr>
          <a:xfrm rot="0">
            <a:off x="4929144" y="2072923"/>
            <a:ext cx="8491369" cy="480060"/>
          </a:xfrm>
          <a:prstGeom prst="rect">
            <a:avLst/>
          </a:prstGeom>
        </p:spPr>
        <p:txBody>
          <a:bodyPr anchor="t" rtlCol="false" tIns="0" lIns="0" bIns="0" rIns="0">
            <a:spAutoFit/>
          </a:bodyPr>
          <a:lstStyle/>
          <a:p>
            <a:pPr algn="ctr">
              <a:lnSpc>
                <a:spcPts val="3630"/>
              </a:lnSpc>
            </a:pPr>
            <a:r>
              <a:rPr lang="en-US" b="true" sz="3300" spc="105">
                <a:solidFill>
                  <a:srgbClr val="000000"/>
                </a:solidFill>
                <a:latin typeface="Open Sauce Bold"/>
                <a:ea typeface="Open Sauce Bold"/>
                <a:cs typeface="Open Sauce Bold"/>
                <a:sym typeface="Open Sauce Bold"/>
              </a:rPr>
              <a:t>Integers</a:t>
            </a:r>
          </a:p>
        </p:txBody>
      </p:sp>
      <p:sp>
        <p:nvSpPr>
          <p:cNvPr name="TextBox 16" id="16"/>
          <p:cNvSpPr txBox="true"/>
          <p:nvPr/>
        </p:nvSpPr>
        <p:spPr>
          <a:xfrm rot="0">
            <a:off x="13510525" y="6989599"/>
            <a:ext cx="2680321" cy="2306608"/>
          </a:xfrm>
          <a:prstGeom prst="rect">
            <a:avLst/>
          </a:prstGeom>
        </p:spPr>
        <p:txBody>
          <a:bodyPr anchor="t" rtlCol="false" tIns="0" lIns="0" bIns="0" rIns="0">
            <a:spAutoFit/>
          </a:bodyPr>
          <a:lstStyle/>
          <a:p>
            <a:pPr algn="l">
              <a:lnSpc>
                <a:spcPts val="3031"/>
              </a:lnSpc>
            </a:pPr>
            <a:r>
              <a:rPr lang="en-US" sz="2755" spc="88" b="true">
                <a:solidFill>
                  <a:srgbClr val="000000"/>
                </a:solidFill>
                <a:latin typeface="Open Sauce Bold"/>
                <a:ea typeface="Open Sauce Bold"/>
                <a:cs typeface="Open Sauce Bold"/>
                <a:sym typeface="Open Sauce Bold"/>
              </a:rPr>
              <a:t>Ints have arbitary precision meaning they can grow very large</a:t>
            </a:r>
          </a:p>
        </p:txBody>
      </p:sp>
      <p:sp>
        <p:nvSpPr>
          <p:cNvPr name="TextBox 17" id="17"/>
          <p:cNvSpPr txBox="true"/>
          <p:nvPr/>
        </p:nvSpPr>
        <p:spPr>
          <a:xfrm rot="0">
            <a:off x="1898926" y="7196118"/>
            <a:ext cx="4586108" cy="937260"/>
          </a:xfrm>
          <a:prstGeom prst="rect">
            <a:avLst/>
          </a:prstGeom>
        </p:spPr>
        <p:txBody>
          <a:bodyPr anchor="t" rtlCol="false" tIns="0" lIns="0" bIns="0" rIns="0">
            <a:spAutoFit/>
          </a:bodyPr>
          <a:lstStyle/>
          <a:p>
            <a:pPr algn="l">
              <a:lnSpc>
                <a:spcPts val="3630"/>
              </a:lnSpc>
            </a:pPr>
            <a:r>
              <a:rPr lang="en-US" sz="3300" spc="105" b="true">
                <a:solidFill>
                  <a:srgbClr val="000000"/>
                </a:solidFill>
                <a:latin typeface="Open Sauce Bold"/>
                <a:ea typeface="Open Sauce Bold"/>
                <a:cs typeface="Open Sauce Bold"/>
                <a:sym typeface="Open Sauce Bold"/>
              </a:rPr>
              <a:t>Stored as objects </a:t>
            </a:r>
          </a:p>
          <a:p>
            <a:pPr algn="l">
              <a:lnSpc>
                <a:spcPts val="3630"/>
              </a:lnSpc>
            </a:pPr>
            <a:r>
              <a:rPr lang="en-US" sz="3300" spc="105" b="true">
                <a:solidFill>
                  <a:srgbClr val="000000"/>
                </a:solidFill>
                <a:latin typeface="Open Sauce Bold"/>
                <a:ea typeface="Open Sauce Bold"/>
                <a:cs typeface="Open Sauce Bold"/>
                <a:sym typeface="Open Sauce Bold"/>
              </a:rPr>
              <a:t>in memory</a:t>
            </a:r>
          </a:p>
        </p:txBody>
      </p:sp>
      <p:sp>
        <p:nvSpPr>
          <p:cNvPr name="TextBox 18" id="18"/>
          <p:cNvSpPr txBox="true"/>
          <p:nvPr/>
        </p:nvSpPr>
        <p:spPr>
          <a:xfrm rot="0">
            <a:off x="1898926" y="8358947"/>
            <a:ext cx="4586108" cy="209551"/>
          </a:xfrm>
          <a:prstGeom prst="rect">
            <a:avLst/>
          </a:prstGeom>
        </p:spPr>
        <p:txBody>
          <a:bodyPr anchor="t" rtlCol="false" tIns="0" lIns="0" bIns="0" rIns="0">
            <a:spAutoFit/>
          </a:bodyPr>
          <a:lstStyle/>
          <a:p>
            <a:pPr algn="l">
              <a:lnSpc>
                <a:spcPts val="1650"/>
              </a:lnSpc>
            </a:pPr>
            <a:r>
              <a:rPr lang="en-US" sz="1500" spc="48" b="true">
                <a:solidFill>
                  <a:srgbClr val="000000"/>
                </a:solidFill>
                <a:latin typeface="Open Sauce Bold"/>
                <a:ea typeface="Open Sauce Bold"/>
                <a:cs typeface="Open Sauce Bold"/>
                <a:sym typeface="Open Sauce Bold"/>
              </a:rPr>
              <a:t>How can you find the memory address?</a:t>
            </a:r>
          </a:p>
        </p:txBody>
      </p:sp>
      <p:sp>
        <p:nvSpPr>
          <p:cNvPr name="Freeform 19" id="19"/>
          <p:cNvSpPr/>
          <p:nvPr/>
        </p:nvSpPr>
        <p:spPr>
          <a:xfrm flipH="false" flipV="false" rot="0">
            <a:off x="-331769" y="-609444"/>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5">
              <a:alphaModFix amt="37000"/>
            </a:blip>
            <a:stretch>
              <a:fillRect l="0" t="0" r="0" b="0"/>
            </a:stretch>
          </a:blipFill>
        </p:spPr>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5015114">
            <a:off x="9740863" y="2343404"/>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266567" y="1028700"/>
            <a:ext cx="15502154" cy="8665317"/>
            <a:chOff x="0" y="0"/>
            <a:chExt cx="4082872" cy="2282224"/>
          </a:xfrm>
        </p:grpSpPr>
        <p:sp>
          <p:nvSpPr>
            <p:cNvPr name="Freeform 4" id="4"/>
            <p:cNvSpPr/>
            <p:nvPr/>
          </p:nvSpPr>
          <p:spPr>
            <a:xfrm flipH="false" flipV="false" rot="0">
              <a:off x="0" y="0"/>
              <a:ext cx="4082872" cy="2282223"/>
            </a:xfrm>
            <a:custGeom>
              <a:avLst/>
              <a:gdLst/>
              <a:ahLst/>
              <a:cxnLst/>
              <a:rect r="r" b="b" t="t" l="l"/>
              <a:pathLst>
                <a:path h="2282223" w="4082872">
                  <a:moveTo>
                    <a:pt x="0" y="0"/>
                  </a:moveTo>
                  <a:lnTo>
                    <a:pt x="4082872" y="0"/>
                  </a:lnTo>
                  <a:lnTo>
                    <a:pt x="4082872" y="2282223"/>
                  </a:lnTo>
                  <a:lnTo>
                    <a:pt x="0" y="228222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82872" cy="2310799"/>
            </a:xfrm>
            <a:prstGeom prst="rect">
              <a:avLst/>
            </a:prstGeom>
          </p:spPr>
          <p:txBody>
            <a:bodyPr anchor="ctr" rtlCol="false" tIns="50800" lIns="50800" bIns="50800" rIns="50800"/>
            <a:lstStyle/>
            <a:p>
              <a:pPr algn="ctr">
                <a:lnSpc>
                  <a:spcPts val="1869"/>
                </a:lnSpc>
              </a:pPr>
            </a:p>
          </p:txBody>
        </p:sp>
      </p:grpSp>
      <p:sp>
        <p:nvSpPr>
          <p:cNvPr name="AutoShape 6" id="6"/>
          <p:cNvSpPr/>
          <p:nvPr/>
        </p:nvSpPr>
        <p:spPr>
          <a:xfrm flipV="true">
            <a:off x="3189916" y="6451217"/>
            <a:ext cx="11464743" cy="36005"/>
          </a:xfrm>
          <a:prstGeom prst="line">
            <a:avLst/>
          </a:prstGeom>
          <a:ln cap="flat" w="38100">
            <a:solidFill>
              <a:srgbClr val="192253"/>
            </a:solidFill>
            <a:prstDash val="solid"/>
            <a:headEnd type="none" len="sm" w="sm"/>
            <a:tailEnd type="none" len="sm" w="sm"/>
          </a:ln>
        </p:spPr>
      </p:sp>
      <p:grpSp>
        <p:nvGrpSpPr>
          <p:cNvPr name="Group 7" id="7"/>
          <p:cNvGrpSpPr>
            <a:grpSpLocks noChangeAspect="true"/>
          </p:cNvGrpSpPr>
          <p:nvPr/>
        </p:nvGrpSpPr>
        <p:grpSpPr>
          <a:xfrm rot="5400000">
            <a:off x="14654658" y="6254575"/>
            <a:ext cx="392053" cy="392053"/>
            <a:chOff x="6705600" y="1371600"/>
            <a:chExt cx="10972800" cy="10972800"/>
          </a:xfrm>
        </p:grpSpPr>
        <p:sp>
          <p:nvSpPr>
            <p:cNvPr name="Freeform 8" id="8"/>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9" id="9"/>
          <p:cNvGrpSpPr>
            <a:grpSpLocks noChangeAspect="true"/>
          </p:cNvGrpSpPr>
          <p:nvPr/>
        </p:nvGrpSpPr>
        <p:grpSpPr>
          <a:xfrm rot="5400000">
            <a:off x="9078166" y="6254575"/>
            <a:ext cx="465293" cy="465293"/>
            <a:chOff x="6705600" y="1371600"/>
            <a:chExt cx="10972800" cy="10972800"/>
          </a:xfrm>
        </p:grpSpPr>
        <p:sp>
          <p:nvSpPr>
            <p:cNvPr name="Freeform 10" id="10"/>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11" id="11"/>
          <p:cNvGrpSpPr>
            <a:grpSpLocks noChangeAspect="true"/>
          </p:cNvGrpSpPr>
          <p:nvPr/>
        </p:nvGrpSpPr>
        <p:grpSpPr>
          <a:xfrm rot="5400000">
            <a:off x="3189916" y="6291195"/>
            <a:ext cx="392053" cy="392053"/>
            <a:chOff x="6705600" y="1371600"/>
            <a:chExt cx="10972800" cy="10972800"/>
          </a:xfrm>
        </p:grpSpPr>
        <p:sp>
          <p:nvSpPr>
            <p:cNvPr name="Freeform 12" id="12"/>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sp>
        <p:nvSpPr>
          <p:cNvPr name="Freeform 13" id="13"/>
          <p:cNvSpPr/>
          <p:nvPr/>
        </p:nvSpPr>
        <p:spPr>
          <a:xfrm flipH="false" flipV="false" rot="0">
            <a:off x="7147803" y="2909141"/>
            <a:ext cx="4326020" cy="2745359"/>
          </a:xfrm>
          <a:custGeom>
            <a:avLst/>
            <a:gdLst/>
            <a:ahLst/>
            <a:cxnLst/>
            <a:rect r="r" b="b" t="t" l="l"/>
            <a:pathLst>
              <a:path h="2745359" w="4326020">
                <a:moveTo>
                  <a:pt x="0" y="0"/>
                </a:moveTo>
                <a:lnTo>
                  <a:pt x="4326019" y="0"/>
                </a:lnTo>
                <a:lnTo>
                  <a:pt x="4326019" y="2745359"/>
                </a:lnTo>
                <a:lnTo>
                  <a:pt x="0" y="2745359"/>
                </a:lnTo>
                <a:lnTo>
                  <a:pt x="0" y="0"/>
                </a:lnTo>
                <a:close/>
              </a:path>
            </a:pathLst>
          </a:custGeom>
          <a:blipFill>
            <a:blip r:embed="rId4"/>
            <a:stretch>
              <a:fillRect l="0" t="0" r="0" b="0"/>
            </a:stretch>
          </a:blipFill>
        </p:spPr>
      </p:sp>
      <p:sp>
        <p:nvSpPr>
          <p:cNvPr name="TextBox 14" id="14"/>
          <p:cNvSpPr txBox="true"/>
          <p:nvPr/>
        </p:nvSpPr>
        <p:spPr>
          <a:xfrm rot="0">
            <a:off x="7926442" y="7128364"/>
            <a:ext cx="4017484" cy="1394460"/>
          </a:xfrm>
          <a:prstGeom prst="rect">
            <a:avLst/>
          </a:prstGeom>
        </p:spPr>
        <p:txBody>
          <a:bodyPr anchor="t" rtlCol="false" tIns="0" lIns="0" bIns="0" rIns="0">
            <a:spAutoFit/>
          </a:bodyPr>
          <a:lstStyle/>
          <a:p>
            <a:pPr algn="l">
              <a:lnSpc>
                <a:spcPts val="3630"/>
              </a:lnSpc>
            </a:pPr>
            <a:r>
              <a:rPr lang="en-US" sz="3300" spc="105" b="true">
                <a:solidFill>
                  <a:srgbClr val="000000"/>
                </a:solidFill>
                <a:latin typeface="Open Sauce Bold"/>
                <a:ea typeface="Open Sauce Bold"/>
                <a:cs typeface="Open Sauce Bold"/>
                <a:sym typeface="Open Sauce Bold"/>
              </a:rPr>
              <a:t>Stored as 64 bit numbers so have limited precision</a:t>
            </a:r>
          </a:p>
        </p:txBody>
      </p:sp>
      <p:sp>
        <p:nvSpPr>
          <p:cNvPr name="TextBox 15" id="15"/>
          <p:cNvSpPr txBox="true"/>
          <p:nvPr/>
        </p:nvSpPr>
        <p:spPr>
          <a:xfrm rot="0">
            <a:off x="4929144" y="2072923"/>
            <a:ext cx="8491369" cy="480060"/>
          </a:xfrm>
          <a:prstGeom prst="rect">
            <a:avLst/>
          </a:prstGeom>
        </p:spPr>
        <p:txBody>
          <a:bodyPr anchor="t" rtlCol="false" tIns="0" lIns="0" bIns="0" rIns="0">
            <a:spAutoFit/>
          </a:bodyPr>
          <a:lstStyle/>
          <a:p>
            <a:pPr algn="ctr">
              <a:lnSpc>
                <a:spcPts val="3630"/>
              </a:lnSpc>
            </a:pPr>
            <a:r>
              <a:rPr lang="en-US" b="true" sz="3300" spc="105">
                <a:solidFill>
                  <a:srgbClr val="000000"/>
                </a:solidFill>
                <a:latin typeface="Open Sauce Bold"/>
                <a:ea typeface="Open Sauce Bold"/>
                <a:cs typeface="Open Sauce Bold"/>
                <a:sym typeface="Open Sauce Bold"/>
              </a:rPr>
              <a:t>Floats</a:t>
            </a:r>
          </a:p>
        </p:txBody>
      </p:sp>
      <p:sp>
        <p:nvSpPr>
          <p:cNvPr name="TextBox 16" id="16"/>
          <p:cNvSpPr txBox="true"/>
          <p:nvPr/>
        </p:nvSpPr>
        <p:spPr>
          <a:xfrm rot="0">
            <a:off x="11943927" y="6989599"/>
            <a:ext cx="4458159" cy="3444946"/>
          </a:xfrm>
          <a:prstGeom prst="rect">
            <a:avLst/>
          </a:prstGeom>
        </p:spPr>
        <p:txBody>
          <a:bodyPr anchor="t" rtlCol="false" tIns="0" lIns="0" bIns="0" rIns="0">
            <a:spAutoFit/>
          </a:bodyPr>
          <a:lstStyle/>
          <a:p>
            <a:pPr algn="ctr">
              <a:lnSpc>
                <a:spcPts val="3031"/>
              </a:lnSpc>
            </a:pPr>
            <a:r>
              <a:rPr lang="en-US" b="true" sz="2755" spc="88">
                <a:solidFill>
                  <a:srgbClr val="000000"/>
                </a:solidFill>
                <a:latin typeface="Open Sauce Bold"/>
                <a:ea typeface="Open Sauce Bold"/>
                <a:cs typeface="Open Sauce Bold"/>
                <a:sym typeface="Open Sauce Bold"/>
              </a:rPr>
              <a:t>Try this code:</a:t>
            </a:r>
          </a:p>
          <a:p>
            <a:pPr algn="ctr">
              <a:lnSpc>
                <a:spcPts val="3031"/>
              </a:lnSpc>
            </a:pPr>
            <a:r>
              <a:rPr lang="en-US" b="true" sz="2755" spc="88">
                <a:solidFill>
                  <a:srgbClr val="000000"/>
                </a:solidFill>
                <a:latin typeface="Open Sauce Bold"/>
                <a:ea typeface="Open Sauce Bold"/>
                <a:cs typeface="Open Sauce Bold"/>
                <a:sym typeface="Open Sauce Bold"/>
              </a:rPr>
              <a:t>x = 0.1</a:t>
            </a:r>
          </a:p>
          <a:p>
            <a:pPr algn="ctr">
              <a:lnSpc>
                <a:spcPts val="3031"/>
              </a:lnSpc>
            </a:pPr>
            <a:r>
              <a:rPr lang="en-US" b="true" sz="2755" spc="88">
                <a:solidFill>
                  <a:srgbClr val="000000"/>
                </a:solidFill>
                <a:latin typeface="Open Sauce Bold"/>
                <a:ea typeface="Open Sauce Bold"/>
                <a:cs typeface="Open Sauce Bold"/>
                <a:sym typeface="Open Sauce Bold"/>
              </a:rPr>
              <a:t>print(x)</a:t>
            </a:r>
          </a:p>
          <a:p>
            <a:pPr algn="ctr">
              <a:lnSpc>
                <a:spcPts val="3031"/>
              </a:lnSpc>
            </a:pPr>
            <a:r>
              <a:rPr lang="en-US" b="true" sz="2755" spc="88">
                <a:solidFill>
                  <a:srgbClr val="000000"/>
                </a:solidFill>
                <a:latin typeface="Open Sauce Bold"/>
                <a:ea typeface="Open Sauce Bold"/>
                <a:cs typeface="Open Sauce Bold"/>
                <a:sym typeface="Open Sauce Bold"/>
              </a:rPr>
              <a:t>print('{0:.30f}'.format(x))</a:t>
            </a:r>
          </a:p>
          <a:p>
            <a:pPr algn="ctr">
              <a:lnSpc>
                <a:spcPts val="3031"/>
              </a:lnSpc>
            </a:pPr>
          </a:p>
          <a:p>
            <a:pPr algn="ctr">
              <a:lnSpc>
                <a:spcPts val="3031"/>
              </a:lnSpc>
            </a:pPr>
          </a:p>
          <a:p>
            <a:pPr algn="ctr">
              <a:lnSpc>
                <a:spcPts val="3031"/>
              </a:lnSpc>
            </a:pPr>
          </a:p>
          <a:p>
            <a:pPr algn="ctr">
              <a:lnSpc>
                <a:spcPts val="3031"/>
              </a:lnSpc>
            </a:pPr>
            <a:r>
              <a:rPr lang="en-US" b="true" sz="2755" spc="88">
                <a:solidFill>
                  <a:srgbClr val="000000"/>
                </a:solidFill>
                <a:latin typeface="Open Sauce Bold"/>
                <a:ea typeface="Open Sauce Bold"/>
                <a:cs typeface="Open Sauce Bold"/>
                <a:sym typeface="Open Sauce Bold"/>
              </a:rPr>
              <a:t> </a:t>
            </a:r>
          </a:p>
          <a:p>
            <a:pPr algn="ctr">
              <a:lnSpc>
                <a:spcPts val="3031"/>
              </a:lnSpc>
            </a:pPr>
          </a:p>
        </p:txBody>
      </p:sp>
      <p:sp>
        <p:nvSpPr>
          <p:cNvPr name="TextBox 17" id="17"/>
          <p:cNvSpPr txBox="true"/>
          <p:nvPr/>
        </p:nvSpPr>
        <p:spPr>
          <a:xfrm rot="0">
            <a:off x="1898926" y="7196118"/>
            <a:ext cx="4586108" cy="1394460"/>
          </a:xfrm>
          <a:prstGeom prst="rect">
            <a:avLst/>
          </a:prstGeom>
        </p:spPr>
        <p:txBody>
          <a:bodyPr anchor="t" rtlCol="false" tIns="0" lIns="0" bIns="0" rIns="0">
            <a:spAutoFit/>
          </a:bodyPr>
          <a:lstStyle/>
          <a:p>
            <a:pPr algn="l">
              <a:lnSpc>
                <a:spcPts val="3630"/>
              </a:lnSpc>
            </a:pPr>
            <a:r>
              <a:rPr lang="en-US" sz="3300" spc="105" b="true">
                <a:solidFill>
                  <a:srgbClr val="000000"/>
                </a:solidFill>
                <a:latin typeface="Open Sauce Bold"/>
                <a:ea typeface="Open Sauce Bold"/>
                <a:cs typeface="Open Sauce Bold"/>
                <a:sym typeface="Open Sauce Bold"/>
              </a:rPr>
              <a:t>Represented in memory as using IEEE754 standard </a:t>
            </a:r>
          </a:p>
        </p:txBody>
      </p:sp>
      <p:sp>
        <p:nvSpPr>
          <p:cNvPr name="Freeform 18" id="18"/>
          <p:cNvSpPr/>
          <p:nvPr/>
        </p:nvSpPr>
        <p:spPr>
          <a:xfrm flipH="false" flipV="false" rot="0">
            <a:off x="-331769" y="-609444"/>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5">
              <a:alphaModFix amt="37000"/>
            </a:blip>
            <a:stretch>
              <a:fillRect l="0" t="0" r="0" b="0"/>
            </a:stretch>
          </a:blipFill>
        </p:spPr>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5015114">
            <a:off x="9740863" y="2343404"/>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266567" y="1028700"/>
            <a:ext cx="15502154" cy="8665317"/>
            <a:chOff x="0" y="0"/>
            <a:chExt cx="4082872" cy="2282224"/>
          </a:xfrm>
        </p:grpSpPr>
        <p:sp>
          <p:nvSpPr>
            <p:cNvPr name="Freeform 4" id="4"/>
            <p:cNvSpPr/>
            <p:nvPr/>
          </p:nvSpPr>
          <p:spPr>
            <a:xfrm flipH="false" flipV="false" rot="0">
              <a:off x="0" y="0"/>
              <a:ext cx="4082872" cy="2282223"/>
            </a:xfrm>
            <a:custGeom>
              <a:avLst/>
              <a:gdLst/>
              <a:ahLst/>
              <a:cxnLst/>
              <a:rect r="r" b="b" t="t" l="l"/>
              <a:pathLst>
                <a:path h="2282223" w="4082872">
                  <a:moveTo>
                    <a:pt x="0" y="0"/>
                  </a:moveTo>
                  <a:lnTo>
                    <a:pt x="4082872" y="0"/>
                  </a:lnTo>
                  <a:lnTo>
                    <a:pt x="4082872" y="2282223"/>
                  </a:lnTo>
                  <a:lnTo>
                    <a:pt x="0" y="228222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82872" cy="2310799"/>
            </a:xfrm>
            <a:prstGeom prst="rect">
              <a:avLst/>
            </a:prstGeom>
          </p:spPr>
          <p:txBody>
            <a:bodyPr anchor="ctr" rtlCol="false" tIns="50800" lIns="50800" bIns="50800" rIns="50800"/>
            <a:lstStyle/>
            <a:p>
              <a:pPr algn="ctr">
                <a:lnSpc>
                  <a:spcPts val="1869"/>
                </a:lnSpc>
              </a:pPr>
            </a:p>
          </p:txBody>
        </p:sp>
      </p:grpSp>
      <p:sp>
        <p:nvSpPr>
          <p:cNvPr name="AutoShape 6" id="6"/>
          <p:cNvSpPr/>
          <p:nvPr/>
        </p:nvSpPr>
        <p:spPr>
          <a:xfrm flipV="true">
            <a:off x="3189916" y="6451217"/>
            <a:ext cx="11464743" cy="36005"/>
          </a:xfrm>
          <a:prstGeom prst="line">
            <a:avLst/>
          </a:prstGeom>
          <a:ln cap="flat" w="38100">
            <a:solidFill>
              <a:srgbClr val="192253"/>
            </a:solidFill>
            <a:prstDash val="solid"/>
            <a:headEnd type="none" len="sm" w="sm"/>
            <a:tailEnd type="none" len="sm" w="sm"/>
          </a:ln>
        </p:spPr>
      </p:sp>
      <p:grpSp>
        <p:nvGrpSpPr>
          <p:cNvPr name="Group 7" id="7"/>
          <p:cNvGrpSpPr>
            <a:grpSpLocks noChangeAspect="true"/>
          </p:cNvGrpSpPr>
          <p:nvPr/>
        </p:nvGrpSpPr>
        <p:grpSpPr>
          <a:xfrm rot="5400000">
            <a:off x="14654658" y="6254575"/>
            <a:ext cx="392053" cy="392053"/>
            <a:chOff x="6705600" y="1371600"/>
            <a:chExt cx="10972800" cy="10972800"/>
          </a:xfrm>
        </p:grpSpPr>
        <p:sp>
          <p:nvSpPr>
            <p:cNvPr name="Freeform 8" id="8"/>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9" id="9"/>
          <p:cNvGrpSpPr>
            <a:grpSpLocks noChangeAspect="true"/>
          </p:cNvGrpSpPr>
          <p:nvPr/>
        </p:nvGrpSpPr>
        <p:grpSpPr>
          <a:xfrm rot="5400000">
            <a:off x="9078166" y="6254575"/>
            <a:ext cx="465293" cy="465293"/>
            <a:chOff x="6705600" y="1371600"/>
            <a:chExt cx="10972800" cy="10972800"/>
          </a:xfrm>
        </p:grpSpPr>
        <p:sp>
          <p:nvSpPr>
            <p:cNvPr name="Freeform 10" id="10"/>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11" id="11"/>
          <p:cNvGrpSpPr>
            <a:grpSpLocks noChangeAspect="true"/>
          </p:cNvGrpSpPr>
          <p:nvPr/>
        </p:nvGrpSpPr>
        <p:grpSpPr>
          <a:xfrm rot="5400000">
            <a:off x="3189916" y="6291195"/>
            <a:ext cx="392053" cy="392053"/>
            <a:chOff x="6705600" y="1371600"/>
            <a:chExt cx="10972800" cy="10972800"/>
          </a:xfrm>
        </p:grpSpPr>
        <p:sp>
          <p:nvSpPr>
            <p:cNvPr name="Freeform 12" id="12"/>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sp>
        <p:nvSpPr>
          <p:cNvPr name="Freeform 13" id="13"/>
          <p:cNvSpPr/>
          <p:nvPr/>
        </p:nvSpPr>
        <p:spPr>
          <a:xfrm flipH="false" flipV="false" rot="0">
            <a:off x="6426992" y="3013104"/>
            <a:ext cx="5767642" cy="2348254"/>
          </a:xfrm>
          <a:custGeom>
            <a:avLst/>
            <a:gdLst/>
            <a:ahLst/>
            <a:cxnLst/>
            <a:rect r="r" b="b" t="t" l="l"/>
            <a:pathLst>
              <a:path h="2348254" w="5767642">
                <a:moveTo>
                  <a:pt x="0" y="0"/>
                </a:moveTo>
                <a:lnTo>
                  <a:pt x="5767642" y="0"/>
                </a:lnTo>
                <a:lnTo>
                  <a:pt x="5767642" y="2348255"/>
                </a:lnTo>
                <a:lnTo>
                  <a:pt x="0" y="2348255"/>
                </a:lnTo>
                <a:lnTo>
                  <a:pt x="0" y="0"/>
                </a:lnTo>
                <a:close/>
              </a:path>
            </a:pathLst>
          </a:custGeom>
          <a:blipFill>
            <a:blip r:embed="rId4"/>
            <a:stretch>
              <a:fillRect l="0" t="0" r="0" b="0"/>
            </a:stretch>
          </a:blipFill>
        </p:spPr>
      </p:sp>
      <p:sp>
        <p:nvSpPr>
          <p:cNvPr name="TextBox 14" id="14"/>
          <p:cNvSpPr txBox="true"/>
          <p:nvPr/>
        </p:nvSpPr>
        <p:spPr>
          <a:xfrm rot="0">
            <a:off x="7926442" y="7128364"/>
            <a:ext cx="4017484" cy="937260"/>
          </a:xfrm>
          <a:prstGeom prst="rect">
            <a:avLst/>
          </a:prstGeom>
        </p:spPr>
        <p:txBody>
          <a:bodyPr anchor="t" rtlCol="false" tIns="0" lIns="0" bIns="0" rIns="0">
            <a:spAutoFit/>
          </a:bodyPr>
          <a:lstStyle/>
          <a:p>
            <a:pPr algn="l">
              <a:lnSpc>
                <a:spcPts val="3630"/>
              </a:lnSpc>
            </a:pPr>
            <a:r>
              <a:rPr lang="en-US" sz="3300" spc="105" b="true">
                <a:solidFill>
                  <a:srgbClr val="000000"/>
                </a:solidFill>
                <a:latin typeface="Open Sauce Bold"/>
                <a:ea typeface="Open Sauce Bold"/>
                <a:cs typeface="Open Sauce Bold"/>
                <a:sym typeface="Open Sauce Bold"/>
              </a:rPr>
              <a:t>One for real</a:t>
            </a:r>
          </a:p>
          <a:p>
            <a:pPr algn="l">
              <a:lnSpc>
                <a:spcPts val="3630"/>
              </a:lnSpc>
            </a:pPr>
            <a:r>
              <a:rPr lang="en-US" sz="3300" spc="105" b="true">
                <a:solidFill>
                  <a:srgbClr val="000000"/>
                </a:solidFill>
                <a:latin typeface="Open Sauce Bold"/>
                <a:ea typeface="Open Sauce Bold"/>
                <a:cs typeface="Open Sauce Bold"/>
                <a:sym typeface="Open Sauce Bold"/>
              </a:rPr>
              <a:t>One for imaginary</a:t>
            </a:r>
          </a:p>
        </p:txBody>
      </p:sp>
      <p:sp>
        <p:nvSpPr>
          <p:cNvPr name="TextBox 15" id="15"/>
          <p:cNvSpPr txBox="true"/>
          <p:nvPr/>
        </p:nvSpPr>
        <p:spPr>
          <a:xfrm rot="0">
            <a:off x="4929144" y="2072923"/>
            <a:ext cx="8491369" cy="480060"/>
          </a:xfrm>
          <a:prstGeom prst="rect">
            <a:avLst/>
          </a:prstGeom>
        </p:spPr>
        <p:txBody>
          <a:bodyPr anchor="t" rtlCol="false" tIns="0" lIns="0" bIns="0" rIns="0">
            <a:spAutoFit/>
          </a:bodyPr>
          <a:lstStyle/>
          <a:p>
            <a:pPr algn="ctr">
              <a:lnSpc>
                <a:spcPts val="3630"/>
              </a:lnSpc>
            </a:pPr>
            <a:r>
              <a:rPr lang="en-US" b="true" sz="3300" spc="105">
                <a:solidFill>
                  <a:srgbClr val="000000"/>
                </a:solidFill>
                <a:latin typeface="Open Sauce Bold"/>
                <a:ea typeface="Open Sauce Bold"/>
                <a:cs typeface="Open Sauce Bold"/>
                <a:sym typeface="Open Sauce Bold"/>
              </a:rPr>
              <a:t>Complex numbers</a:t>
            </a:r>
          </a:p>
        </p:txBody>
      </p:sp>
      <p:sp>
        <p:nvSpPr>
          <p:cNvPr name="TextBox 16" id="16"/>
          <p:cNvSpPr txBox="true"/>
          <p:nvPr/>
        </p:nvSpPr>
        <p:spPr>
          <a:xfrm rot="0">
            <a:off x="11943927" y="6989599"/>
            <a:ext cx="4458159" cy="937260"/>
          </a:xfrm>
          <a:prstGeom prst="rect">
            <a:avLst/>
          </a:prstGeom>
        </p:spPr>
        <p:txBody>
          <a:bodyPr anchor="t" rtlCol="false" tIns="0" lIns="0" bIns="0" rIns="0">
            <a:spAutoFit/>
          </a:bodyPr>
          <a:lstStyle/>
          <a:p>
            <a:pPr algn="ctr">
              <a:lnSpc>
                <a:spcPts val="3630"/>
              </a:lnSpc>
            </a:pPr>
            <a:r>
              <a:rPr lang="en-US" b="true" sz="3300" spc="105">
                <a:solidFill>
                  <a:srgbClr val="000000"/>
                </a:solidFill>
                <a:latin typeface="Open Sauce Bold"/>
                <a:ea typeface="Open Sauce Bold"/>
                <a:cs typeface="Open Sauce Bold"/>
                <a:sym typeface="Open Sauce Bold"/>
              </a:rPr>
              <a:t>Uses IEEE 754</a:t>
            </a:r>
          </a:p>
          <a:p>
            <a:pPr algn="ctr">
              <a:lnSpc>
                <a:spcPts val="3630"/>
              </a:lnSpc>
            </a:pPr>
            <a:r>
              <a:rPr lang="en-US" b="true" sz="3300" spc="105">
                <a:solidFill>
                  <a:srgbClr val="000000"/>
                </a:solidFill>
                <a:latin typeface="Open Sauce Bold"/>
                <a:ea typeface="Open Sauce Bold"/>
                <a:cs typeface="Open Sauce Bold"/>
                <a:sym typeface="Open Sauce Bold"/>
              </a:rPr>
              <a:t>same as floats </a:t>
            </a:r>
          </a:p>
        </p:txBody>
      </p:sp>
      <p:sp>
        <p:nvSpPr>
          <p:cNvPr name="TextBox 17" id="17"/>
          <p:cNvSpPr txBox="true"/>
          <p:nvPr/>
        </p:nvSpPr>
        <p:spPr>
          <a:xfrm rot="0">
            <a:off x="1898926" y="7196118"/>
            <a:ext cx="4586108" cy="1394460"/>
          </a:xfrm>
          <a:prstGeom prst="rect">
            <a:avLst/>
          </a:prstGeom>
        </p:spPr>
        <p:txBody>
          <a:bodyPr anchor="t" rtlCol="false" tIns="0" lIns="0" bIns="0" rIns="0">
            <a:spAutoFit/>
          </a:bodyPr>
          <a:lstStyle/>
          <a:p>
            <a:pPr algn="l">
              <a:lnSpc>
                <a:spcPts val="3630"/>
              </a:lnSpc>
            </a:pPr>
            <a:r>
              <a:rPr lang="en-US" sz="3300" spc="105" b="true">
                <a:solidFill>
                  <a:srgbClr val="000000"/>
                </a:solidFill>
                <a:latin typeface="Open Sauce Bold"/>
                <a:ea typeface="Open Sauce Bold"/>
                <a:cs typeface="Open Sauce Bold"/>
                <a:sym typeface="Open Sauce Bold"/>
              </a:rPr>
              <a:t>Stored as pairs of </a:t>
            </a:r>
          </a:p>
          <a:p>
            <a:pPr algn="l">
              <a:lnSpc>
                <a:spcPts val="3630"/>
              </a:lnSpc>
            </a:pPr>
            <a:r>
              <a:rPr lang="en-US" sz="3300" spc="105" b="true">
                <a:solidFill>
                  <a:srgbClr val="000000"/>
                </a:solidFill>
                <a:latin typeface="Open Sauce Bold"/>
                <a:ea typeface="Open Sauce Bold"/>
                <a:cs typeface="Open Sauce Bold"/>
                <a:sym typeface="Open Sauce Bold"/>
              </a:rPr>
              <a:t>floating point </a:t>
            </a:r>
          </a:p>
          <a:p>
            <a:pPr algn="l">
              <a:lnSpc>
                <a:spcPts val="3630"/>
              </a:lnSpc>
            </a:pPr>
            <a:r>
              <a:rPr lang="en-US" sz="3300" spc="105" b="true">
                <a:solidFill>
                  <a:srgbClr val="000000"/>
                </a:solidFill>
                <a:latin typeface="Open Sauce Bold"/>
                <a:ea typeface="Open Sauce Bold"/>
                <a:cs typeface="Open Sauce Bold"/>
                <a:sym typeface="Open Sauce Bold"/>
              </a:rPr>
              <a:t>numbers</a:t>
            </a:r>
          </a:p>
        </p:txBody>
      </p:sp>
      <p:sp>
        <p:nvSpPr>
          <p:cNvPr name="Freeform 18" id="18"/>
          <p:cNvSpPr/>
          <p:nvPr/>
        </p:nvSpPr>
        <p:spPr>
          <a:xfrm flipH="false" flipV="false" rot="0">
            <a:off x="-331769" y="-609444"/>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5">
              <a:alphaModFix amt="37000"/>
            </a:blip>
            <a:stretch>
              <a:fillRect l="0" t="0" r="0" b="0"/>
            </a:stretch>
          </a:blipFill>
        </p:spPr>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5015114">
            <a:off x="9740863" y="2343404"/>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266567" y="1028700"/>
            <a:ext cx="15502154" cy="8665317"/>
            <a:chOff x="0" y="0"/>
            <a:chExt cx="4082872" cy="2282224"/>
          </a:xfrm>
        </p:grpSpPr>
        <p:sp>
          <p:nvSpPr>
            <p:cNvPr name="Freeform 4" id="4"/>
            <p:cNvSpPr/>
            <p:nvPr/>
          </p:nvSpPr>
          <p:spPr>
            <a:xfrm flipH="false" flipV="false" rot="0">
              <a:off x="0" y="0"/>
              <a:ext cx="4082872" cy="2282223"/>
            </a:xfrm>
            <a:custGeom>
              <a:avLst/>
              <a:gdLst/>
              <a:ahLst/>
              <a:cxnLst/>
              <a:rect r="r" b="b" t="t" l="l"/>
              <a:pathLst>
                <a:path h="2282223" w="4082872">
                  <a:moveTo>
                    <a:pt x="0" y="0"/>
                  </a:moveTo>
                  <a:lnTo>
                    <a:pt x="4082872" y="0"/>
                  </a:lnTo>
                  <a:lnTo>
                    <a:pt x="4082872" y="2282223"/>
                  </a:lnTo>
                  <a:lnTo>
                    <a:pt x="0" y="228222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82872" cy="2310799"/>
            </a:xfrm>
            <a:prstGeom prst="rect">
              <a:avLst/>
            </a:prstGeom>
          </p:spPr>
          <p:txBody>
            <a:bodyPr anchor="ctr" rtlCol="false" tIns="50800" lIns="50800" bIns="50800" rIns="50800"/>
            <a:lstStyle/>
            <a:p>
              <a:pPr algn="ctr">
                <a:lnSpc>
                  <a:spcPts val="1869"/>
                </a:lnSpc>
              </a:pPr>
            </a:p>
          </p:txBody>
        </p:sp>
      </p:grpSp>
      <p:sp>
        <p:nvSpPr>
          <p:cNvPr name="AutoShape 6" id="6"/>
          <p:cNvSpPr/>
          <p:nvPr/>
        </p:nvSpPr>
        <p:spPr>
          <a:xfrm flipV="true">
            <a:off x="3189916" y="6451217"/>
            <a:ext cx="11464743" cy="36005"/>
          </a:xfrm>
          <a:prstGeom prst="line">
            <a:avLst/>
          </a:prstGeom>
          <a:ln cap="flat" w="38100">
            <a:solidFill>
              <a:srgbClr val="192253"/>
            </a:solidFill>
            <a:prstDash val="solid"/>
            <a:headEnd type="none" len="sm" w="sm"/>
            <a:tailEnd type="none" len="sm" w="sm"/>
          </a:ln>
        </p:spPr>
      </p:sp>
      <p:grpSp>
        <p:nvGrpSpPr>
          <p:cNvPr name="Group 7" id="7"/>
          <p:cNvGrpSpPr>
            <a:grpSpLocks noChangeAspect="true"/>
          </p:cNvGrpSpPr>
          <p:nvPr/>
        </p:nvGrpSpPr>
        <p:grpSpPr>
          <a:xfrm rot="5400000">
            <a:off x="14654658" y="6254575"/>
            <a:ext cx="392053" cy="392053"/>
            <a:chOff x="6705600" y="1371600"/>
            <a:chExt cx="10972800" cy="10972800"/>
          </a:xfrm>
        </p:grpSpPr>
        <p:sp>
          <p:nvSpPr>
            <p:cNvPr name="Freeform 8" id="8"/>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9" id="9"/>
          <p:cNvGrpSpPr>
            <a:grpSpLocks noChangeAspect="true"/>
          </p:cNvGrpSpPr>
          <p:nvPr/>
        </p:nvGrpSpPr>
        <p:grpSpPr>
          <a:xfrm rot="5400000">
            <a:off x="9078166" y="6254575"/>
            <a:ext cx="465293" cy="465293"/>
            <a:chOff x="6705600" y="1371600"/>
            <a:chExt cx="10972800" cy="10972800"/>
          </a:xfrm>
        </p:grpSpPr>
        <p:sp>
          <p:nvSpPr>
            <p:cNvPr name="Freeform 10" id="10"/>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11" id="11"/>
          <p:cNvGrpSpPr>
            <a:grpSpLocks noChangeAspect="true"/>
          </p:cNvGrpSpPr>
          <p:nvPr/>
        </p:nvGrpSpPr>
        <p:grpSpPr>
          <a:xfrm rot="5400000">
            <a:off x="3189916" y="6291195"/>
            <a:ext cx="392053" cy="392053"/>
            <a:chOff x="6705600" y="1371600"/>
            <a:chExt cx="10972800" cy="10972800"/>
          </a:xfrm>
        </p:grpSpPr>
        <p:sp>
          <p:nvSpPr>
            <p:cNvPr name="Freeform 12" id="12"/>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sp>
        <p:nvSpPr>
          <p:cNvPr name="Freeform 13" id="13"/>
          <p:cNvSpPr/>
          <p:nvPr/>
        </p:nvSpPr>
        <p:spPr>
          <a:xfrm flipH="false" flipV="false" rot="0">
            <a:off x="4426939" y="2781548"/>
            <a:ext cx="9181408" cy="3006302"/>
          </a:xfrm>
          <a:custGeom>
            <a:avLst/>
            <a:gdLst/>
            <a:ahLst/>
            <a:cxnLst/>
            <a:rect r="r" b="b" t="t" l="l"/>
            <a:pathLst>
              <a:path h="3006302" w="9181408">
                <a:moveTo>
                  <a:pt x="0" y="0"/>
                </a:moveTo>
                <a:lnTo>
                  <a:pt x="9181409" y="0"/>
                </a:lnTo>
                <a:lnTo>
                  <a:pt x="9181409" y="3006302"/>
                </a:lnTo>
                <a:lnTo>
                  <a:pt x="0" y="3006302"/>
                </a:lnTo>
                <a:lnTo>
                  <a:pt x="0" y="0"/>
                </a:lnTo>
                <a:close/>
              </a:path>
            </a:pathLst>
          </a:custGeom>
          <a:blipFill>
            <a:blip r:embed="rId4"/>
            <a:stretch>
              <a:fillRect l="0" t="0" r="0" b="0"/>
            </a:stretch>
          </a:blipFill>
        </p:spPr>
      </p:sp>
      <p:sp>
        <p:nvSpPr>
          <p:cNvPr name="TextBox 14" id="14"/>
          <p:cNvSpPr txBox="true"/>
          <p:nvPr/>
        </p:nvSpPr>
        <p:spPr>
          <a:xfrm rot="0">
            <a:off x="1898926" y="7074370"/>
            <a:ext cx="4017484" cy="937260"/>
          </a:xfrm>
          <a:prstGeom prst="rect">
            <a:avLst/>
          </a:prstGeom>
        </p:spPr>
        <p:txBody>
          <a:bodyPr anchor="t" rtlCol="false" tIns="0" lIns="0" bIns="0" rIns="0">
            <a:spAutoFit/>
          </a:bodyPr>
          <a:lstStyle/>
          <a:p>
            <a:pPr algn="l">
              <a:lnSpc>
                <a:spcPts val="3630"/>
              </a:lnSpc>
            </a:pPr>
            <a:r>
              <a:rPr lang="en-US" sz="3300" spc="105" b="true">
                <a:solidFill>
                  <a:srgbClr val="000000"/>
                </a:solidFill>
                <a:latin typeface="Open Sauce Bold"/>
                <a:ea typeface="Open Sauce Bold"/>
                <a:cs typeface="Open Sauce Bold"/>
                <a:sym typeface="Open Sauce Bold"/>
              </a:rPr>
              <a:t>Stored as 1 or</a:t>
            </a:r>
          </a:p>
          <a:p>
            <a:pPr algn="l">
              <a:lnSpc>
                <a:spcPts val="3630"/>
              </a:lnSpc>
            </a:pPr>
            <a:r>
              <a:rPr lang="en-US" sz="3300" spc="105" b="true">
                <a:solidFill>
                  <a:srgbClr val="000000"/>
                </a:solidFill>
                <a:latin typeface="Open Sauce Bold"/>
                <a:ea typeface="Open Sauce Bold"/>
                <a:cs typeface="Open Sauce Bold"/>
                <a:sym typeface="Open Sauce Bold"/>
              </a:rPr>
              <a:t>0</a:t>
            </a:r>
          </a:p>
        </p:txBody>
      </p:sp>
      <p:sp>
        <p:nvSpPr>
          <p:cNvPr name="TextBox 15" id="15"/>
          <p:cNvSpPr txBox="true"/>
          <p:nvPr/>
        </p:nvSpPr>
        <p:spPr>
          <a:xfrm rot="0">
            <a:off x="1898926" y="2161699"/>
            <a:ext cx="8491369" cy="480060"/>
          </a:xfrm>
          <a:prstGeom prst="rect">
            <a:avLst/>
          </a:prstGeom>
        </p:spPr>
        <p:txBody>
          <a:bodyPr anchor="t" rtlCol="false" tIns="0" lIns="0" bIns="0" rIns="0">
            <a:spAutoFit/>
          </a:bodyPr>
          <a:lstStyle/>
          <a:p>
            <a:pPr algn="r">
              <a:lnSpc>
                <a:spcPts val="3630"/>
              </a:lnSpc>
            </a:pPr>
            <a:r>
              <a:rPr lang="en-US" b="true" sz="3300" spc="105">
                <a:solidFill>
                  <a:srgbClr val="000000"/>
                </a:solidFill>
                <a:latin typeface="Open Sauce Bold"/>
                <a:ea typeface="Open Sauce Bold"/>
                <a:cs typeface="Open Sauce Bold"/>
                <a:sym typeface="Open Sauce Bold"/>
              </a:rPr>
              <a:t>Booleans</a:t>
            </a:r>
          </a:p>
        </p:txBody>
      </p:sp>
      <p:sp>
        <p:nvSpPr>
          <p:cNvPr name="TextBox 16" id="16"/>
          <p:cNvSpPr txBox="true"/>
          <p:nvPr/>
        </p:nvSpPr>
        <p:spPr>
          <a:xfrm rot="0">
            <a:off x="11943927" y="6989599"/>
            <a:ext cx="4458159" cy="1394460"/>
          </a:xfrm>
          <a:prstGeom prst="rect">
            <a:avLst/>
          </a:prstGeom>
        </p:spPr>
        <p:txBody>
          <a:bodyPr anchor="t" rtlCol="false" tIns="0" lIns="0" bIns="0" rIns="0">
            <a:spAutoFit/>
          </a:bodyPr>
          <a:lstStyle/>
          <a:p>
            <a:pPr algn="ctr">
              <a:lnSpc>
                <a:spcPts val="3630"/>
              </a:lnSpc>
            </a:pPr>
            <a:r>
              <a:rPr lang="en-US" b="true" sz="3300" spc="105">
                <a:solidFill>
                  <a:srgbClr val="000000"/>
                </a:solidFill>
                <a:latin typeface="Open Sauce Bold"/>
                <a:ea typeface="Open Sauce Bold"/>
                <a:cs typeface="Open Sauce Bold"/>
                <a:sym typeface="Open Sauce Bold"/>
              </a:rPr>
              <a:t>They are still</a:t>
            </a:r>
          </a:p>
          <a:p>
            <a:pPr algn="ctr">
              <a:lnSpc>
                <a:spcPts val="3630"/>
              </a:lnSpc>
            </a:pPr>
            <a:r>
              <a:rPr lang="en-US" b="true" sz="3300" spc="105">
                <a:solidFill>
                  <a:srgbClr val="000000"/>
                </a:solidFill>
                <a:latin typeface="Open Sauce Bold"/>
                <a:ea typeface="Open Sauce Bold"/>
                <a:cs typeface="Open Sauce Bold"/>
                <a:sym typeface="Open Sauce Bold"/>
              </a:rPr>
              <a:t>objects like</a:t>
            </a:r>
          </a:p>
          <a:p>
            <a:pPr algn="ctr">
              <a:lnSpc>
                <a:spcPts val="3630"/>
              </a:lnSpc>
            </a:pPr>
            <a:r>
              <a:rPr lang="en-US" b="true" sz="3300" spc="105">
                <a:solidFill>
                  <a:srgbClr val="000000"/>
                </a:solidFill>
                <a:latin typeface="Open Sauce Bold"/>
                <a:ea typeface="Open Sauce Bold"/>
                <a:cs typeface="Open Sauce Bold"/>
                <a:sym typeface="Open Sauce Bold"/>
              </a:rPr>
              <a:t>everything else</a:t>
            </a:r>
          </a:p>
        </p:txBody>
      </p:sp>
      <p:sp>
        <p:nvSpPr>
          <p:cNvPr name="TextBox 17" id="17"/>
          <p:cNvSpPr txBox="true"/>
          <p:nvPr/>
        </p:nvSpPr>
        <p:spPr>
          <a:xfrm rot="0">
            <a:off x="7699178" y="6989599"/>
            <a:ext cx="3223269" cy="1394460"/>
          </a:xfrm>
          <a:prstGeom prst="rect">
            <a:avLst/>
          </a:prstGeom>
        </p:spPr>
        <p:txBody>
          <a:bodyPr anchor="t" rtlCol="false" tIns="0" lIns="0" bIns="0" rIns="0">
            <a:spAutoFit/>
          </a:bodyPr>
          <a:lstStyle/>
          <a:p>
            <a:pPr algn="l">
              <a:lnSpc>
                <a:spcPts val="3630"/>
              </a:lnSpc>
            </a:pPr>
            <a:r>
              <a:rPr lang="en-US" sz="3300" spc="105" b="true">
                <a:solidFill>
                  <a:srgbClr val="000000"/>
                </a:solidFill>
                <a:latin typeface="Open Sauce Bold"/>
                <a:ea typeface="Open Sauce Bold"/>
                <a:cs typeface="Open Sauce Bold"/>
                <a:sym typeface="Open Sauce Bold"/>
              </a:rPr>
              <a:t>Used in conditional checks</a:t>
            </a:r>
          </a:p>
        </p:txBody>
      </p:sp>
      <p:sp>
        <p:nvSpPr>
          <p:cNvPr name="Freeform 18" id="18"/>
          <p:cNvSpPr/>
          <p:nvPr/>
        </p:nvSpPr>
        <p:spPr>
          <a:xfrm flipH="false" flipV="false" rot="0">
            <a:off x="-331769" y="-609444"/>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5">
              <a:alphaModFix amt="37000"/>
            </a:blip>
            <a:stretch>
              <a:fillRect l="0" t="0" r="0" b="0"/>
            </a:stretch>
          </a:blipFill>
        </p:spPr>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5015114">
            <a:off x="9740863" y="2343404"/>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266567" y="1028700"/>
            <a:ext cx="15502154" cy="8665317"/>
            <a:chOff x="0" y="0"/>
            <a:chExt cx="4082872" cy="2282224"/>
          </a:xfrm>
        </p:grpSpPr>
        <p:sp>
          <p:nvSpPr>
            <p:cNvPr name="Freeform 4" id="4"/>
            <p:cNvSpPr/>
            <p:nvPr/>
          </p:nvSpPr>
          <p:spPr>
            <a:xfrm flipH="false" flipV="false" rot="0">
              <a:off x="0" y="0"/>
              <a:ext cx="4082872" cy="2282223"/>
            </a:xfrm>
            <a:custGeom>
              <a:avLst/>
              <a:gdLst/>
              <a:ahLst/>
              <a:cxnLst/>
              <a:rect r="r" b="b" t="t" l="l"/>
              <a:pathLst>
                <a:path h="2282223" w="4082872">
                  <a:moveTo>
                    <a:pt x="0" y="0"/>
                  </a:moveTo>
                  <a:lnTo>
                    <a:pt x="4082872" y="0"/>
                  </a:lnTo>
                  <a:lnTo>
                    <a:pt x="4082872" y="2282223"/>
                  </a:lnTo>
                  <a:lnTo>
                    <a:pt x="0" y="228222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82872" cy="2310799"/>
            </a:xfrm>
            <a:prstGeom prst="rect">
              <a:avLst/>
            </a:prstGeom>
          </p:spPr>
          <p:txBody>
            <a:bodyPr anchor="ctr" rtlCol="false" tIns="50800" lIns="50800" bIns="50800" rIns="50800"/>
            <a:lstStyle/>
            <a:p>
              <a:pPr algn="ctr">
                <a:lnSpc>
                  <a:spcPts val="1869"/>
                </a:lnSpc>
              </a:pPr>
            </a:p>
          </p:txBody>
        </p:sp>
      </p:grpSp>
      <p:sp>
        <p:nvSpPr>
          <p:cNvPr name="AutoShape 6" id="6"/>
          <p:cNvSpPr/>
          <p:nvPr/>
        </p:nvSpPr>
        <p:spPr>
          <a:xfrm flipV="true">
            <a:off x="3189916" y="6451217"/>
            <a:ext cx="11464743" cy="36005"/>
          </a:xfrm>
          <a:prstGeom prst="line">
            <a:avLst/>
          </a:prstGeom>
          <a:ln cap="flat" w="38100">
            <a:solidFill>
              <a:srgbClr val="192253"/>
            </a:solidFill>
            <a:prstDash val="solid"/>
            <a:headEnd type="none" len="sm" w="sm"/>
            <a:tailEnd type="none" len="sm" w="sm"/>
          </a:ln>
        </p:spPr>
      </p:sp>
      <p:grpSp>
        <p:nvGrpSpPr>
          <p:cNvPr name="Group 7" id="7"/>
          <p:cNvGrpSpPr>
            <a:grpSpLocks noChangeAspect="true"/>
          </p:cNvGrpSpPr>
          <p:nvPr/>
        </p:nvGrpSpPr>
        <p:grpSpPr>
          <a:xfrm rot="5400000">
            <a:off x="14654658" y="6254575"/>
            <a:ext cx="392053" cy="392053"/>
            <a:chOff x="6705600" y="1371600"/>
            <a:chExt cx="10972800" cy="10972800"/>
          </a:xfrm>
        </p:grpSpPr>
        <p:sp>
          <p:nvSpPr>
            <p:cNvPr name="Freeform 8" id="8"/>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9" id="9"/>
          <p:cNvGrpSpPr>
            <a:grpSpLocks noChangeAspect="true"/>
          </p:cNvGrpSpPr>
          <p:nvPr/>
        </p:nvGrpSpPr>
        <p:grpSpPr>
          <a:xfrm rot="5400000">
            <a:off x="9078166" y="6254575"/>
            <a:ext cx="465293" cy="465293"/>
            <a:chOff x="6705600" y="1371600"/>
            <a:chExt cx="10972800" cy="10972800"/>
          </a:xfrm>
        </p:grpSpPr>
        <p:sp>
          <p:nvSpPr>
            <p:cNvPr name="Freeform 10" id="10"/>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11" id="11"/>
          <p:cNvGrpSpPr>
            <a:grpSpLocks noChangeAspect="true"/>
          </p:cNvGrpSpPr>
          <p:nvPr/>
        </p:nvGrpSpPr>
        <p:grpSpPr>
          <a:xfrm rot="5400000">
            <a:off x="3189916" y="6291195"/>
            <a:ext cx="392053" cy="392053"/>
            <a:chOff x="6705600" y="1371600"/>
            <a:chExt cx="10972800" cy="10972800"/>
          </a:xfrm>
        </p:grpSpPr>
        <p:sp>
          <p:nvSpPr>
            <p:cNvPr name="Freeform 12" id="12"/>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sp>
        <p:nvSpPr>
          <p:cNvPr name="Freeform 13" id="13"/>
          <p:cNvSpPr/>
          <p:nvPr/>
        </p:nvSpPr>
        <p:spPr>
          <a:xfrm flipH="false" flipV="false" rot="0">
            <a:off x="6958316" y="2951664"/>
            <a:ext cx="4704993" cy="3006741"/>
          </a:xfrm>
          <a:custGeom>
            <a:avLst/>
            <a:gdLst/>
            <a:ahLst/>
            <a:cxnLst/>
            <a:rect r="r" b="b" t="t" l="l"/>
            <a:pathLst>
              <a:path h="3006741" w="4704993">
                <a:moveTo>
                  <a:pt x="0" y="0"/>
                </a:moveTo>
                <a:lnTo>
                  <a:pt x="4704993" y="0"/>
                </a:lnTo>
                <a:lnTo>
                  <a:pt x="4704993" y="3006741"/>
                </a:lnTo>
                <a:lnTo>
                  <a:pt x="0" y="3006741"/>
                </a:lnTo>
                <a:lnTo>
                  <a:pt x="0" y="0"/>
                </a:lnTo>
                <a:close/>
              </a:path>
            </a:pathLst>
          </a:custGeom>
          <a:blipFill>
            <a:blip r:embed="rId4"/>
            <a:stretch>
              <a:fillRect l="0" t="0" r="0" b="0"/>
            </a:stretch>
          </a:blipFill>
        </p:spPr>
      </p:sp>
      <p:sp>
        <p:nvSpPr>
          <p:cNvPr name="TextBox 14" id="14"/>
          <p:cNvSpPr txBox="true"/>
          <p:nvPr/>
        </p:nvSpPr>
        <p:spPr>
          <a:xfrm rot="0">
            <a:off x="7926442" y="7128364"/>
            <a:ext cx="4017484" cy="937260"/>
          </a:xfrm>
          <a:prstGeom prst="rect">
            <a:avLst/>
          </a:prstGeom>
        </p:spPr>
        <p:txBody>
          <a:bodyPr anchor="t" rtlCol="false" tIns="0" lIns="0" bIns="0" rIns="0">
            <a:spAutoFit/>
          </a:bodyPr>
          <a:lstStyle/>
          <a:p>
            <a:pPr algn="l">
              <a:lnSpc>
                <a:spcPts val="3630"/>
              </a:lnSpc>
            </a:pPr>
            <a:r>
              <a:rPr lang="en-US" sz="3300" spc="105" b="true">
                <a:solidFill>
                  <a:srgbClr val="000000"/>
                </a:solidFill>
                <a:latin typeface="Open Sauce Bold"/>
                <a:ea typeface="Open Sauce Bold"/>
                <a:cs typeface="Open Sauce Bold"/>
                <a:sym typeface="Open Sauce Bold"/>
              </a:rPr>
              <a:t>Used to represent text</a:t>
            </a:r>
          </a:p>
        </p:txBody>
      </p:sp>
      <p:sp>
        <p:nvSpPr>
          <p:cNvPr name="TextBox 15" id="15"/>
          <p:cNvSpPr txBox="true"/>
          <p:nvPr/>
        </p:nvSpPr>
        <p:spPr>
          <a:xfrm rot="0">
            <a:off x="8236645" y="2175435"/>
            <a:ext cx="1683043" cy="480060"/>
          </a:xfrm>
          <a:prstGeom prst="rect">
            <a:avLst/>
          </a:prstGeom>
        </p:spPr>
        <p:txBody>
          <a:bodyPr anchor="t" rtlCol="false" tIns="0" lIns="0" bIns="0" rIns="0">
            <a:spAutoFit/>
          </a:bodyPr>
          <a:lstStyle/>
          <a:p>
            <a:pPr algn="r">
              <a:lnSpc>
                <a:spcPts val="3630"/>
              </a:lnSpc>
            </a:pPr>
            <a:r>
              <a:rPr lang="en-US" b="true" sz="3300" spc="105">
                <a:solidFill>
                  <a:srgbClr val="000000"/>
                </a:solidFill>
                <a:latin typeface="Open Sauce Bold"/>
                <a:ea typeface="Open Sauce Bold"/>
                <a:cs typeface="Open Sauce Bold"/>
                <a:sym typeface="Open Sauce Bold"/>
              </a:rPr>
              <a:t>Strings</a:t>
            </a:r>
          </a:p>
        </p:txBody>
      </p:sp>
      <p:sp>
        <p:nvSpPr>
          <p:cNvPr name="TextBox 16" id="16"/>
          <p:cNvSpPr txBox="true"/>
          <p:nvPr/>
        </p:nvSpPr>
        <p:spPr>
          <a:xfrm rot="0">
            <a:off x="11943927" y="6989599"/>
            <a:ext cx="4458159" cy="937260"/>
          </a:xfrm>
          <a:prstGeom prst="rect">
            <a:avLst/>
          </a:prstGeom>
        </p:spPr>
        <p:txBody>
          <a:bodyPr anchor="t" rtlCol="false" tIns="0" lIns="0" bIns="0" rIns="0">
            <a:spAutoFit/>
          </a:bodyPr>
          <a:lstStyle/>
          <a:p>
            <a:pPr algn="ctr">
              <a:lnSpc>
                <a:spcPts val="3630"/>
              </a:lnSpc>
            </a:pPr>
            <a:r>
              <a:rPr lang="en-US" b="true" sz="3300" spc="105">
                <a:solidFill>
                  <a:srgbClr val="000000"/>
                </a:solidFill>
                <a:latin typeface="Open Sauce Bold"/>
                <a:ea typeface="Open Sauce Bold"/>
                <a:cs typeface="Open Sauce Bold"/>
                <a:sym typeface="Open Sauce Bold"/>
              </a:rPr>
              <a:t>Stored as an array of Unicode points</a:t>
            </a:r>
          </a:p>
        </p:txBody>
      </p:sp>
      <p:sp>
        <p:nvSpPr>
          <p:cNvPr name="TextBox 17" id="17"/>
          <p:cNvSpPr txBox="true"/>
          <p:nvPr/>
        </p:nvSpPr>
        <p:spPr>
          <a:xfrm rot="0">
            <a:off x="1898926" y="7196118"/>
            <a:ext cx="4586108" cy="1394460"/>
          </a:xfrm>
          <a:prstGeom prst="rect">
            <a:avLst/>
          </a:prstGeom>
        </p:spPr>
        <p:txBody>
          <a:bodyPr anchor="t" rtlCol="false" tIns="0" lIns="0" bIns="0" rIns="0">
            <a:spAutoFit/>
          </a:bodyPr>
          <a:lstStyle/>
          <a:p>
            <a:pPr algn="l">
              <a:lnSpc>
                <a:spcPts val="3630"/>
              </a:lnSpc>
            </a:pPr>
            <a:r>
              <a:rPr lang="en-US" sz="3300" spc="105" b="true">
                <a:solidFill>
                  <a:srgbClr val="000000"/>
                </a:solidFill>
                <a:latin typeface="Open Sauce Bold"/>
                <a:ea typeface="Open Sauce Bold"/>
                <a:cs typeface="Open Sauce Bold"/>
                <a:sym typeface="Open Sauce Bold"/>
              </a:rPr>
              <a:t>Ordered, immutable</a:t>
            </a:r>
          </a:p>
          <a:p>
            <a:pPr algn="l">
              <a:lnSpc>
                <a:spcPts val="3630"/>
              </a:lnSpc>
            </a:pPr>
            <a:r>
              <a:rPr lang="en-US" sz="3300" spc="105" b="true">
                <a:solidFill>
                  <a:srgbClr val="000000"/>
                </a:solidFill>
                <a:latin typeface="Open Sauce Bold"/>
                <a:ea typeface="Open Sauce Bold"/>
                <a:cs typeface="Open Sauce Bold"/>
                <a:sym typeface="Open Sauce Bold"/>
              </a:rPr>
              <a:t>sequence of characters </a:t>
            </a:r>
          </a:p>
        </p:txBody>
      </p:sp>
      <p:sp>
        <p:nvSpPr>
          <p:cNvPr name="Freeform 18" id="18"/>
          <p:cNvSpPr/>
          <p:nvPr/>
        </p:nvSpPr>
        <p:spPr>
          <a:xfrm flipH="false" flipV="false" rot="0">
            <a:off x="-331769" y="-609444"/>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5">
              <a:alphaModFix amt="37000"/>
            </a:blip>
            <a:stretch>
              <a:fillRect l="0" t="0" r="0" b="0"/>
            </a:stretch>
          </a:blipFill>
        </p:spPr>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5015114">
            <a:off x="9740863" y="2343404"/>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266567" y="1028700"/>
            <a:ext cx="15502154" cy="8665317"/>
            <a:chOff x="0" y="0"/>
            <a:chExt cx="4082872" cy="2282224"/>
          </a:xfrm>
        </p:grpSpPr>
        <p:sp>
          <p:nvSpPr>
            <p:cNvPr name="Freeform 4" id="4"/>
            <p:cNvSpPr/>
            <p:nvPr/>
          </p:nvSpPr>
          <p:spPr>
            <a:xfrm flipH="false" flipV="false" rot="0">
              <a:off x="0" y="0"/>
              <a:ext cx="4082872" cy="2282223"/>
            </a:xfrm>
            <a:custGeom>
              <a:avLst/>
              <a:gdLst/>
              <a:ahLst/>
              <a:cxnLst/>
              <a:rect r="r" b="b" t="t" l="l"/>
              <a:pathLst>
                <a:path h="2282223" w="4082872">
                  <a:moveTo>
                    <a:pt x="0" y="0"/>
                  </a:moveTo>
                  <a:lnTo>
                    <a:pt x="4082872" y="0"/>
                  </a:lnTo>
                  <a:lnTo>
                    <a:pt x="4082872" y="2282223"/>
                  </a:lnTo>
                  <a:lnTo>
                    <a:pt x="0" y="228222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82872" cy="2310799"/>
            </a:xfrm>
            <a:prstGeom prst="rect">
              <a:avLst/>
            </a:prstGeom>
          </p:spPr>
          <p:txBody>
            <a:bodyPr anchor="ctr" rtlCol="false" tIns="50800" lIns="50800" bIns="50800" rIns="50800"/>
            <a:lstStyle/>
            <a:p>
              <a:pPr algn="ctr">
                <a:lnSpc>
                  <a:spcPts val="1869"/>
                </a:lnSpc>
              </a:pPr>
            </a:p>
          </p:txBody>
        </p:sp>
      </p:grpSp>
      <p:sp>
        <p:nvSpPr>
          <p:cNvPr name="AutoShape 6" id="6"/>
          <p:cNvSpPr/>
          <p:nvPr/>
        </p:nvSpPr>
        <p:spPr>
          <a:xfrm flipV="true">
            <a:off x="3189916" y="6451217"/>
            <a:ext cx="11464743" cy="36005"/>
          </a:xfrm>
          <a:prstGeom prst="line">
            <a:avLst/>
          </a:prstGeom>
          <a:ln cap="flat" w="38100">
            <a:solidFill>
              <a:srgbClr val="192253"/>
            </a:solidFill>
            <a:prstDash val="solid"/>
            <a:headEnd type="none" len="sm" w="sm"/>
            <a:tailEnd type="none" len="sm" w="sm"/>
          </a:ln>
        </p:spPr>
      </p:sp>
      <p:grpSp>
        <p:nvGrpSpPr>
          <p:cNvPr name="Group 7" id="7"/>
          <p:cNvGrpSpPr>
            <a:grpSpLocks noChangeAspect="true"/>
          </p:cNvGrpSpPr>
          <p:nvPr/>
        </p:nvGrpSpPr>
        <p:grpSpPr>
          <a:xfrm rot="5400000">
            <a:off x="14654658" y="6254575"/>
            <a:ext cx="392053" cy="392053"/>
            <a:chOff x="6705600" y="1371600"/>
            <a:chExt cx="10972800" cy="10972800"/>
          </a:xfrm>
        </p:grpSpPr>
        <p:sp>
          <p:nvSpPr>
            <p:cNvPr name="Freeform 8" id="8"/>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9" id="9"/>
          <p:cNvGrpSpPr>
            <a:grpSpLocks noChangeAspect="true"/>
          </p:cNvGrpSpPr>
          <p:nvPr/>
        </p:nvGrpSpPr>
        <p:grpSpPr>
          <a:xfrm rot="5400000">
            <a:off x="9078166" y="6254575"/>
            <a:ext cx="465293" cy="465293"/>
            <a:chOff x="6705600" y="1371600"/>
            <a:chExt cx="10972800" cy="10972800"/>
          </a:xfrm>
        </p:grpSpPr>
        <p:sp>
          <p:nvSpPr>
            <p:cNvPr name="Freeform 10" id="10"/>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11" id="11"/>
          <p:cNvGrpSpPr>
            <a:grpSpLocks noChangeAspect="true"/>
          </p:cNvGrpSpPr>
          <p:nvPr/>
        </p:nvGrpSpPr>
        <p:grpSpPr>
          <a:xfrm rot="5400000">
            <a:off x="3189916" y="6291195"/>
            <a:ext cx="392053" cy="392053"/>
            <a:chOff x="6705600" y="1371600"/>
            <a:chExt cx="10972800" cy="10972800"/>
          </a:xfrm>
        </p:grpSpPr>
        <p:sp>
          <p:nvSpPr>
            <p:cNvPr name="Freeform 12" id="12"/>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sp>
        <p:nvSpPr>
          <p:cNvPr name="Freeform 13" id="13"/>
          <p:cNvSpPr/>
          <p:nvPr/>
        </p:nvSpPr>
        <p:spPr>
          <a:xfrm flipH="false" flipV="false" rot="0">
            <a:off x="5471386" y="3195528"/>
            <a:ext cx="7678853" cy="2165830"/>
          </a:xfrm>
          <a:custGeom>
            <a:avLst/>
            <a:gdLst/>
            <a:ahLst/>
            <a:cxnLst/>
            <a:rect r="r" b="b" t="t" l="l"/>
            <a:pathLst>
              <a:path h="2165830" w="7678853">
                <a:moveTo>
                  <a:pt x="0" y="0"/>
                </a:moveTo>
                <a:lnTo>
                  <a:pt x="7678853" y="0"/>
                </a:lnTo>
                <a:lnTo>
                  <a:pt x="7678853" y="2165831"/>
                </a:lnTo>
                <a:lnTo>
                  <a:pt x="0" y="2165831"/>
                </a:lnTo>
                <a:lnTo>
                  <a:pt x="0" y="0"/>
                </a:lnTo>
                <a:close/>
              </a:path>
            </a:pathLst>
          </a:custGeom>
          <a:blipFill>
            <a:blip r:embed="rId4"/>
            <a:stretch>
              <a:fillRect l="0" t="0" r="0" b="0"/>
            </a:stretch>
          </a:blipFill>
        </p:spPr>
      </p:sp>
      <p:sp>
        <p:nvSpPr>
          <p:cNvPr name="TextBox 14" id="14"/>
          <p:cNvSpPr txBox="true"/>
          <p:nvPr/>
        </p:nvSpPr>
        <p:spPr>
          <a:xfrm rot="0">
            <a:off x="7926442" y="7128364"/>
            <a:ext cx="4017484" cy="937260"/>
          </a:xfrm>
          <a:prstGeom prst="rect">
            <a:avLst/>
          </a:prstGeom>
        </p:spPr>
        <p:txBody>
          <a:bodyPr anchor="t" rtlCol="false" tIns="0" lIns="0" bIns="0" rIns="0">
            <a:spAutoFit/>
          </a:bodyPr>
          <a:lstStyle/>
          <a:p>
            <a:pPr algn="l">
              <a:lnSpc>
                <a:spcPts val="3630"/>
              </a:lnSpc>
            </a:pPr>
            <a:r>
              <a:rPr lang="en-US" sz="3300" spc="105" b="true">
                <a:solidFill>
                  <a:srgbClr val="000000"/>
                </a:solidFill>
                <a:latin typeface="Open Sauce Bold"/>
                <a:ea typeface="Open Sauce Bold"/>
                <a:cs typeface="Open Sauce Bold"/>
                <a:sym typeface="Open Sauce Bold"/>
              </a:rPr>
              <a:t>Objects used to represent binary</a:t>
            </a:r>
          </a:p>
        </p:txBody>
      </p:sp>
      <p:sp>
        <p:nvSpPr>
          <p:cNvPr name="TextBox 15" id="15"/>
          <p:cNvSpPr txBox="true"/>
          <p:nvPr/>
        </p:nvSpPr>
        <p:spPr>
          <a:xfrm rot="0">
            <a:off x="8236645" y="2175435"/>
            <a:ext cx="1683043" cy="480060"/>
          </a:xfrm>
          <a:prstGeom prst="rect">
            <a:avLst/>
          </a:prstGeom>
        </p:spPr>
        <p:txBody>
          <a:bodyPr anchor="t" rtlCol="false" tIns="0" lIns="0" bIns="0" rIns="0">
            <a:spAutoFit/>
          </a:bodyPr>
          <a:lstStyle/>
          <a:p>
            <a:pPr algn="r">
              <a:lnSpc>
                <a:spcPts val="3630"/>
              </a:lnSpc>
            </a:pPr>
            <a:r>
              <a:rPr lang="en-US" b="true" sz="3300" spc="105">
                <a:solidFill>
                  <a:srgbClr val="000000"/>
                </a:solidFill>
                <a:latin typeface="Open Sauce Bold"/>
                <a:ea typeface="Open Sauce Bold"/>
                <a:cs typeface="Open Sauce Bold"/>
                <a:sym typeface="Open Sauce Bold"/>
              </a:rPr>
              <a:t>Bytes</a:t>
            </a:r>
          </a:p>
        </p:txBody>
      </p:sp>
      <p:sp>
        <p:nvSpPr>
          <p:cNvPr name="TextBox 16" id="16"/>
          <p:cNvSpPr txBox="true"/>
          <p:nvPr/>
        </p:nvSpPr>
        <p:spPr>
          <a:xfrm rot="0">
            <a:off x="11943927" y="6989599"/>
            <a:ext cx="4458159" cy="1394460"/>
          </a:xfrm>
          <a:prstGeom prst="rect">
            <a:avLst/>
          </a:prstGeom>
        </p:spPr>
        <p:txBody>
          <a:bodyPr anchor="t" rtlCol="false" tIns="0" lIns="0" bIns="0" rIns="0">
            <a:spAutoFit/>
          </a:bodyPr>
          <a:lstStyle/>
          <a:p>
            <a:pPr algn="ctr">
              <a:lnSpc>
                <a:spcPts val="3630"/>
              </a:lnSpc>
            </a:pPr>
            <a:r>
              <a:rPr lang="en-US" b="true" sz="3300" spc="105">
                <a:solidFill>
                  <a:srgbClr val="000000"/>
                </a:solidFill>
                <a:latin typeface="Open Sauce Bold"/>
                <a:ea typeface="Open Sauce Bold"/>
                <a:cs typeface="Open Sauce Bold"/>
                <a:sym typeface="Open Sauce Bold"/>
              </a:rPr>
              <a:t>Each byte is an integer in the range 0-255 </a:t>
            </a:r>
          </a:p>
        </p:txBody>
      </p:sp>
      <p:sp>
        <p:nvSpPr>
          <p:cNvPr name="TextBox 17" id="17"/>
          <p:cNvSpPr txBox="true"/>
          <p:nvPr/>
        </p:nvSpPr>
        <p:spPr>
          <a:xfrm rot="0">
            <a:off x="1898926" y="7196118"/>
            <a:ext cx="4586108" cy="937260"/>
          </a:xfrm>
          <a:prstGeom prst="rect">
            <a:avLst/>
          </a:prstGeom>
        </p:spPr>
        <p:txBody>
          <a:bodyPr anchor="t" rtlCol="false" tIns="0" lIns="0" bIns="0" rIns="0">
            <a:spAutoFit/>
          </a:bodyPr>
          <a:lstStyle/>
          <a:p>
            <a:pPr algn="l">
              <a:lnSpc>
                <a:spcPts val="3630"/>
              </a:lnSpc>
            </a:pPr>
            <a:r>
              <a:rPr lang="en-US" sz="3300" spc="105" b="true">
                <a:solidFill>
                  <a:srgbClr val="000000"/>
                </a:solidFill>
                <a:latin typeface="Open Sauce Bold"/>
                <a:ea typeface="Open Sauce Bold"/>
                <a:cs typeface="Open Sauce Bold"/>
                <a:sym typeface="Open Sauce Bold"/>
              </a:rPr>
              <a:t>Ordered, immutable</a:t>
            </a:r>
          </a:p>
          <a:p>
            <a:pPr algn="l">
              <a:lnSpc>
                <a:spcPts val="3630"/>
              </a:lnSpc>
            </a:pPr>
            <a:r>
              <a:rPr lang="en-US" sz="3300" spc="105" b="true">
                <a:solidFill>
                  <a:srgbClr val="000000"/>
                </a:solidFill>
                <a:latin typeface="Open Sauce Bold"/>
                <a:ea typeface="Open Sauce Bold"/>
                <a:cs typeface="Open Sauce Bold"/>
                <a:sym typeface="Open Sauce Bold"/>
              </a:rPr>
              <a:t>sequence of bytes</a:t>
            </a:r>
          </a:p>
        </p:txBody>
      </p:sp>
      <p:sp>
        <p:nvSpPr>
          <p:cNvPr name="Freeform 18" id="18"/>
          <p:cNvSpPr/>
          <p:nvPr/>
        </p:nvSpPr>
        <p:spPr>
          <a:xfrm flipH="false" flipV="false" rot="0">
            <a:off x="-331769" y="-609444"/>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5">
              <a:alphaModFix amt="37000"/>
            </a:blip>
            <a:stretch>
              <a:fillRect l="0" t="0" r="0" b="0"/>
            </a:stretch>
          </a:blipFill>
        </p:spPr>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8100000">
            <a:off x="-5281063" y="-2431920"/>
            <a:ext cx="16893429" cy="10074627"/>
          </a:xfrm>
          <a:custGeom>
            <a:avLst/>
            <a:gdLst/>
            <a:ahLst/>
            <a:cxnLst/>
            <a:rect r="r" b="b" t="t" l="l"/>
            <a:pathLst>
              <a:path h="10074627" w="16893429">
                <a:moveTo>
                  <a:pt x="0" y="0"/>
                </a:moveTo>
                <a:lnTo>
                  <a:pt x="16893430" y="0"/>
                </a:lnTo>
                <a:lnTo>
                  <a:pt x="16893430" y="10074627"/>
                </a:lnTo>
                <a:lnTo>
                  <a:pt x="0" y="100746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66398" y="1333975"/>
            <a:ext cx="15433919" cy="7619050"/>
            <a:chOff x="0" y="0"/>
            <a:chExt cx="4064900" cy="2006663"/>
          </a:xfrm>
        </p:grpSpPr>
        <p:sp>
          <p:nvSpPr>
            <p:cNvPr name="Freeform 4" id="4"/>
            <p:cNvSpPr/>
            <p:nvPr/>
          </p:nvSpPr>
          <p:spPr>
            <a:xfrm flipH="false" flipV="false" rot="0">
              <a:off x="0" y="0"/>
              <a:ext cx="4064900" cy="2006663"/>
            </a:xfrm>
            <a:custGeom>
              <a:avLst/>
              <a:gdLst/>
              <a:ahLst/>
              <a:cxnLst/>
              <a:rect r="r" b="b" t="t" l="l"/>
              <a:pathLst>
                <a:path h="2006663" w="4064900">
                  <a:moveTo>
                    <a:pt x="0" y="0"/>
                  </a:moveTo>
                  <a:lnTo>
                    <a:pt x="4064900" y="0"/>
                  </a:lnTo>
                  <a:lnTo>
                    <a:pt x="4064900" y="2006663"/>
                  </a:lnTo>
                  <a:lnTo>
                    <a:pt x="0" y="200666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64900" cy="2035238"/>
            </a:xfrm>
            <a:prstGeom prst="rect">
              <a:avLst/>
            </a:prstGeom>
          </p:spPr>
          <p:txBody>
            <a:bodyPr anchor="ctr" rtlCol="false" tIns="50800" lIns="50800" bIns="50800" rIns="50800"/>
            <a:lstStyle/>
            <a:p>
              <a:pPr algn="ctr">
                <a:lnSpc>
                  <a:spcPts val="1869"/>
                </a:lnSpc>
              </a:pPr>
            </a:p>
          </p:txBody>
        </p:sp>
      </p:grpSp>
      <p:sp>
        <p:nvSpPr>
          <p:cNvPr name="TextBox 6" id="6"/>
          <p:cNvSpPr txBox="true"/>
          <p:nvPr/>
        </p:nvSpPr>
        <p:spPr>
          <a:xfrm rot="0">
            <a:off x="2226667" y="3941289"/>
            <a:ext cx="13834665" cy="3009900"/>
          </a:xfrm>
          <a:prstGeom prst="rect">
            <a:avLst/>
          </a:prstGeom>
        </p:spPr>
        <p:txBody>
          <a:bodyPr anchor="t" rtlCol="false" tIns="0" lIns="0" bIns="0" rIns="0">
            <a:spAutoFit/>
          </a:bodyPr>
          <a:lstStyle/>
          <a:p>
            <a:pPr algn="ctr">
              <a:lnSpc>
                <a:spcPts val="7920"/>
              </a:lnSpc>
            </a:pPr>
            <a:r>
              <a:rPr lang="en-US" sz="6600">
                <a:solidFill>
                  <a:srgbClr val="000000"/>
                </a:solidFill>
                <a:latin typeface="Open Sauce"/>
                <a:ea typeface="Open Sauce"/>
                <a:cs typeface="Open Sauce"/>
                <a:sym typeface="Open Sauce"/>
              </a:rPr>
              <a:t>These fundamental data types are the building blocks for more complex data structures</a:t>
            </a:r>
          </a:p>
        </p:txBody>
      </p:sp>
      <p:sp>
        <p:nvSpPr>
          <p:cNvPr name="Freeform 7" id="7"/>
          <p:cNvSpPr/>
          <p:nvPr/>
        </p:nvSpPr>
        <p:spPr>
          <a:xfrm flipH="false" flipV="false" rot="0">
            <a:off x="14514834" y="-538303"/>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4">
              <a:alphaModFix amt="37000"/>
            </a:blip>
            <a:stretch>
              <a:fillRect l="0" t="0" r="0" b="0"/>
            </a:stretch>
          </a:blipFill>
        </p:spPr>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8100000">
            <a:off x="-5281063" y="-2431920"/>
            <a:ext cx="16893429" cy="10074627"/>
          </a:xfrm>
          <a:custGeom>
            <a:avLst/>
            <a:gdLst/>
            <a:ahLst/>
            <a:cxnLst/>
            <a:rect r="r" b="b" t="t" l="l"/>
            <a:pathLst>
              <a:path h="10074627" w="16893429">
                <a:moveTo>
                  <a:pt x="0" y="0"/>
                </a:moveTo>
                <a:lnTo>
                  <a:pt x="16893430" y="0"/>
                </a:lnTo>
                <a:lnTo>
                  <a:pt x="16893430" y="10074627"/>
                </a:lnTo>
                <a:lnTo>
                  <a:pt x="0" y="100746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66398" y="1333975"/>
            <a:ext cx="15433919" cy="7619050"/>
            <a:chOff x="0" y="0"/>
            <a:chExt cx="4064900" cy="2006663"/>
          </a:xfrm>
        </p:grpSpPr>
        <p:sp>
          <p:nvSpPr>
            <p:cNvPr name="Freeform 4" id="4"/>
            <p:cNvSpPr/>
            <p:nvPr/>
          </p:nvSpPr>
          <p:spPr>
            <a:xfrm flipH="false" flipV="false" rot="0">
              <a:off x="0" y="0"/>
              <a:ext cx="4064900" cy="2006663"/>
            </a:xfrm>
            <a:custGeom>
              <a:avLst/>
              <a:gdLst/>
              <a:ahLst/>
              <a:cxnLst/>
              <a:rect r="r" b="b" t="t" l="l"/>
              <a:pathLst>
                <a:path h="2006663" w="4064900">
                  <a:moveTo>
                    <a:pt x="0" y="0"/>
                  </a:moveTo>
                  <a:lnTo>
                    <a:pt x="4064900" y="0"/>
                  </a:lnTo>
                  <a:lnTo>
                    <a:pt x="4064900" y="2006663"/>
                  </a:lnTo>
                  <a:lnTo>
                    <a:pt x="0" y="200666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64900" cy="2035238"/>
            </a:xfrm>
            <a:prstGeom prst="rect">
              <a:avLst/>
            </a:prstGeom>
          </p:spPr>
          <p:txBody>
            <a:bodyPr anchor="ctr" rtlCol="false" tIns="50800" lIns="50800" bIns="50800" rIns="50800"/>
            <a:lstStyle/>
            <a:p>
              <a:pPr algn="ctr">
                <a:lnSpc>
                  <a:spcPts val="1869"/>
                </a:lnSpc>
              </a:pPr>
            </a:p>
          </p:txBody>
        </p:sp>
      </p:grpSp>
      <p:sp>
        <p:nvSpPr>
          <p:cNvPr name="TextBox 6" id="6"/>
          <p:cNvSpPr txBox="true"/>
          <p:nvPr/>
        </p:nvSpPr>
        <p:spPr>
          <a:xfrm rot="0">
            <a:off x="2226667" y="3941289"/>
            <a:ext cx="13834665" cy="4010025"/>
          </a:xfrm>
          <a:prstGeom prst="rect">
            <a:avLst/>
          </a:prstGeom>
        </p:spPr>
        <p:txBody>
          <a:bodyPr anchor="t" rtlCol="false" tIns="0" lIns="0" bIns="0" rIns="0">
            <a:spAutoFit/>
          </a:bodyPr>
          <a:lstStyle/>
          <a:p>
            <a:pPr algn="ctr">
              <a:lnSpc>
                <a:spcPts val="7920"/>
              </a:lnSpc>
            </a:pPr>
            <a:r>
              <a:rPr lang="en-US" sz="6600">
                <a:solidFill>
                  <a:srgbClr val="000000"/>
                </a:solidFill>
                <a:latin typeface="Open Sauce"/>
                <a:ea typeface="Open Sauce"/>
                <a:cs typeface="Open Sauce"/>
                <a:sym typeface="Open Sauce"/>
              </a:rPr>
              <a:t>If 1 is an int how could we make it a float - casting?</a:t>
            </a:r>
          </a:p>
          <a:p>
            <a:pPr algn="ctr">
              <a:lnSpc>
                <a:spcPts val="7920"/>
              </a:lnSpc>
            </a:pPr>
          </a:p>
          <a:p>
            <a:pPr algn="ctr">
              <a:lnSpc>
                <a:spcPts val="7920"/>
              </a:lnSpc>
            </a:pPr>
          </a:p>
        </p:txBody>
      </p:sp>
      <p:sp>
        <p:nvSpPr>
          <p:cNvPr name="Freeform 7" id="7"/>
          <p:cNvSpPr/>
          <p:nvPr/>
        </p:nvSpPr>
        <p:spPr>
          <a:xfrm flipH="false" flipV="false" rot="0">
            <a:off x="14422950" y="-524074"/>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4">
              <a:alphaModFix amt="37000"/>
            </a:blip>
            <a:stretch>
              <a:fillRect l="0" t="0" r="0" b="0"/>
            </a:stretch>
          </a:blipFill>
        </p:spPr>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8100000">
            <a:off x="-5281063" y="-2431920"/>
            <a:ext cx="16893429" cy="10074627"/>
          </a:xfrm>
          <a:custGeom>
            <a:avLst/>
            <a:gdLst/>
            <a:ahLst/>
            <a:cxnLst/>
            <a:rect r="r" b="b" t="t" l="l"/>
            <a:pathLst>
              <a:path h="10074627" w="16893429">
                <a:moveTo>
                  <a:pt x="0" y="0"/>
                </a:moveTo>
                <a:lnTo>
                  <a:pt x="16893430" y="0"/>
                </a:lnTo>
                <a:lnTo>
                  <a:pt x="16893430" y="10074627"/>
                </a:lnTo>
                <a:lnTo>
                  <a:pt x="0" y="100746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66398" y="1333975"/>
            <a:ext cx="15433919" cy="7619050"/>
            <a:chOff x="0" y="0"/>
            <a:chExt cx="4064900" cy="2006663"/>
          </a:xfrm>
        </p:grpSpPr>
        <p:sp>
          <p:nvSpPr>
            <p:cNvPr name="Freeform 4" id="4"/>
            <p:cNvSpPr/>
            <p:nvPr/>
          </p:nvSpPr>
          <p:spPr>
            <a:xfrm flipH="false" flipV="false" rot="0">
              <a:off x="0" y="0"/>
              <a:ext cx="4064900" cy="2006663"/>
            </a:xfrm>
            <a:custGeom>
              <a:avLst/>
              <a:gdLst/>
              <a:ahLst/>
              <a:cxnLst/>
              <a:rect r="r" b="b" t="t" l="l"/>
              <a:pathLst>
                <a:path h="2006663" w="4064900">
                  <a:moveTo>
                    <a:pt x="0" y="0"/>
                  </a:moveTo>
                  <a:lnTo>
                    <a:pt x="4064900" y="0"/>
                  </a:lnTo>
                  <a:lnTo>
                    <a:pt x="4064900" y="2006663"/>
                  </a:lnTo>
                  <a:lnTo>
                    <a:pt x="0" y="200666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64900" cy="2035238"/>
            </a:xfrm>
            <a:prstGeom prst="rect">
              <a:avLst/>
            </a:prstGeom>
          </p:spPr>
          <p:txBody>
            <a:bodyPr anchor="ctr" rtlCol="false" tIns="50800" lIns="50800" bIns="50800" rIns="50800"/>
            <a:lstStyle/>
            <a:p>
              <a:pPr algn="ctr">
                <a:lnSpc>
                  <a:spcPts val="1869"/>
                </a:lnSpc>
              </a:pPr>
            </a:p>
          </p:txBody>
        </p:sp>
      </p:grpSp>
      <p:sp>
        <p:nvSpPr>
          <p:cNvPr name="TextBox 6" id="6"/>
          <p:cNvSpPr txBox="true"/>
          <p:nvPr/>
        </p:nvSpPr>
        <p:spPr>
          <a:xfrm rot="0">
            <a:off x="2226667" y="3941289"/>
            <a:ext cx="13834665" cy="3009900"/>
          </a:xfrm>
          <a:prstGeom prst="rect">
            <a:avLst/>
          </a:prstGeom>
        </p:spPr>
        <p:txBody>
          <a:bodyPr anchor="t" rtlCol="false" tIns="0" lIns="0" bIns="0" rIns="0">
            <a:spAutoFit/>
          </a:bodyPr>
          <a:lstStyle/>
          <a:p>
            <a:pPr algn="ctr">
              <a:lnSpc>
                <a:spcPts val="7920"/>
              </a:lnSpc>
            </a:pPr>
            <a:r>
              <a:rPr lang="en-US" sz="6600">
                <a:solidFill>
                  <a:srgbClr val="000000"/>
                </a:solidFill>
                <a:latin typeface="Open Sauce"/>
                <a:ea typeface="Open Sauce"/>
                <a:cs typeface="Open Sauce"/>
                <a:sym typeface="Open Sauce"/>
              </a:rPr>
              <a:t>Use + operator on 2 different</a:t>
            </a:r>
            <a:r>
              <a:rPr lang="en-US" sz="6600">
                <a:solidFill>
                  <a:srgbClr val="000000"/>
                </a:solidFill>
                <a:latin typeface="Open Sauce"/>
                <a:ea typeface="Open Sauce"/>
                <a:cs typeface="Open Sauce"/>
                <a:sym typeface="Open Sauce"/>
              </a:rPr>
              <a:t> data types - is there an error? what does this tell you?</a:t>
            </a:r>
          </a:p>
        </p:txBody>
      </p:sp>
      <p:sp>
        <p:nvSpPr>
          <p:cNvPr name="Freeform 7" id="7"/>
          <p:cNvSpPr/>
          <p:nvPr/>
        </p:nvSpPr>
        <p:spPr>
          <a:xfrm flipH="false" flipV="false" rot="0">
            <a:off x="14451407" y="-623672"/>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4">
              <a:alphaModFix amt="37000"/>
            </a:blip>
            <a:stretch>
              <a:fillRect l="0" t="0" r="0" b="0"/>
            </a:stretch>
          </a:blipFill>
        </p:spPr>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5015114">
            <a:off x="9740863" y="2343404"/>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86315" y="1566622"/>
            <a:ext cx="17315370" cy="7619050"/>
            <a:chOff x="0" y="0"/>
            <a:chExt cx="4560427" cy="2006663"/>
          </a:xfrm>
        </p:grpSpPr>
        <p:sp>
          <p:nvSpPr>
            <p:cNvPr name="Freeform 4" id="4">
              <a:hlinkClick r:id="rId4" tooltip="https://peps.python.org/pep-0008/"/>
            </p:cNvPr>
            <p:cNvSpPr/>
            <p:nvPr/>
          </p:nvSpPr>
          <p:spPr>
            <a:xfrm flipH="false" flipV="false" rot="0">
              <a:off x="0" y="0"/>
              <a:ext cx="4560427" cy="2006663"/>
            </a:xfrm>
            <a:custGeom>
              <a:avLst/>
              <a:gdLst/>
              <a:ahLst/>
              <a:cxnLst/>
              <a:rect r="r" b="b" t="t" l="l"/>
              <a:pathLst>
                <a:path h="2006663" w="4560427">
                  <a:moveTo>
                    <a:pt x="0" y="0"/>
                  </a:moveTo>
                  <a:lnTo>
                    <a:pt x="4560427" y="0"/>
                  </a:lnTo>
                  <a:lnTo>
                    <a:pt x="4560427" y="2006663"/>
                  </a:lnTo>
                  <a:lnTo>
                    <a:pt x="0" y="200666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560427" cy="2035238"/>
            </a:xfrm>
            <a:prstGeom prst="rect">
              <a:avLst/>
            </a:prstGeom>
          </p:spPr>
          <p:txBody>
            <a:bodyPr anchor="ctr" rtlCol="false" tIns="50800" lIns="50800" bIns="50800" rIns="50800"/>
            <a:lstStyle/>
            <a:p>
              <a:pPr algn="ctr">
                <a:lnSpc>
                  <a:spcPts val="1869"/>
                </a:lnSpc>
              </a:pPr>
            </a:p>
          </p:txBody>
        </p:sp>
      </p:grpSp>
      <p:sp>
        <p:nvSpPr>
          <p:cNvPr name="AutoShape 6" id="6"/>
          <p:cNvSpPr/>
          <p:nvPr/>
        </p:nvSpPr>
        <p:spPr>
          <a:xfrm flipV="true">
            <a:off x="3163511" y="5340142"/>
            <a:ext cx="11464743" cy="36005"/>
          </a:xfrm>
          <a:prstGeom prst="line">
            <a:avLst/>
          </a:prstGeom>
          <a:ln cap="flat" w="38100">
            <a:solidFill>
              <a:srgbClr val="192253"/>
            </a:solidFill>
            <a:prstDash val="solid"/>
            <a:headEnd type="none" len="sm" w="sm"/>
            <a:tailEnd type="none" len="sm" w="sm"/>
          </a:ln>
        </p:spPr>
      </p:sp>
      <p:grpSp>
        <p:nvGrpSpPr>
          <p:cNvPr name="Group 7" id="7"/>
          <p:cNvGrpSpPr>
            <a:grpSpLocks noChangeAspect="true"/>
          </p:cNvGrpSpPr>
          <p:nvPr/>
        </p:nvGrpSpPr>
        <p:grpSpPr>
          <a:xfrm rot="5400000">
            <a:off x="14628253" y="5143500"/>
            <a:ext cx="392053" cy="392053"/>
            <a:chOff x="6705600" y="1371600"/>
            <a:chExt cx="10972800" cy="10972800"/>
          </a:xfrm>
        </p:grpSpPr>
        <p:sp>
          <p:nvSpPr>
            <p:cNvPr name="Freeform 8" id="8"/>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9" id="9"/>
          <p:cNvGrpSpPr>
            <a:grpSpLocks noChangeAspect="true"/>
          </p:cNvGrpSpPr>
          <p:nvPr/>
        </p:nvGrpSpPr>
        <p:grpSpPr>
          <a:xfrm rot="5400000">
            <a:off x="7782369" y="5143500"/>
            <a:ext cx="465293" cy="465293"/>
            <a:chOff x="6705600" y="1371600"/>
            <a:chExt cx="10972800" cy="10972800"/>
          </a:xfrm>
        </p:grpSpPr>
        <p:sp>
          <p:nvSpPr>
            <p:cNvPr name="Freeform 10" id="10"/>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11" id="11"/>
          <p:cNvGrpSpPr>
            <a:grpSpLocks noChangeAspect="true"/>
          </p:cNvGrpSpPr>
          <p:nvPr/>
        </p:nvGrpSpPr>
        <p:grpSpPr>
          <a:xfrm rot="5400000">
            <a:off x="3163511" y="5180120"/>
            <a:ext cx="392053" cy="392053"/>
            <a:chOff x="6705600" y="1371600"/>
            <a:chExt cx="10972800" cy="10972800"/>
          </a:xfrm>
        </p:grpSpPr>
        <p:sp>
          <p:nvSpPr>
            <p:cNvPr name="Freeform 12" id="12"/>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sp>
        <p:nvSpPr>
          <p:cNvPr name="Freeform 13" id="13">
            <a:hlinkClick r:id="rId6" tooltip="https://peps.python.org/pep-0008/"/>
          </p:cNvPr>
          <p:cNvSpPr/>
          <p:nvPr/>
        </p:nvSpPr>
        <p:spPr>
          <a:xfrm flipH="false" flipV="false" rot="0">
            <a:off x="1891634" y="3456650"/>
            <a:ext cx="14330552" cy="1324900"/>
          </a:xfrm>
          <a:custGeom>
            <a:avLst/>
            <a:gdLst/>
            <a:ahLst/>
            <a:cxnLst/>
            <a:rect r="r" b="b" t="t" l="l"/>
            <a:pathLst>
              <a:path h="1324900" w="14330552">
                <a:moveTo>
                  <a:pt x="0" y="0"/>
                </a:moveTo>
                <a:lnTo>
                  <a:pt x="14330552" y="0"/>
                </a:lnTo>
                <a:lnTo>
                  <a:pt x="14330552" y="1324900"/>
                </a:lnTo>
                <a:lnTo>
                  <a:pt x="0" y="1324900"/>
                </a:lnTo>
                <a:lnTo>
                  <a:pt x="0" y="0"/>
                </a:lnTo>
                <a:close/>
              </a:path>
            </a:pathLst>
          </a:custGeom>
          <a:blipFill>
            <a:blip r:embed="rId5"/>
            <a:stretch>
              <a:fillRect l="0" t="0" r="0" b="0"/>
            </a:stretch>
          </a:blipFill>
        </p:spPr>
      </p:sp>
      <p:sp>
        <p:nvSpPr>
          <p:cNvPr name="TextBox 14" id="14"/>
          <p:cNvSpPr txBox="true"/>
          <p:nvPr/>
        </p:nvSpPr>
        <p:spPr>
          <a:xfrm rot="0">
            <a:off x="6178523" y="5760858"/>
            <a:ext cx="3207692" cy="13944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good variable naming/ commenting</a:t>
            </a:r>
          </a:p>
        </p:txBody>
      </p:sp>
      <p:sp>
        <p:nvSpPr>
          <p:cNvPr name="TextBox 15" id="15"/>
          <p:cNvSpPr txBox="true"/>
          <p:nvPr/>
        </p:nvSpPr>
        <p:spPr>
          <a:xfrm rot="0">
            <a:off x="1891634" y="5911803"/>
            <a:ext cx="5260448"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Bold"/>
                <a:ea typeface="Open Sauce Bold"/>
                <a:cs typeface="Open Sauce Bold"/>
                <a:sym typeface="Open Sauce Bold"/>
              </a:rPr>
              <a:t>f-string</a:t>
            </a:r>
          </a:p>
        </p:txBody>
      </p:sp>
      <p:sp>
        <p:nvSpPr>
          <p:cNvPr name="TextBox 16" id="16"/>
          <p:cNvSpPr txBox="true"/>
          <p:nvPr/>
        </p:nvSpPr>
        <p:spPr>
          <a:xfrm rot="0">
            <a:off x="5995233" y="7412493"/>
            <a:ext cx="4933876" cy="700669"/>
          </a:xfrm>
          <a:prstGeom prst="rect">
            <a:avLst/>
          </a:prstGeom>
        </p:spPr>
        <p:txBody>
          <a:bodyPr anchor="t" rtlCol="false" tIns="0" lIns="0" bIns="0" rIns="0">
            <a:spAutoFit/>
          </a:bodyPr>
          <a:lstStyle/>
          <a:p>
            <a:pPr algn="l">
              <a:lnSpc>
                <a:spcPts val="1911"/>
              </a:lnSpc>
            </a:pPr>
            <a:r>
              <a:rPr lang="en-US" sz="1300">
                <a:solidFill>
                  <a:srgbClr val="000000"/>
                </a:solidFill>
                <a:latin typeface="Open Sauce Light"/>
                <a:ea typeface="Open Sauce Light"/>
                <a:cs typeface="Open Sauce Light"/>
                <a:sym typeface="Open Sauce Light"/>
              </a:rPr>
              <a:t>Go Good enough variable names limit the number of comments needed - these can be saved for reasoning behind the code</a:t>
            </a:r>
          </a:p>
        </p:txBody>
      </p:sp>
      <p:sp>
        <p:nvSpPr>
          <p:cNvPr name="TextBox 17" id="17"/>
          <p:cNvSpPr txBox="true"/>
          <p:nvPr/>
        </p:nvSpPr>
        <p:spPr>
          <a:xfrm rot="0">
            <a:off x="11186193" y="5713696"/>
            <a:ext cx="6073107" cy="885798"/>
          </a:xfrm>
          <a:prstGeom prst="rect">
            <a:avLst/>
          </a:prstGeom>
        </p:spPr>
        <p:txBody>
          <a:bodyPr anchor="t" rtlCol="false" tIns="0" lIns="0" bIns="0" rIns="0">
            <a:spAutoFit/>
          </a:bodyPr>
          <a:lstStyle/>
          <a:p>
            <a:pPr algn="just">
              <a:lnSpc>
                <a:spcPts val="3470"/>
              </a:lnSpc>
            </a:pPr>
            <a:r>
              <a:rPr lang="en-US" b="true" sz="3155" spc="100">
                <a:solidFill>
                  <a:srgbClr val="000000"/>
                </a:solidFill>
                <a:latin typeface="Open Sauce Medium"/>
                <a:ea typeface="Open Sauce Medium"/>
                <a:cs typeface="Open Sauce Medium"/>
                <a:sym typeface="Open Sauce Medium"/>
              </a:rPr>
              <a:t>refer to the documentation + Google is your friend</a:t>
            </a:r>
          </a:p>
        </p:txBody>
      </p:sp>
      <p:sp>
        <p:nvSpPr>
          <p:cNvPr name="TextBox 18" id="18"/>
          <p:cNvSpPr txBox="true"/>
          <p:nvPr/>
        </p:nvSpPr>
        <p:spPr>
          <a:xfrm rot="0">
            <a:off x="11270929" y="7007695"/>
            <a:ext cx="6714650" cy="380438"/>
          </a:xfrm>
          <a:prstGeom prst="rect">
            <a:avLst/>
          </a:prstGeom>
        </p:spPr>
        <p:txBody>
          <a:bodyPr anchor="t" rtlCol="false" tIns="0" lIns="0" bIns="0" rIns="0">
            <a:spAutoFit/>
          </a:bodyPr>
          <a:lstStyle/>
          <a:p>
            <a:pPr algn="l">
              <a:lnSpc>
                <a:spcPts val="3290"/>
              </a:lnSpc>
            </a:pPr>
            <a:r>
              <a:rPr lang="en-US" sz="2238">
                <a:solidFill>
                  <a:srgbClr val="000000"/>
                </a:solidFill>
                <a:latin typeface="Open Sauce Light"/>
                <a:ea typeface="Open Sauce Light"/>
                <a:cs typeface="Open Sauce Light"/>
                <a:sym typeface="Open Sauce Light"/>
              </a:rPr>
              <a:t>https://doc.pypy.org/en/latest/</a:t>
            </a:r>
          </a:p>
        </p:txBody>
      </p:sp>
      <p:sp>
        <p:nvSpPr>
          <p:cNvPr name="TextBox 19" id="19"/>
          <p:cNvSpPr txBox="true"/>
          <p:nvPr/>
        </p:nvSpPr>
        <p:spPr>
          <a:xfrm rot="0">
            <a:off x="1028700" y="6674343"/>
            <a:ext cx="6986316" cy="247269"/>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A method to concatonate variables and  strings </a:t>
            </a:r>
          </a:p>
        </p:txBody>
      </p:sp>
      <p:sp>
        <p:nvSpPr>
          <p:cNvPr name="Freeform 20" id="20"/>
          <p:cNvSpPr/>
          <p:nvPr/>
        </p:nvSpPr>
        <p:spPr>
          <a:xfrm flipH="false" flipV="false" rot="0">
            <a:off x="-331769" y="-609444"/>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7">
              <a:alphaModFix amt="37000"/>
            </a:blip>
            <a:stretch>
              <a:fillRect l="0" t="0" r="0" b="0"/>
            </a:stretch>
          </a:blipFill>
        </p:spPr>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2923865">
            <a:off x="-2984685" y="1184351"/>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5400000">
            <a:off x="8046708" y="385825"/>
            <a:ext cx="11245538" cy="9778557"/>
            <a:chOff x="0" y="0"/>
            <a:chExt cx="2961788" cy="2575423"/>
          </a:xfrm>
        </p:grpSpPr>
        <p:sp>
          <p:nvSpPr>
            <p:cNvPr name="Freeform 4" id="4"/>
            <p:cNvSpPr/>
            <p:nvPr/>
          </p:nvSpPr>
          <p:spPr>
            <a:xfrm flipH="false" flipV="false" rot="0">
              <a:off x="0" y="0"/>
              <a:ext cx="2961788" cy="2575422"/>
            </a:xfrm>
            <a:custGeom>
              <a:avLst/>
              <a:gdLst/>
              <a:ahLst/>
              <a:cxnLst/>
              <a:rect r="r" b="b" t="t" l="l"/>
              <a:pathLst>
                <a:path h="2575422" w="2961788">
                  <a:moveTo>
                    <a:pt x="0" y="0"/>
                  </a:moveTo>
                  <a:lnTo>
                    <a:pt x="2961788" y="0"/>
                  </a:lnTo>
                  <a:lnTo>
                    <a:pt x="2961788" y="2575422"/>
                  </a:lnTo>
                  <a:lnTo>
                    <a:pt x="0" y="2575422"/>
                  </a:lnTo>
                  <a:close/>
                </a:path>
              </a:pathLst>
            </a:custGeom>
            <a:solidFill>
              <a:srgbClr val="192253"/>
            </a:solidFill>
          </p:spPr>
        </p:sp>
        <p:sp>
          <p:nvSpPr>
            <p:cNvPr name="TextBox 5" id="5"/>
            <p:cNvSpPr txBox="true"/>
            <p:nvPr/>
          </p:nvSpPr>
          <p:spPr>
            <a:xfrm>
              <a:off x="0" y="-28575"/>
              <a:ext cx="2961788" cy="2603998"/>
            </a:xfrm>
            <a:prstGeom prst="rect">
              <a:avLst/>
            </a:prstGeom>
          </p:spPr>
          <p:txBody>
            <a:bodyPr anchor="ctr" rtlCol="false" tIns="50800" lIns="50800" bIns="50800" rIns="50800"/>
            <a:lstStyle/>
            <a:p>
              <a:pPr algn="ctr">
                <a:lnSpc>
                  <a:spcPts val="1869"/>
                </a:lnSpc>
              </a:pPr>
            </a:p>
          </p:txBody>
        </p:sp>
      </p:grpSp>
      <p:sp>
        <p:nvSpPr>
          <p:cNvPr name="AutoShape 6" id="6"/>
          <p:cNvSpPr/>
          <p:nvPr/>
        </p:nvSpPr>
        <p:spPr>
          <a:xfrm flipH="true" flipV="true">
            <a:off x="-488525" y="8289279"/>
            <a:ext cx="15156557" cy="0"/>
          </a:xfrm>
          <a:prstGeom prst="line">
            <a:avLst/>
          </a:prstGeom>
          <a:ln cap="flat" w="76200">
            <a:solidFill>
              <a:srgbClr val="C23A97"/>
            </a:solidFill>
            <a:prstDash val="solid"/>
            <a:headEnd type="none" len="sm" w="sm"/>
            <a:tailEnd type="none" len="sm" w="sm"/>
          </a:ln>
        </p:spPr>
      </p:sp>
      <p:sp>
        <p:nvSpPr>
          <p:cNvPr name="AutoShape 7" id="7"/>
          <p:cNvSpPr/>
          <p:nvPr/>
        </p:nvSpPr>
        <p:spPr>
          <a:xfrm flipH="true">
            <a:off x="10559239" y="2561194"/>
            <a:ext cx="8347436" cy="0"/>
          </a:xfrm>
          <a:prstGeom prst="line">
            <a:avLst/>
          </a:prstGeom>
          <a:ln cap="flat" w="76200">
            <a:solidFill>
              <a:srgbClr val="F5F5F5"/>
            </a:solidFill>
            <a:prstDash val="solid"/>
            <a:headEnd type="none" len="sm" w="sm"/>
            <a:tailEnd type="none" len="sm" w="sm"/>
          </a:ln>
        </p:spPr>
      </p:sp>
      <p:sp>
        <p:nvSpPr>
          <p:cNvPr name="TextBox 8" id="8"/>
          <p:cNvSpPr txBox="true"/>
          <p:nvPr/>
        </p:nvSpPr>
        <p:spPr>
          <a:xfrm rot="0">
            <a:off x="13669477" y="3709962"/>
            <a:ext cx="4407894" cy="1486535"/>
          </a:xfrm>
          <a:prstGeom prst="rect">
            <a:avLst/>
          </a:prstGeom>
        </p:spPr>
        <p:txBody>
          <a:bodyPr anchor="t" rtlCol="false" tIns="0" lIns="0" bIns="0" rIns="0">
            <a:spAutoFit/>
          </a:bodyPr>
          <a:lstStyle/>
          <a:p>
            <a:pPr algn="l">
              <a:lnSpc>
                <a:spcPts val="5830"/>
              </a:lnSpc>
            </a:pPr>
            <a:r>
              <a:rPr lang="en-US" sz="5300" spc="169" b="true">
                <a:solidFill>
                  <a:srgbClr val="FFFFFF"/>
                </a:solidFill>
                <a:latin typeface="Open Sauce Bold"/>
                <a:ea typeface="Open Sauce Bold"/>
                <a:cs typeface="Open Sauce Bold"/>
                <a:sym typeface="Open Sauce Bold"/>
              </a:rPr>
              <a:t>Collections data types</a:t>
            </a:r>
          </a:p>
        </p:txBody>
      </p:sp>
      <p:sp>
        <p:nvSpPr>
          <p:cNvPr name="Freeform 9" id="9"/>
          <p:cNvSpPr/>
          <p:nvPr/>
        </p:nvSpPr>
        <p:spPr>
          <a:xfrm flipH="false" flipV="false" rot="0">
            <a:off x="14457928" y="-489948"/>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4">
              <a:alphaModFix amt="37000"/>
            </a:blip>
            <a:stretch>
              <a:fillRect l="0" t="0" r="0" b="0"/>
            </a:stretch>
          </a:blipFill>
        </p:spPr>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8100000">
            <a:off x="-5281063" y="-2431920"/>
            <a:ext cx="16893429" cy="10074627"/>
          </a:xfrm>
          <a:custGeom>
            <a:avLst/>
            <a:gdLst/>
            <a:ahLst/>
            <a:cxnLst/>
            <a:rect r="r" b="b" t="t" l="l"/>
            <a:pathLst>
              <a:path h="10074627" w="16893429">
                <a:moveTo>
                  <a:pt x="0" y="0"/>
                </a:moveTo>
                <a:lnTo>
                  <a:pt x="16893430" y="0"/>
                </a:lnTo>
                <a:lnTo>
                  <a:pt x="16893430" y="10074627"/>
                </a:lnTo>
                <a:lnTo>
                  <a:pt x="0" y="100746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66398" y="1333975"/>
            <a:ext cx="15433919" cy="7619050"/>
            <a:chOff x="0" y="0"/>
            <a:chExt cx="4064900" cy="2006663"/>
          </a:xfrm>
        </p:grpSpPr>
        <p:sp>
          <p:nvSpPr>
            <p:cNvPr name="Freeform 4" id="4"/>
            <p:cNvSpPr/>
            <p:nvPr/>
          </p:nvSpPr>
          <p:spPr>
            <a:xfrm flipH="false" flipV="false" rot="0">
              <a:off x="0" y="0"/>
              <a:ext cx="4064900" cy="2006663"/>
            </a:xfrm>
            <a:custGeom>
              <a:avLst/>
              <a:gdLst/>
              <a:ahLst/>
              <a:cxnLst/>
              <a:rect r="r" b="b" t="t" l="l"/>
              <a:pathLst>
                <a:path h="2006663" w="4064900">
                  <a:moveTo>
                    <a:pt x="0" y="0"/>
                  </a:moveTo>
                  <a:lnTo>
                    <a:pt x="4064900" y="0"/>
                  </a:lnTo>
                  <a:lnTo>
                    <a:pt x="4064900" y="2006663"/>
                  </a:lnTo>
                  <a:lnTo>
                    <a:pt x="0" y="200666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64900" cy="2035238"/>
            </a:xfrm>
            <a:prstGeom prst="rect">
              <a:avLst/>
            </a:prstGeom>
          </p:spPr>
          <p:txBody>
            <a:bodyPr anchor="ctr" rtlCol="false" tIns="50800" lIns="50800" bIns="50800" rIns="50800"/>
            <a:lstStyle/>
            <a:p>
              <a:pPr algn="ctr">
                <a:lnSpc>
                  <a:spcPts val="1869"/>
                </a:lnSpc>
              </a:pPr>
            </a:p>
          </p:txBody>
        </p:sp>
      </p:grpSp>
      <p:sp>
        <p:nvSpPr>
          <p:cNvPr name="TextBox 6" id="6"/>
          <p:cNvSpPr txBox="true"/>
          <p:nvPr/>
        </p:nvSpPr>
        <p:spPr>
          <a:xfrm rot="0">
            <a:off x="2226667" y="3941289"/>
            <a:ext cx="13834665" cy="2009775"/>
          </a:xfrm>
          <a:prstGeom prst="rect">
            <a:avLst/>
          </a:prstGeom>
        </p:spPr>
        <p:txBody>
          <a:bodyPr anchor="t" rtlCol="false" tIns="0" lIns="0" bIns="0" rIns="0">
            <a:spAutoFit/>
          </a:bodyPr>
          <a:lstStyle/>
          <a:p>
            <a:pPr algn="ctr">
              <a:lnSpc>
                <a:spcPts val="7920"/>
              </a:lnSpc>
            </a:pPr>
            <a:r>
              <a:rPr lang="en-US" sz="6600">
                <a:solidFill>
                  <a:srgbClr val="000000"/>
                </a:solidFill>
                <a:latin typeface="Open Sauce"/>
                <a:ea typeface="Open Sauce"/>
                <a:cs typeface="Open Sauce"/>
                <a:sym typeface="Open Sauce"/>
              </a:rPr>
              <a:t>On the board how would you code the python data collections</a:t>
            </a:r>
          </a:p>
        </p:txBody>
      </p:sp>
      <p:sp>
        <p:nvSpPr>
          <p:cNvPr name="Freeform 7" id="7"/>
          <p:cNvSpPr/>
          <p:nvPr/>
        </p:nvSpPr>
        <p:spPr>
          <a:xfrm flipH="false" flipV="false" rot="0">
            <a:off x="14220342" y="-452933"/>
            <a:ext cx="4202802" cy="2362325"/>
          </a:xfrm>
          <a:custGeom>
            <a:avLst/>
            <a:gdLst/>
            <a:ahLst/>
            <a:cxnLst/>
            <a:rect r="r" b="b" t="t" l="l"/>
            <a:pathLst>
              <a:path h="2362325" w="4202802">
                <a:moveTo>
                  <a:pt x="0" y="0"/>
                </a:moveTo>
                <a:lnTo>
                  <a:pt x="4202803" y="0"/>
                </a:lnTo>
                <a:lnTo>
                  <a:pt x="4202803" y="2362325"/>
                </a:lnTo>
                <a:lnTo>
                  <a:pt x="0" y="2362325"/>
                </a:lnTo>
                <a:lnTo>
                  <a:pt x="0" y="0"/>
                </a:lnTo>
                <a:close/>
              </a:path>
            </a:pathLst>
          </a:custGeom>
          <a:blipFill>
            <a:blip r:embed="rId4">
              <a:alphaModFix amt="37000"/>
            </a:blip>
            <a:stretch>
              <a:fillRect l="0" t="0" r="0" b="0"/>
            </a:stretch>
          </a:blipFill>
        </p:spPr>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5015114">
            <a:off x="9740863" y="2343404"/>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266567" y="1028700"/>
            <a:ext cx="15502154" cy="8665317"/>
            <a:chOff x="0" y="0"/>
            <a:chExt cx="4082872" cy="2282224"/>
          </a:xfrm>
        </p:grpSpPr>
        <p:sp>
          <p:nvSpPr>
            <p:cNvPr name="Freeform 4" id="4"/>
            <p:cNvSpPr/>
            <p:nvPr/>
          </p:nvSpPr>
          <p:spPr>
            <a:xfrm flipH="false" flipV="false" rot="0">
              <a:off x="0" y="0"/>
              <a:ext cx="4082872" cy="2282223"/>
            </a:xfrm>
            <a:custGeom>
              <a:avLst/>
              <a:gdLst/>
              <a:ahLst/>
              <a:cxnLst/>
              <a:rect r="r" b="b" t="t" l="l"/>
              <a:pathLst>
                <a:path h="2282223" w="4082872">
                  <a:moveTo>
                    <a:pt x="0" y="0"/>
                  </a:moveTo>
                  <a:lnTo>
                    <a:pt x="4082872" y="0"/>
                  </a:lnTo>
                  <a:lnTo>
                    <a:pt x="4082872" y="2282223"/>
                  </a:lnTo>
                  <a:lnTo>
                    <a:pt x="0" y="228222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82872" cy="2310799"/>
            </a:xfrm>
            <a:prstGeom prst="rect">
              <a:avLst/>
            </a:prstGeom>
          </p:spPr>
          <p:txBody>
            <a:bodyPr anchor="ctr" rtlCol="false" tIns="50800" lIns="50800" bIns="50800" rIns="50800"/>
            <a:lstStyle/>
            <a:p>
              <a:pPr algn="ctr">
                <a:lnSpc>
                  <a:spcPts val="1869"/>
                </a:lnSpc>
              </a:pPr>
            </a:p>
          </p:txBody>
        </p:sp>
      </p:grpSp>
      <p:sp>
        <p:nvSpPr>
          <p:cNvPr name="AutoShape 6" id="6"/>
          <p:cNvSpPr/>
          <p:nvPr/>
        </p:nvSpPr>
        <p:spPr>
          <a:xfrm flipV="true">
            <a:off x="3189916" y="6451217"/>
            <a:ext cx="11464743" cy="36005"/>
          </a:xfrm>
          <a:prstGeom prst="line">
            <a:avLst/>
          </a:prstGeom>
          <a:ln cap="flat" w="38100">
            <a:solidFill>
              <a:srgbClr val="192253"/>
            </a:solidFill>
            <a:prstDash val="solid"/>
            <a:headEnd type="none" len="sm" w="sm"/>
            <a:tailEnd type="none" len="sm" w="sm"/>
          </a:ln>
        </p:spPr>
      </p:sp>
      <p:grpSp>
        <p:nvGrpSpPr>
          <p:cNvPr name="Group 7" id="7"/>
          <p:cNvGrpSpPr>
            <a:grpSpLocks noChangeAspect="true"/>
          </p:cNvGrpSpPr>
          <p:nvPr/>
        </p:nvGrpSpPr>
        <p:grpSpPr>
          <a:xfrm rot="5400000">
            <a:off x="14654658" y="6254575"/>
            <a:ext cx="392053" cy="392053"/>
            <a:chOff x="6705600" y="1371600"/>
            <a:chExt cx="10972800" cy="10972800"/>
          </a:xfrm>
        </p:grpSpPr>
        <p:sp>
          <p:nvSpPr>
            <p:cNvPr name="Freeform 8" id="8"/>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9" id="9"/>
          <p:cNvGrpSpPr>
            <a:grpSpLocks noChangeAspect="true"/>
          </p:cNvGrpSpPr>
          <p:nvPr/>
        </p:nvGrpSpPr>
        <p:grpSpPr>
          <a:xfrm rot="5400000">
            <a:off x="9078166" y="6254575"/>
            <a:ext cx="465293" cy="465293"/>
            <a:chOff x="6705600" y="1371600"/>
            <a:chExt cx="10972800" cy="10972800"/>
          </a:xfrm>
        </p:grpSpPr>
        <p:sp>
          <p:nvSpPr>
            <p:cNvPr name="Freeform 10" id="10"/>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11" id="11"/>
          <p:cNvGrpSpPr>
            <a:grpSpLocks noChangeAspect="true"/>
          </p:cNvGrpSpPr>
          <p:nvPr/>
        </p:nvGrpSpPr>
        <p:grpSpPr>
          <a:xfrm rot="5400000">
            <a:off x="3189916" y="6291195"/>
            <a:ext cx="392053" cy="392053"/>
            <a:chOff x="6705600" y="1371600"/>
            <a:chExt cx="10972800" cy="10972800"/>
          </a:xfrm>
        </p:grpSpPr>
        <p:sp>
          <p:nvSpPr>
            <p:cNvPr name="Freeform 12" id="12"/>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sp>
        <p:nvSpPr>
          <p:cNvPr name="Freeform 13" id="13"/>
          <p:cNvSpPr/>
          <p:nvPr/>
        </p:nvSpPr>
        <p:spPr>
          <a:xfrm flipH="false" flipV="false" rot="0">
            <a:off x="3871033" y="3920511"/>
            <a:ext cx="10979652" cy="1876864"/>
          </a:xfrm>
          <a:custGeom>
            <a:avLst/>
            <a:gdLst/>
            <a:ahLst/>
            <a:cxnLst/>
            <a:rect r="r" b="b" t="t" l="l"/>
            <a:pathLst>
              <a:path h="1876864" w="10979652">
                <a:moveTo>
                  <a:pt x="0" y="0"/>
                </a:moveTo>
                <a:lnTo>
                  <a:pt x="10979652" y="0"/>
                </a:lnTo>
                <a:lnTo>
                  <a:pt x="10979652" y="1876864"/>
                </a:lnTo>
                <a:lnTo>
                  <a:pt x="0" y="1876864"/>
                </a:lnTo>
                <a:lnTo>
                  <a:pt x="0" y="0"/>
                </a:lnTo>
                <a:close/>
              </a:path>
            </a:pathLst>
          </a:custGeom>
          <a:blipFill>
            <a:blip r:embed="rId4"/>
            <a:stretch>
              <a:fillRect l="0" t="0" r="0" b="0"/>
            </a:stretch>
          </a:blipFill>
        </p:spPr>
      </p:sp>
      <p:sp>
        <p:nvSpPr>
          <p:cNvPr name="TextBox 14" id="14"/>
          <p:cNvSpPr txBox="true"/>
          <p:nvPr/>
        </p:nvSpPr>
        <p:spPr>
          <a:xfrm rot="0">
            <a:off x="7926442" y="7128364"/>
            <a:ext cx="4017484" cy="1394460"/>
          </a:xfrm>
          <a:prstGeom prst="rect">
            <a:avLst/>
          </a:prstGeom>
        </p:spPr>
        <p:txBody>
          <a:bodyPr anchor="t" rtlCol="false" tIns="0" lIns="0" bIns="0" rIns="0">
            <a:spAutoFit/>
          </a:bodyPr>
          <a:lstStyle/>
          <a:p>
            <a:pPr algn="l">
              <a:lnSpc>
                <a:spcPts val="3630"/>
              </a:lnSpc>
            </a:pPr>
            <a:r>
              <a:rPr lang="en-US" sz="3300" spc="105" b="true">
                <a:solidFill>
                  <a:srgbClr val="000000"/>
                </a:solidFill>
                <a:latin typeface="Open Sauce Bold"/>
                <a:ea typeface="Open Sauce Bold"/>
                <a:cs typeface="Open Sauce Bold"/>
                <a:sym typeface="Open Sauce Bold"/>
              </a:rPr>
              <a:t>Lists stored as overallocated arrays of pointers</a:t>
            </a:r>
          </a:p>
        </p:txBody>
      </p:sp>
      <p:sp>
        <p:nvSpPr>
          <p:cNvPr name="TextBox 15" id="15"/>
          <p:cNvSpPr txBox="true"/>
          <p:nvPr/>
        </p:nvSpPr>
        <p:spPr>
          <a:xfrm rot="0">
            <a:off x="7211386" y="1871529"/>
            <a:ext cx="4198852" cy="480060"/>
          </a:xfrm>
          <a:prstGeom prst="rect">
            <a:avLst/>
          </a:prstGeom>
        </p:spPr>
        <p:txBody>
          <a:bodyPr anchor="t" rtlCol="false" tIns="0" lIns="0" bIns="0" rIns="0">
            <a:spAutoFit/>
          </a:bodyPr>
          <a:lstStyle/>
          <a:p>
            <a:pPr algn="r">
              <a:lnSpc>
                <a:spcPts val="3630"/>
              </a:lnSpc>
            </a:pPr>
            <a:r>
              <a:rPr lang="en-US" b="true" sz="3300" spc="105">
                <a:solidFill>
                  <a:srgbClr val="000000"/>
                </a:solidFill>
                <a:latin typeface="Open Sauce Bold"/>
                <a:ea typeface="Open Sauce Bold"/>
                <a:cs typeface="Open Sauce Bold"/>
                <a:sym typeface="Open Sauce Bold"/>
              </a:rPr>
              <a:t>Deep dive on lists </a:t>
            </a:r>
          </a:p>
        </p:txBody>
      </p:sp>
      <p:sp>
        <p:nvSpPr>
          <p:cNvPr name="TextBox 16" id="16"/>
          <p:cNvSpPr txBox="true"/>
          <p:nvPr/>
        </p:nvSpPr>
        <p:spPr>
          <a:xfrm rot="0">
            <a:off x="11943927" y="6989599"/>
            <a:ext cx="4458159" cy="937260"/>
          </a:xfrm>
          <a:prstGeom prst="rect">
            <a:avLst/>
          </a:prstGeom>
        </p:spPr>
        <p:txBody>
          <a:bodyPr anchor="t" rtlCol="false" tIns="0" lIns="0" bIns="0" rIns="0">
            <a:spAutoFit/>
          </a:bodyPr>
          <a:lstStyle/>
          <a:p>
            <a:pPr algn="ctr">
              <a:lnSpc>
                <a:spcPts val="3630"/>
              </a:lnSpc>
            </a:pPr>
            <a:r>
              <a:rPr lang="en-US" b="true" sz="3300" spc="105">
                <a:solidFill>
                  <a:srgbClr val="000000"/>
                </a:solidFill>
                <a:latin typeface="Open Sauce Bold"/>
                <a:ea typeface="Open Sauce Bold"/>
                <a:cs typeface="Open Sauce Bold"/>
                <a:sym typeface="Open Sauce Bold"/>
              </a:rPr>
              <a:t>Python pre-allocates space</a:t>
            </a:r>
          </a:p>
        </p:txBody>
      </p:sp>
      <p:sp>
        <p:nvSpPr>
          <p:cNvPr name="TextBox 17" id="17"/>
          <p:cNvSpPr txBox="true"/>
          <p:nvPr/>
        </p:nvSpPr>
        <p:spPr>
          <a:xfrm rot="0">
            <a:off x="1898926" y="7196118"/>
            <a:ext cx="4586108" cy="937260"/>
          </a:xfrm>
          <a:prstGeom prst="rect">
            <a:avLst/>
          </a:prstGeom>
        </p:spPr>
        <p:txBody>
          <a:bodyPr anchor="t" rtlCol="false" tIns="0" lIns="0" bIns="0" rIns="0">
            <a:spAutoFit/>
          </a:bodyPr>
          <a:lstStyle/>
          <a:p>
            <a:pPr algn="l">
              <a:lnSpc>
                <a:spcPts val="3630"/>
              </a:lnSpc>
            </a:pPr>
            <a:r>
              <a:rPr lang="en-US" sz="3300" spc="105" b="true">
                <a:solidFill>
                  <a:srgbClr val="000000"/>
                </a:solidFill>
                <a:latin typeface="Open Sauce Bold"/>
                <a:ea typeface="Open Sauce Bold"/>
                <a:cs typeface="Open Sauce Bold"/>
                <a:sym typeface="Open Sauce Bold"/>
              </a:rPr>
              <a:t>Lists implemented as dynamic arrays </a:t>
            </a:r>
          </a:p>
        </p:txBody>
      </p:sp>
      <p:sp>
        <p:nvSpPr>
          <p:cNvPr name="TextBox 18" id="18"/>
          <p:cNvSpPr txBox="true"/>
          <p:nvPr/>
        </p:nvSpPr>
        <p:spPr>
          <a:xfrm rot="0">
            <a:off x="3832726" y="2638447"/>
            <a:ext cx="11156454" cy="396239"/>
          </a:xfrm>
          <a:prstGeom prst="rect">
            <a:avLst/>
          </a:prstGeom>
        </p:spPr>
        <p:txBody>
          <a:bodyPr anchor="t" rtlCol="false" tIns="0" lIns="0" bIns="0" rIns="0">
            <a:spAutoFit/>
          </a:bodyPr>
          <a:lstStyle/>
          <a:p>
            <a:pPr algn="ctr">
              <a:lnSpc>
                <a:spcPts val="3360"/>
              </a:lnSpc>
            </a:pPr>
            <a:r>
              <a:rPr lang="en-US" sz="2400">
                <a:solidFill>
                  <a:srgbClr val="000000"/>
                </a:solidFill>
                <a:latin typeface="Canva Sans"/>
                <a:ea typeface="Canva Sans"/>
                <a:cs typeface="Canva Sans"/>
                <a:sym typeface="Canva Sans"/>
              </a:rPr>
              <a:t>Built in data strcuture representing ordered collection of mutable elements </a:t>
            </a:r>
          </a:p>
        </p:txBody>
      </p:sp>
      <p:sp>
        <p:nvSpPr>
          <p:cNvPr name="TextBox 19" id="19"/>
          <p:cNvSpPr txBox="true"/>
          <p:nvPr/>
        </p:nvSpPr>
        <p:spPr>
          <a:xfrm rot="0">
            <a:off x="1920811" y="8753856"/>
            <a:ext cx="3900444" cy="504444"/>
          </a:xfrm>
          <a:prstGeom prst="rect">
            <a:avLst/>
          </a:prstGeom>
        </p:spPr>
        <p:txBody>
          <a:bodyPr anchor="t" rtlCol="false" tIns="0" lIns="0" bIns="0" rIns="0">
            <a:spAutoFit/>
          </a:bodyPr>
          <a:lstStyle/>
          <a:p>
            <a:pPr algn="l">
              <a:lnSpc>
                <a:spcPts val="2058"/>
              </a:lnSpc>
            </a:pPr>
            <a:r>
              <a:rPr lang="en-US" sz="1400">
                <a:solidFill>
                  <a:srgbClr val="000000"/>
                </a:solidFill>
                <a:latin typeface="Open Sauce"/>
                <a:ea typeface="Open Sauce"/>
                <a:cs typeface="Open Sauce"/>
                <a:sym typeface="Open Sauce"/>
              </a:rPr>
              <a:t>Automatic resizing happens as elements added/removed</a:t>
            </a:r>
          </a:p>
        </p:txBody>
      </p:sp>
      <p:sp>
        <p:nvSpPr>
          <p:cNvPr name="TextBox 20" id="20"/>
          <p:cNvSpPr txBox="true"/>
          <p:nvPr/>
        </p:nvSpPr>
        <p:spPr>
          <a:xfrm rot="0">
            <a:off x="7926442" y="8753856"/>
            <a:ext cx="3900444" cy="761619"/>
          </a:xfrm>
          <a:prstGeom prst="rect">
            <a:avLst/>
          </a:prstGeom>
        </p:spPr>
        <p:txBody>
          <a:bodyPr anchor="t" rtlCol="false" tIns="0" lIns="0" bIns="0" rIns="0">
            <a:spAutoFit/>
          </a:bodyPr>
          <a:lstStyle/>
          <a:p>
            <a:pPr algn="l">
              <a:lnSpc>
                <a:spcPts val="2058"/>
              </a:lnSpc>
            </a:pPr>
            <a:r>
              <a:rPr lang="en-US" sz="1400">
                <a:solidFill>
                  <a:srgbClr val="000000"/>
                </a:solidFill>
                <a:latin typeface="Open Sauce"/>
                <a:ea typeface="Open Sauce"/>
                <a:cs typeface="Open Sauce"/>
                <a:sym typeface="Open Sauce"/>
              </a:rPr>
              <a:t>This means you can have different datatypes. When a list is full, Python creates a larger memory block and copies over. </a:t>
            </a:r>
          </a:p>
        </p:txBody>
      </p:sp>
      <p:sp>
        <p:nvSpPr>
          <p:cNvPr name="TextBox 21" id="21"/>
          <p:cNvSpPr txBox="true"/>
          <p:nvPr/>
        </p:nvSpPr>
        <p:spPr>
          <a:xfrm rot="0">
            <a:off x="12501642" y="8753856"/>
            <a:ext cx="3900444" cy="247269"/>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This all creates memory overhead. </a:t>
            </a:r>
          </a:p>
        </p:txBody>
      </p:sp>
      <p:sp>
        <p:nvSpPr>
          <p:cNvPr name="Freeform 22" id="22"/>
          <p:cNvSpPr/>
          <p:nvPr/>
        </p:nvSpPr>
        <p:spPr>
          <a:xfrm flipH="false" flipV="false" rot="0">
            <a:off x="-331769" y="-609444"/>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5">
              <a:alphaModFix amt="37000"/>
            </a:blip>
            <a:stretch>
              <a:fillRect l="0" t="0" r="0" b="0"/>
            </a:stretch>
          </a:blipFill>
        </p:spPr>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5015114">
            <a:off x="9740863" y="2343404"/>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266567" y="1028700"/>
            <a:ext cx="15502154" cy="8665317"/>
            <a:chOff x="0" y="0"/>
            <a:chExt cx="4082872" cy="2282224"/>
          </a:xfrm>
        </p:grpSpPr>
        <p:sp>
          <p:nvSpPr>
            <p:cNvPr name="Freeform 4" id="4"/>
            <p:cNvSpPr/>
            <p:nvPr/>
          </p:nvSpPr>
          <p:spPr>
            <a:xfrm flipH="false" flipV="false" rot="0">
              <a:off x="0" y="0"/>
              <a:ext cx="4082872" cy="2282223"/>
            </a:xfrm>
            <a:custGeom>
              <a:avLst/>
              <a:gdLst/>
              <a:ahLst/>
              <a:cxnLst/>
              <a:rect r="r" b="b" t="t" l="l"/>
              <a:pathLst>
                <a:path h="2282223" w="4082872">
                  <a:moveTo>
                    <a:pt x="0" y="0"/>
                  </a:moveTo>
                  <a:lnTo>
                    <a:pt x="4082872" y="0"/>
                  </a:lnTo>
                  <a:lnTo>
                    <a:pt x="4082872" y="2282223"/>
                  </a:lnTo>
                  <a:lnTo>
                    <a:pt x="0" y="228222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82872" cy="2310799"/>
            </a:xfrm>
            <a:prstGeom prst="rect">
              <a:avLst/>
            </a:prstGeom>
          </p:spPr>
          <p:txBody>
            <a:bodyPr anchor="ctr" rtlCol="false" tIns="50800" lIns="50800" bIns="50800" rIns="50800"/>
            <a:lstStyle/>
            <a:p>
              <a:pPr algn="ctr">
                <a:lnSpc>
                  <a:spcPts val="1869"/>
                </a:lnSpc>
              </a:pPr>
            </a:p>
          </p:txBody>
        </p:sp>
      </p:grpSp>
      <p:sp>
        <p:nvSpPr>
          <p:cNvPr name="AutoShape 6" id="6"/>
          <p:cNvSpPr/>
          <p:nvPr/>
        </p:nvSpPr>
        <p:spPr>
          <a:xfrm flipV="true">
            <a:off x="3189916" y="6451217"/>
            <a:ext cx="11464743" cy="36005"/>
          </a:xfrm>
          <a:prstGeom prst="line">
            <a:avLst/>
          </a:prstGeom>
          <a:ln cap="flat" w="38100">
            <a:solidFill>
              <a:srgbClr val="192253"/>
            </a:solidFill>
            <a:prstDash val="solid"/>
            <a:headEnd type="none" len="sm" w="sm"/>
            <a:tailEnd type="none" len="sm" w="sm"/>
          </a:ln>
        </p:spPr>
      </p:sp>
      <p:grpSp>
        <p:nvGrpSpPr>
          <p:cNvPr name="Group 7" id="7"/>
          <p:cNvGrpSpPr>
            <a:grpSpLocks noChangeAspect="true"/>
          </p:cNvGrpSpPr>
          <p:nvPr/>
        </p:nvGrpSpPr>
        <p:grpSpPr>
          <a:xfrm rot="5400000">
            <a:off x="14654658" y="6254575"/>
            <a:ext cx="392053" cy="392053"/>
            <a:chOff x="6705600" y="1371600"/>
            <a:chExt cx="10972800" cy="10972800"/>
          </a:xfrm>
        </p:grpSpPr>
        <p:sp>
          <p:nvSpPr>
            <p:cNvPr name="Freeform 8" id="8"/>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9" id="9"/>
          <p:cNvGrpSpPr>
            <a:grpSpLocks noChangeAspect="true"/>
          </p:cNvGrpSpPr>
          <p:nvPr/>
        </p:nvGrpSpPr>
        <p:grpSpPr>
          <a:xfrm rot="5400000">
            <a:off x="9078166" y="6254575"/>
            <a:ext cx="465293" cy="465293"/>
            <a:chOff x="6705600" y="1371600"/>
            <a:chExt cx="10972800" cy="10972800"/>
          </a:xfrm>
        </p:grpSpPr>
        <p:sp>
          <p:nvSpPr>
            <p:cNvPr name="Freeform 10" id="10"/>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11" id="11"/>
          <p:cNvGrpSpPr>
            <a:grpSpLocks noChangeAspect="true"/>
          </p:cNvGrpSpPr>
          <p:nvPr/>
        </p:nvGrpSpPr>
        <p:grpSpPr>
          <a:xfrm rot="5400000">
            <a:off x="3189916" y="6291195"/>
            <a:ext cx="392053" cy="392053"/>
            <a:chOff x="6705600" y="1371600"/>
            <a:chExt cx="10972800" cy="10972800"/>
          </a:xfrm>
        </p:grpSpPr>
        <p:sp>
          <p:nvSpPr>
            <p:cNvPr name="Freeform 12" id="12"/>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sp>
        <p:nvSpPr>
          <p:cNvPr name="Freeform 13" id="13"/>
          <p:cNvSpPr/>
          <p:nvPr/>
        </p:nvSpPr>
        <p:spPr>
          <a:xfrm flipH="false" flipV="false" rot="0">
            <a:off x="5531571" y="3622294"/>
            <a:ext cx="8225023" cy="1361575"/>
          </a:xfrm>
          <a:custGeom>
            <a:avLst/>
            <a:gdLst/>
            <a:ahLst/>
            <a:cxnLst/>
            <a:rect r="r" b="b" t="t" l="l"/>
            <a:pathLst>
              <a:path h="1361575" w="8225023">
                <a:moveTo>
                  <a:pt x="0" y="0"/>
                </a:moveTo>
                <a:lnTo>
                  <a:pt x="8225023" y="0"/>
                </a:lnTo>
                <a:lnTo>
                  <a:pt x="8225023" y="1361575"/>
                </a:lnTo>
                <a:lnTo>
                  <a:pt x="0" y="1361575"/>
                </a:lnTo>
                <a:lnTo>
                  <a:pt x="0" y="0"/>
                </a:lnTo>
                <a:close/>
              </a:path>
            </a:pathLst>
          </a:custGeom>
          <a:blipFill>
            <a:blip r:embed="rId4"/>
            <a:stretch>
              <a:fillRect l="0" t="0" r="0" b="0"/>
            </a:stretch>
          </a:blipFill>
        </p:spPr>
      </p:sp>
      <p:sp>
        <p:nvSpPr>
          <p:cNvPr name="TextBox 14" id="14"/>
          <p:cNvSpPr txBox="true"/>
          <p:nvPr/>
        </p:nvSpPr>
        <p:spPr>
          <a:xfrm rot="0">
            <a:off x="7926442" y="7128364"/>
            <a:ext cx="4017484" cy="937260"/>
          </a:xfrm>
          <a:prstGeom prst="rect">
            <a:avLst/>
          </a:prstGeom>
        </p:spPr>
        <p:txBody>
          <a:bodyPr anchor="t" rtlCol="false" tIns="0" lIns="0" bIns="0" rIns="0">
            <a:spAutoFit/>
          </a:bodyPr>
          <a:lstStyle/>
          <a:p>
            <a:pPr algn="l">
              <a:lnSpc>
                <a:spcPts val="3630"/>
              </a:lnSpc>
            </a:pPr>
            <a:r>
              <a:rPr lang="en-US" sz="3300" spc="105" b="true">
                <a:solidFill>
                  <a:srgbClr val="000000"/>
                </a:solidFill>
                <a:latin typeface="Open Sauce Bold"/>
                <a:ea typeface="Open Sauce Bold"/>
                <a:cs typeface="Open Sauce Bold"/>
                <a:sym typeface="Open Sauce Bold"/>
              </a:rPr>
              <a:t>Contiguous block of memory</a:t>
            </a:r>
          </a:p>
        </p:txBody>
      </p:sp>
      <p:sp>
        <p:nvSpPr>
          <p:cNvPr name="TextBox 15" id="15"/>
          <p:cNvSpPr txBox="true"/>
          <p:nvPr/>
        </p:nvSpPr>
        <p:spPr>
          <a:xfrm rot="0">
            <a:off x="7211386" y="1871529"/>
            <a:ext cx="4865393" cy="480060"/>
          </a:xfrm>
          <a:prstGeom prst="rect">
            <a:avLst/>
          </a:prstGeom>
        </p:spPr>
        <p:txBody>
          <a:bodyPr anchor="t" rtlCol="false" tIns="0" lIns="0" bIns="0" rIns="0">
            <a:spAutoFit/>
          </a:bodyPr>
          <a:lstStyle/>
          <a:p>
            <a:pPr algn="r">
              <a:lnSpc>
                <a:spcPts val="3630"/>
              </a:lnSpc>
            </a:pPr>
            <a:r>
              <a:rPr lang="en-US" b="true" sz="3300" spc="105">
                <a:solidFill>
                  <a:srgbClr val="000000"/>
                </a:solidFill>
                <a:latin typeface="Open Sauce Bold"/>
                <a:ea typeface="Open Sauce Bold"/>
                <a:cs typeface="Open Sauce Bold"/>
                <a:sym typeface="Open Sauce Bold"/>
              </a:rPr>
              <a:t>Deep dive on tuples </a:t>
            </a:r>
          </a:p>
        </p:txBody>
      </p:sp>
      <p:sp>
        <p:nvSpPr>
          <p:cNvPr name="TextBox 16" id="16"/>
          <p:cNvSpPr txBox="true"/>
          <p:nvPr/>
        </p:nvSpPr>
        <p:spPr>
          <a:xfrm rot="0">
            <a:off x="11943927" y="6989599"/>
            <a:ext cx="4458159" cy="480060"/>
          </a:xfrm>
          <a:prstGeom prst="rect">
            <a:avLst/>
          </a:prstGeom>
        </p:spPr>
        <p:txBody>
          <a:bodyPr anchor="t" rtlCol="false" tIns="0" lIns="0" bIns="0" rIns="0">
            <a:spAutoFit/>
          </a:bodyPr>
          <a:lstStyle/>
          <a:p>
            <a:pPr algn="ctr">
              <a:lnSpc>
                <a:spcPts val="3630"/>
              </a:lnSpc>
            </a:pPr>
            <a:r>
              <a:rPr lang="en-US" b="true" sz="3300" spc="105">
                <a:solidFill>
                  <a:srgbClr val="000000"/>
                </a:solidFill>
                <a:latin typeface="Open Sauce Bold"/>
                <a:ea typeface="Open Sauce Bold"/>
                <a:cs typeface="Open Sauce Bold"/>
                <a:sym typeface="Open Sauce Bold"/>
              </a:rPr>
              <a:t>Store pointer </a:t>
            </a:r>
          </a:p>
        </p:txBody>
      </p:sp>
      <p:sp>
        <p:nvSpPr>
          <p:cNvPr name="TextBox 17" id="17"/>
          <p:cNvSpPr txBox="true"/>
          <p:nvPr/>
        </p:nvSpPr>
        <p:spPr>
          <a:xfrm rot="0">
            <a:off x="1898926" y="7196118"/>
            <a:ext cx="4586108" cy="937260"/>
          </a:xfrm>
          <a:prstGeom prst="rect">
            <a:avLst/>
          </a:prstGeom>
        </p:spPr>
        <p:txBody>
          <a:bodyPr anchor="t" rtlCol="false" tIns="0" lIns="0" bIns="0" rIns="0">
            <a:spAutoFit/>
          </a:bodyPr>
          <a:lstStyle/>
          <a:p>
            <a:pPr algn="l">
              <a:lnSpc>
                <a:spcPts val="3630"/>
              </a:lnSpc>
            </a:pPr>
            <a:r>
              <a:rPr lang="en-US" sz="3300" spc="105" b="true">
                <a:solidFill>
                  <a:srgbClr val="000000"/>
                </a:solidFill>
                <a:latin typeface="Open Sauce Bold"/>
                <a:ea typeface="Open Sauce Bold"/>
                <a:cs typeface="Open Sauce Bold"/>
                <a:sym typeface="Open Sauce Bold"/>
              </a:rPr>
              <a:t>Tuples are static arrays</a:t>
            </a:r>
          </a:p>
        </p:txBody>
      </p:sp>
      <p:sp>
        <p:nvSpPr>
          <p:cNvPr name="TextBox 18" id="18"/>
          <p:cNvSpPr txBox="true"/>
          <p:nvPr/>
        </p:nvSpPr>
        <p:spPr>
          <a:xfrm rot="0">
            <a:off x="1920811" y="8753856"/>
            <a:ext cx="3900444" cy="504444"/>
          </a:xfrm>
          <a:prstGeom prst="rect">
            <a:avLst/>
          </a:prstGeom>
        </p:spPr>
        <p:txBody>
          <a:bodyPr anchor="t" rtlCol="false" tIns="0" lIns="0" bIns="0" rIns="0">
            <a:spAutoFit/>
          </a:bodyPr>
          <a:lstStyle/>
          <a:p>
            <a:pPr algn="l">
              <a:lnSpc>
                <a:spcPts val="2058"/>
              </a:lnSpc>
            </a:pPr>
            <a:r>
              <a:rPr lang="en-US" sz="1400">
                <a:solidFill>
                  <a:srgbClr val="000000"/>
                </a:solidFill>
                <a:latin typeface="Open Sauce"/>
                <a:ea typeface="Open Sauce"/>
                <a:cs typeface="Open Sauce"/>
                <a:sym typeface="Open Sauce"/>
              </a:rPr>
              <a:t>Fixed size determined at the time of creation. This makes them different to lists</a:t>
            </a:r>
          </a:p>
        </p:txBody>
      </p:sp>
      <p:sp>
        <p:nvSpPr>
          <p:cNvPr name="TextBox 19" id="19"/>
          <p:cNvSpPr txBox="true"/>
          <p:nvPr/>
        </p:nvSpPr>
        <p:spPr>
          <a:xfrm rot="0">
            <a:off x="7926442" y="8753856"/>
            <a:ext cx="3900444" cy="761619"/>
          </a:xfrm>
          <a:prstGeom prst="rect">
            <a:avLst/>
          </a:prstGeom>
        </p:spPr>
        <p:txBody>
          <a:bodyPr anchor="t" rtlCol="false" tIns="0" lIns="0" bIns="0" rIns="0">
            <a:spAutoFit/>
          </a:bodyPr>
          <a:lstStyle/>
          <a:p>
            <a:pPr algn="l">
              <a:lnSpc>
                <a:spcPts val="2058"/>
              </a:lnSpc>
            </a:pPr>
            <a:r>
              <a:rPr lang="en-US" sz="1400">
                <a:solidFill>
                  <a:srgbClr val="000000"/>
                </a:solidFill>
                <a:latin typeface="Open Sauce"/>
                <a:ea typeface="Open Sauce"/>
                <a:cs typeface="Open Sauce"/>
                <a:sym typeface="Open Sauce"/>
              </a:rPr>
              <a:t>This memory is reserved to store pointers and there is no over allocation. Tuples are more memory efficient and faster.</a:t>
            </a:r>
          </a:p>
        </p:txBody>
      </p:sp>
      <p:sp>
        <p:nvSpPr>
          <p:cNvPr name="TextBox 20" id="20"/>
          <p:cNvSpPr txBox="true"/>
          <p:nvPr/>
        </p:nvSpPr>
        <p:spPr>
          <a:xfrm rot="0">
            <a:off x="12501642" y="8753856"/>
            <a:ext cx="3900444" cy="247269"/>
          </a:xfrm>
          <a:prstGeom prst="rect">
            <a:avLst/>
          </a:prstGeom>
        </p:spPr>
        <p:txBody>
          <a:bodyPr anchor="t" rtlCol="false" tIns="0" lIns="0" bIns="0" rIns="0">
            <a:spAutoFit/>
          </a:bodyPr>
          <a:lstStyle/>
          <a:p>
            <a:pPr algn="l">
              <a:lnSpc>
                <a:spcPts val="2058"/>
              </a:lnSpc>
            </a:pPr>
            <a:r>
              <a:rPr lang="en-US" sz="1400">
                <a:solidFill>
                  <a:srgbClr val="000000"/>
                </a:solidFill>
                <a:latin typeface="Open Sauce"/>
                <a:ea typeface="Open Sauce"/>
                <a:cs typeface="Open Sauce"/>
                <a:sym typeface="Open Sauce"/>
              </a:rPr>
              <a:t>Pointers to the actual objects</a:t>
            </a:r>
          </a:p>
        </p:txBody>
      </p:sp>
      <p:sp>
        <p:nvSpPr>
          <p:cNvPr name="Freeform 21" id="21"/>
          <p:cNvSpPr/>
          <p:nvPr/>
        </p:nvSpPr>
        <p:spPr>
          <a:xfrm flipH="false" flipV="false" rot="0">
            <a:off x="-331769" y="-609444"/>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5">
              <a:alphaModFix amt="37000"/>
            </a:blip>
            <a:stretch>
              <a:fillRect l="0" t="0" r="0" b="0"/>
            </a:stretch>
          </a:blipFill>
        </p:spPr>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5015114">
            <a:off x="9740863" y="2343404"/>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266567" y="1028700"/>
            <a:ext cx="15502154" cy="8665317"/>
            <a:chOff x="0" y="0"/>
            <a:chExt cx="4082872" cy="2282224"/>
          </a:xfrm>
        </p:grpSpPr>
        <p:sp>
          <p:nvSpPr>
            <p:cNvPr name="Freeform 4" id="4"/>
            <p:cNvSpPr/>
            <p:nvPr/>
          </p:nvSpPr>
          <p:spPr>
            <a:xfrm flipH="false" flipV="false" rot="0">
              <a:off x="0" y="0"/>
              <a:ext cx="4082872" cy="2282223"/>
            </a:xfrm>
            <a:custGeom>
              <a:avLst/>
              <a:gdLst/>
              <a:ahLst/>
              <a:cxnLst/>
              <a:rect r="r" b="b" t="t" l="l"/>
              <a:pathLst>
                <a:path h="2282223" w="4082872">
                  <a:moveTo>
                    <a:pt x="0" y="0"/>
                  </a:moveTo>
                  <a:lnTo>
                    <a:pt x="4082872" y="0"/>
                  </a:lnTo>
                  <a:lnTo>
                    <a:pt x="4082872" y="2282223"/>
                  </a:lnTo>
                  <a:lnTo>
                    <a:pt x="0" y="228222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82872" cy="2310799"/>
            </a:xfrm>
            <a:prstGeom prst="rect">
              <a:avLst/>
            </a:prstGeom>
          </p:spPr>
          <p:txBody>
            <a:bodyPr anchor="ctr" rtlCol="false" tIns="50800" lIns="50800" bIns="50800" rIns="50800"/>
            <a:lstStyle/>
            <a:p>
              <a:pPr algn="ctr">
                <a:lnSpc>
                  <a:spcPts val="1869"/>
                </a:lnSpc>
              </a:pPr>
            </a:p>
          </p:txBody>
        </p:sp>
      </p:grpSp>
      <p:sp>
        <p:nvSpPr>
          <p:cNvPr name="AutoShape 6" id="6"/>
          <p:cNvSpPr/>
          <p:nvPr/>
        </p:nvSpPr>
        <p:spPr>
          <a:xfrm flipV="true">
            <a:off x="3189916" y="6451217"/>
            <a:ext cx="11464743" cy="36005"/>
          </a:xfrm>
          <a:prstGeom prst="line">
            <a:avLst/>
          </a:prstGeom>
          <a:ln cap="flat" w="38100">
            <a:solidFill>
              <a:srgbClr val="192253"/>
            </a:solidFill>
            <a:prstDash val="solid"/>
            <a:headEnd type="none" len="sm" w="sm"/>
            <a:tailEnd type="none" len="sm" w="sm"/>
          </a:ln>
        </p:spPr>
      </p:sp>
      <p:grpSp>
        <p:nvGrpSpPr>
          <p:cNvPr name="Group 7" id="7"/>
          <p:cNvGrpSpPr>
            <a:grpSpLocks noChangeAspect="true"/>
          </p:cNvGrpSpPr>
          <p:nvPr/>
        </p:nvGrpSpPr>
        <p:grpSpPr>
          <a:xfrm rot="5400000">
            <a:off x="14654658" y="6254575"/>
            <a:ext cx="392053" cy="392053"/>
            <a:chOff x="6705600" y="1371600"/>
            <a:chExt cx="10972800" cy="10972800"/>
          </a:xfrm>
        </p:grpSpPr>
        <p:sp>
          <p:nvSpPr>
            <p:cNvPr name="Freeform 8" id="8"/>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9" id="9"/>
          <p:cNvGrpSpPr>
            <a:grpSpLocks noChangeAspect="true"/>
          </p:cNvGrpSpPr>
          <p:nvPr/>
        </p:nvGrpSpPr>
        <p:grpSpPr>
          <a:xfrm rot="5400000">
            <a:off x="9078166" y="6254575"/>
            <a:ext cx="465293" cy="465293"/>
            <a:chOff x="6705600" y="1371600"/>
            <a:chExt cx="10972800" cy="10972800"/>
          </a:xfrm>
        </p:grpSpPr>
        <p:sp>
          <p:nvSpPr>
            <p:cNvPr name="Freeform 10" id="10"/>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11" id="11"/>
          <p:cNvGrpSpPr>
            <a:grpSpLocks noChangeAspect="true"/>
          </p:cNvGrpSpPr>
          <p:nvPr/>
        </p:nvGrpSpPr>
        <p:grpSpPr>
          <a:xfrm rot="5400000">
            <a:off x="3189916" y="6291195"/>
            <a:ext cx="392053" cy="392053"/>
            <a:chOff x="6705600" y="1371600"/>
            <a:chExt cx="10972800" cy="10972800"/>
          </a:xfrm>
        </p:grpSpPr>
        <p:sp>
          <p:nvSpPr>
            <p:cNvPr name="Freeform 12" id="12"/>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sp>
        <p:nvSpPr>
          <p:cNvPr name="Freeform 13" id="13"/>
          <p:cNvSpPr/>
          <p:nvPr/>
        </p:nvSpPr>
        <p:spPr>
          <a:xfrm flipH="false" flipV="false" rot="0">
            <a:off x="5097256" y="4406735"/>
            <a:ext cx="7961820" cy="736765"/>
          </a:xfrm>
          <a:custGeom>
            <a:avLst/>
            <a:gdLst/>
            <a:ahLst/>
            <a:cxnLst/>
            <a:rect r="r" b="b" t="t" l="l"/>
            <a:pathLst>
              <a:path h="736765" w="7961820">
                <a:moveTo>
                  <a:pt x="0" y="0"/>
                </a:moveTo>
                <a:lnTo>
                  <a:pt x="7961820" y="0"/>
                </a:lnTo>
                <a:lnTo>
                  <a:pt x="7961820" y="736765"/>
                </a:lnTo>
                <a:lnTo>
                  <a:pt x="0" y="736765"/>
                </a:lnTo>
                <a:lnTo>
                  <a:pt x="0" y="0"/>
                </a:lnTo>
                <a:close/>
              </a:path>
            </a:pathLst>
          </a:custGeom>
          <a:blipFill>
            <a:blip r:embed="rId4"/>
            <a:stretch>
              <a:fillRect l="0" t="0" r="0" b="0"/>
            </a:stretch>
          </a:blipFill>
        </p:spPr>
      </p:sp>
      <p:sp>
        <p:nvSpPr>
          <p:cNvPr name="TextBox 14" id="14"/>
          <p:cNvSpPr txBox="true"/>
          <p:nvPr/>
        </p:nvSpPr>
        <p:spPr>
          <a:xfrm rot="0">
            <a:off x="7926442" y="7128364"/>
            <a:ext cx="4359349" cy="1394460"/>
          </a:xfrm>
          <a:prstGeom prst="rect">
            <a:avLst/>
          </a:prstGeom>
        </p:spPr>
        <p:txBody>
          <a:bodyPr anchor="t" rtlCol="false" tIns="0" lIns="0" bIns="0" rIns="0">
            <a:spAutoFit/>
          </a:bodyPr>
          <a:lstStyle/>
          <a:p>
            <a:pPr algn="l">
              <a:lnSpc>
                <a:spcPts val="3630"/>
              </a:lnSpc>
            </a:pPr>
            <a:r>
              <a:rPr lang="en-US" sz="3300" spc="105" b="true">
                <a:solidFill>
                  <a:srgbClr val="000000"/>
                </a:solidFill>
                <a:latin typeface="Open Sauce Bold"/>
                <a:ea typeface="Open Sauce Bold"/>
                <a:cs typeface="Open Sauce Bold"/>
                <a:sym typeface="Open Sauce Bold"/>
              </a:rPr>
              <a:t>Initially they allocate a small amount of memory</a:t>
            </a:r>
          </a:p>
        </p:txBody>
      </p:sp>
      <p:sp>
        <p:nvSpPr>
          <p:cNvPr name="TextBox 15" id="15"/>
          <p:cNvSpPr txBox="true"/>
          <p:nvPr/>
        </p:nvSpPr>
        <p:spPr>
          <a:xfrm rot="0">
            <a:off x="6485034" y="1873489"/>
            <a:ext cx="5800758" cy="480060"/>
          </a:xfrm>
          <a:prstGeom prst="rect">
            <a:avLst/>
          </a:prstGeom>
        </p:spPr>
        <p:txBody>
          <a:bodyPr anchor="t" rtlCol="false" tIns="0" lIns="0" bIns="0" rIns="0">
            <a:spAutoFit/>
          </a:bodyPr>
          <a:lstStyle/>
          <a:p>
            <a:pPr algn="r">
              <a:lnSpc>
                <a:spcPts val="3630"/>
              </a:lnSpc>
            </a:pPr>
            <a:r>
              <a:rPr lang="en-US" b="true" sz="3300" spc="105">
                <a:solidFill>
                  <a:srgbClr val="000000"/>
                </a:solidFill>
                <a:latin typeface="Open Sauce Bold"/>
                <a:ea typeface="Open Sauce Bold"/>
                <a:cs typeface="Open Sauce Bold"/>
                <a:sym typeface="Open Sauce Bold"/>
              </a:rPr>
              <a:t>Deep dive on dictionaries </a:t>
            </a:r>
          </a:p>
        </p:txBody>
      </p:sp>
      <p:sp>
        <p:nvSpPr>
          <p:cNvPr name="TextBox 16" id="16"/>
          <p:cNvSpPr txBox="true"/>
          <p:nvPr/>
        </p:nvSpPr>
        <p:spPr>
          <a:xfrm rot="0">
            <a:off x="11943927" y="6989599"/>
            <a:ext cx="4458159" cy="480060"/>
          </a:xfrm>
          <a:prstGeom prst="rect">
            <a:avLst/>
          </a:prstGeom>
        </p:spPr>
        <p:txBody>
          <a:bodyPr anchor="t" rtlCol="false" tIns="0" lIns="0" bIns="0" rIns="0">
            <a:spAutoFit/>
          </a:bodyPr>
          <a:lstStyle/>
          <a:p>
            <a:pPr algn="ctr">
              <a:lnSpc>
                <a:spcPts val="3630"/>
              </a:lnSpc>
            </a:pPr>
            <a:r>
              <a:rPr lang="en-US" b="true" sz="3300" spc="105">
                <a:solidFill>
                  <a:srgbClr val="000000"/>
                </a:solidFill>
                <a:latin typeface="Open Sauce Bold"/>
                <a:ea typeface="Open Sauce Bold"/>
                <a:cs typeface="Open Sauce Bold"/>
                <a:sym typeface="Open Sauce Bold"/>
              </a:rPr>
              <a:t>Collision resolution</a:t>
            </a:r>
          </a:p>
        </p:txBody>
      </p:sp>
      <p:sp>
        <p:nvSpPr>
          <p:cNvPr name="TextBox 17" id="17"/>
          <p:cNvSpPr txBox="true"/>
          <p:nvPr/>
        </p:nvSpPr>
        <p:spPr>
          <a:xfrm rot="0">
            <a:off x="1898926" y="7196118"/>
            <a:ext cx="4586108" cy="1394460"/>
          </a:xfrm>
          <a:prstGeom prst="rect">
            <a:avLst/>
          </a:prstGeom>
        </p:spPr>
        <p:txBody>
          <a:bodyPr anchor="t" rtlCol="false" tIns="0" lIns="0" bIns="0" rIns="0">
            <a:spAutoFit/>
          </a:bodyPr>
          <a:lstStyle/>
          <a:p>
            <a:pPr algn="l">
              <a:lnSpc>
                <a:spcPts val="3630"/>
              </a:lnSpc>
            </a:pPr>
            <a:r>
              <a:rPr lang="en-US" sz="3300" spc="105" b="true">
                <a:solidFill>
                  <a:srgbClr val="000000"/>
                </a:solidFill>
                <a:latin typeface="Open Sauce Bold"/>
                <a:ea typeface="Open Sauce Bold"/>
                <a:cs typeface="Open Sauce Bold"/>
                <a:sym typeface="Open Sauce Bold"/>
              </a:rPr>
              <a:t>Built in implementation of a hash table </a:t>
            </a:r>
          </a:p>
        </p:txBody>
      </p:sp>
      <p:sp>
        <p:nvSpPr>
          <p:cNvPr name="TextBox 18" id="18"/>
          <p:cNvSpPr txBox="true"/>
          <p:nvPr/>
        </p:nvSpPr>
        <p:spPr>
          <a:xfrm rot="0">
            <a:off x="1920811" y="8753856"/>
            <a:ext cx="3900444" cy="761619"/>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Hash functions convert keys into hash codes, which are used as indices in an array called the hash table </a:t>
            </a:r>
          </a:p>
        </p:txBody>
      </p:sp>
      <p:sp>
        <p:nvSpPr>
          <p:cNvPr name="TextBox 19" id="19"/>
          <p:cNvSpPr txBox="true"/>
          <p:nvPr/>
        </p:nvSpPr>
        <p:spPr>
          <a:xfrm rot="0">
            <a:off x="7926442" y="8753856"/>
            <a:ext cx="3900444" cy="504444"/>
          </a:xfrm>
          <a:prstGeom prst="rect">
            <a:avLst/>
          </a:prstGeom>
        </p:spPr>
        <p:txBody>
          <a:bodyPr anchor="t" rtlCol="false" tIns="0" lIns="0" bIns="0" rIns="0">
            <a:spAutoFit/>
          </a:bodyPr>
          <a:lstStyle/>
          <a:p>
            <a:pPr algn="l">
              <a:lnSpc>
                <a:spcPts val="2058"/>
              </a:lnSpc>
            </a:pPr>
            <a:r>
              <a:rPr lang="en-US" sz="1400">
                <a:solidFill>
                  <a:srgbClr val="000000"/>
                </a:solidFill>
                <a:latin typeface="Open Sauce"/>
                <a:ea typeface="Open Sauce"/>
                <a:cs typeface="Open Sauce"/>
                <a:sym typeface="Open Sauce"/>
              </a:rPr>
              <a:t>The memory requirements are determined by the size of the hash table</a:t>
            </a:r>
          </a:p>
        </p:txBody>
      </p:sp>
      <p:sp>
        <p:nvSpPr>
          <p:cNvPr name="TextBox 20" id="20"/>
          <p:cNvSpPr txBox="true"/>
          <p:nvPr/>
        </p:nvSpPr>
        <p:spPr>
          <a:xfrm rot="0">
            <a:off x="12501642" y="8753856"/>
            <a:ext cx="3900444" cy="504444"/>
          </a:xfrm>
          <a:prstGeom prst="rect">
            <a:avLst/>
          </a:prstGeom>
        </p:spPr>
        <p:txBody>
          <a:bodyPr anchor="t" rtlCol="false" tIns="0" lIns="0" bIns="0" rIns="0">
            <a:spAutoFit/>
          </a:bodyPr>
          <a:lstStyle/>
          <a:p>
            <a:pPr algn="l">
              <a:lnSpc>
                <a:spcPts val="2058"/>
              </a:lnSpc>
            </a:pPr>
            <a:r>
              <a:rPr lang="en-US" sz="1400">
                <a:solidFill>
                  <a:srgbClr val="000000"/>
                </a:solidFill>
                <a:latin typeface="Open Sauce"/>
                <a:ea typeface="Open Sauce"/>
                <a:cs typeface="Open Sauce"/>
                <a:sym typeface="Open Sauce"/>
              </a:rPr>
              <a:t>Due to hashing you can get collisions. Suffice to say it is handled under the hood!</a:t>
            </a:r>
          </a:p>
        </p:txBody>
      </p:sp>
      <p:sp>
        <p:nvSpPr>
          <p:cNvPr name="TextBox 21" id="21"/>
          <p:cNvSpPr txBox="true"/>
          <p:nvPr/>
        </p:nvSpPr>
        <p:spPr>
          <a:xfrm rot="0">
            <a:off x="2708686" y="2814560"/>
            <a:ext cx="13353455" cy="815339"/>
          </a:xfrm>
          <a:prstGeom prst="rect">
            <a:avLst/>
          </a:prstGeom>
        </p:spPr>
        <p:txBody>
          <a:bodyPr anchor="t" rtlCol="false" tIns="0" lIns="0" bIns="0" rIns="0">
            <a:spAutoFit/>
          </a:bodyPr>
          <a:lstStyle/>
          <a:p>
            <a:pPr algn="ctr">
              <a:lnSpc>
                <a:spcPts val="3360"/>
              </a:lnSpc>
            </a:pPr>
            <a:r>
              <a:rPr lang="en-US" sz="2400">
                <a:solidFill>
                  <a:srgbClr val="000000"/>
                </a:solidFill>
                <a:latin typeface="Canva Sans"/>
                <a:ea typeface="Canva Sans"/>
                <a:cs typeface="Canva Sans"/>
                <a:sym typeface="Canva Sans"/>
              </a:rPr>
              <a:t>A mutable, ordered collection of key-value pairsused to store and retrieve data in the form </a:t>
            </a:r>
          </a:p>
          <a:p>
            <a:pPr algn="ctr">
              <a:lnSpc>
                <a:spcPts val="3360"/>
              </a:lnSpc>
            </a:pPr>
            <a:r>
              <a:rPr lang="en-US" sz="2400">
                <a:solidFill>
                  <a:srgbClr val="000000"/>
                </a:solidFill>
                <a:latin typeface="Canva Sans"/>
                <a:ea typeface="Canva Sans"/>
                <a:cs typeface="Canva Sans"/>
                <a:sym typeface="Canva Sans"/>
              </a:rPr>
              <a:t>of a hash table </a:t>
            </a:r>
          </a:p>
        </p:txBody>
      </p:sp>
      <p:sp>
        <p:nvSpPr>
          <p:cNvPr name="Freeform 22" id="22"/>
          <p:cNvSpPr/>
          <p:nvPr/>
        </p:nvSpPr>
        <p:spPr>
          <a:xfrm flipH="false" flipV="false" rot="0">
            <a:off x="-331769" y="-684110"/>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5">
              <a:alphaModFix amt="37000"/>
            </a:blip>
            <a:stretch>
              <a:fillRect l="0" t="0" r="0" b="0"/>
            </a:stretch>
          </a:blipFill>
        </p:spPr>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5015114">
            <a:off x="9740863" y="2343404"/>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266567" y="1028700"/>
            <a:ext cx="15502154" cy="8665317"/>
            <a:chOff x="0" y="0"/>
            <a:chExt cx="4082872" cy="2282224"/>
          </a:xfrm>
        </p:grpSpPr>
        <p:sp>
          <p:nvSpPr>
            <p:cNvPr name="Freeform 4" id="4"/>
            <p:cNvSpPr/>
            <p:nvPr/>
          </p:nvSpPr>
          <p:spPr>
            <a:xfrm flipH="false" flipV="false" rot="0">
              <a:off x="0" y="0"/>
              <a:ext cx="4082872" cy="2282223"/>
            </a:xfrm>
            <a:custGeom>
              <a:avLst/>
              <a:gdLst/>
              <a:ahLst/>
              <a:cxnLst/>
              <a:rect r="r" b="b" t="t" l="l"/>
              <a:pathLst>
                <a:path h="2282223" w="4082872">
                  <a:moveTo>
                    <a:pt x="0" y="0"/>
                  </a:moveTo>
                  <a:lnTo>
                    <a:pt x="4082872" y="0"/>
                  </a:lnTo>
                  <a:lnTo>
                    <a:pt x="4082872" y="2282223"/>
                  </a:lnTo>
                  <a:lnTo>
                    <a:pt x="0" y="228222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82872" cy="2310799"/>
            </a:xfrm>
            <a:prstGeom prst="rect">
              <a:avLst/>
            </a:prstGeom>
          </p:spPr>
          <p:txBody>
            <a:bodyPr anchor="ctr" rtlCol="false" tIns="50800" lIns="50800" bIns="50800" rIns="50800"/>
            <a:lstStyle/>
            <a:p>
              <a:pPr algn="ctr">
                <a:lnSpc>
                  <a:spcPts val="1869"/>
                </a:lnSpc>
              </a:pPr>
            </a:p>
          </p:txBody>
        </p:sp>
      </p:grpSp>
      <p:sp>
        <p:nvSpPr>
          <p:cNvPr name="AutoShape 6" id="6"/>
          <p:cNvSpPr/>
          <p:nvPr/>
        </p:nvSpPr>
        <p:spPr>
          <a:xfrm flipV="true">
            <a:off x="3189916" y="6451217"/>
            <a:ext cx="11464743" cy="36005"/>
          </a:xfrm>
          <a:prstGeom prst="line">
            <a:avLst/>
          </a:prstGeom>
          <a:ln cap="flat" w="38100">
            <a:solidFill>
              <a:srgbClr val="192253"/>
            </a:solidFill>
            <a:prstDash val="solid"/>
            <a:headEnd type="none" len="sm" w="sm"/>
            <a:tailEnd type="none" len="sm" w="sm"/>
          </a:ln>
        </p:spPr>
      </p:sp>
      <p:grpSp>
        <p:nvGrpSpPr>
          <p:cNvPr name="Group 7" id="7"/>
          <p:cNvGrpSpPr>
            <a:grpSpLocks noChangeAspect="true"/>
          </p:cNvGrpSpPr>
          <p:nvPr/>
        </p:nvGrpSpPr>
        <p:grpSpPr>
          <a:xfrm rot="5400000">
            <a:off x="14654658" y="6254575"/>
            <a:ext cx="392053" cy="392053"/>
            <a:chOff x="6705600" y="1371600"/>
            <a:chExt cx="10972800" cy="10972800"/>
          </a:xfrm>
        </p:grpSpPr>
        <p:sp>
          <p:nvSpPr>
            <p:cNvPr name="Freeform 8" id="8"/>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9" id="9"/>
          <p:cNvGrpSpPr>
            <a:grpSpLocks noChangeAspect="true"/>
          </p:cNvGrpSpPr>
          <p:nvPr/>
        </p:nvGrpSpPr>
        <p:grpSpPr>
          <a:xfrm rot="5400000">
            <a:off x="9078166" y="6254575"/>
            <a:ext cx="465293" cy="465293"/>
            <a:chOff x="6705600" y="1371600"/>
            <a:chExt cx="10972800" cy="10972800"/>
          </a:xfrm>
        </p:grpSpPr>
        <p:sp>
          <p:nvSpPr>
            <p:cNvPr name="Freeform 10" id="10"/>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11" id="11"/>
          <p:cNvGrpSpPr>
            <a:grpSpLocks noChangeAspect="true"/>
          </p:cNvGrpSpPr>
          <p:nvPr/>
        </p:nvGrpSpPr>
        <p:grpSpPr>
          <a:xfrm rot="5400000">
            <a:off x="3189916" y="6291195"/>
            <a:ext cx="392053" cy="392053"/>
            <a:chOff x="6705600" y="1371600"/>
            <a:chExt cx="10972800" cy="10972800"/>
          </a:xfrm>
        </p:grpSpPr>
        <p:sp>
          <p:nvSpPr>
            <p:cNvPr name="Freeform 12" id="12"/>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sp>
        <p:nvSpPr>
          <p:cNvPr name="Freeform 13" id="13"/>
          <p:cNvSpPr/>
          <p:nvPr/>
        </p:nvSpPr>
        <p:spPr>
          <a:xfrm flipH="false" flipV="false" rot="0">
            <a:off x="6961848" y="3776963"/>
            <a:ext cx="5545383" cy="1584395"/>
          </a:xfrm>
          <a:custGeom>
            <a:avLst/>
            <a:gdLst/>
            <a:ahLst/>
            <a:cxnLst/>
            <a:rect r="r" b="b" t="t" l="l"/>
            <a:pathLst>
              <a:path h="1584395" w="5545383">
                <a:moveTo>
                  <a:pt x="0" y="0"/>
                </a:moveTo>
                <a:lnTo>
                  <a:pt x="5545384" y="0"/>
                </a:lnTo>
                <a:lnTo>
                  <a:pt x="5545384" y="1584396"/>
                </a:lnTo>
                <a:lnTo>
                  <a:pt x="0" y="1584396"/>
                </a:lnTo>
                <a:lnTo>
                  <a:pt x="0" y="0"/>
                </a:lnTo>
                <a:close/>
              </a:path>
            </a:pathLst>
          </a:custGeom>
          <a:blipFill>
            <a:blip r:embed="rId4"/>
            <a:stretch>
              <a:fillRect l="0" t="0" r="0" b="0"/>
            </a:stretch>
          </a:blipFill>
        </p:spPr>
      </p:sp>
      <p:sp>
        <p:nvSpPr>
          <p:cNvPr name="TextBox 14" id="14"/>
          <p:cNvSpPr txBox="true"/>
          <p:nvPr/>
        </p:nvSpPr>
        <p:spPr>
          <a:xfrm rot="0">
            <a:off x="7926442" y="7128364"/>
            <a:ext cx="4359349" cy="937260"/>
          </a:xfrm>
          <a:prstGeom prst="rect">
            <a:avLst/>
          </a:prstGeom>
        </p:spPr>
        <p:txBody>
          <a:bodyPr anchor="t" rtlCol="false" tIns="0" lIns="0" bIns="0" rIns="0">
            <a:spAutoFit/>
          </a:bodyPr>
          <a:lstStyle/>
          <a:p>
            <a:pPr algn="l">
              <a:lnSpc>
                <a:spcPts val="3630"/>
              </a:lnSpc>
            </a:pPr>
            <a:r>
              <a:rPr lang="en-US" sz="3300" spc="105" b="true">
                <a:solidFill>
                  <a:srgbClr val="000000"/>
                </a:solidFill>
                <a:latin typeface="Open Sauce Bold"/>
                <a:ea typeface="Open Sauce Bold"/>
                <a:cs typeface="Open Sauce Bold"/>
                <a:sym typeface="Open Sauce Bold"/>
              </a:rPr>
              <a:t>Sets are fast and </a:t>
            </a:r>
          </a:p>
          <a:p>
            <a:pPr algn="l">
              <a:lnSpc>
                <a:spcPts val="3630"/>
              </a:lnSpc>
            </a:pPr>
            <a:r>
              <a:rPr lang="en-US" sz="3300" spc="105" b="true">
                <a:solidFill>
                  <a:srgbClr val="000000"/>
                </a:solidFill>
                <a:latin typeface="Open Sauce Bold"/>
                <a:ea typeface="Open Sauce Bold"/>
                <a:cs typeface="Open Sauce Bold"/>
                <a:sym typeface="Open Sauce Bold"/>
              </a:rPr>
              <a:t>efficient</a:t>
            </a:r>
          </a:p>
        </p:txBody>
      </p:sp>
      <p:sp>
        <p:nvSpPr>
          <p:cNvPr name="TextBox 15" id="15"/>
          <p:cNvSpPr txBox="true"/>
          <p:nvPr/>
        </p:nvSpPr>
        <p:spPr>
          <a:xfrm rot="0">
            <a:off x="7417176" y="1810625"/>
            <a:ext cx="4252567" cy="480060"/>
          </a:xfrm>
          <a:prstGeom prst="rect">
            <a:avLst/>
          </a:prstGeom>
        </p:spPr>
        <p:txBody>
          <a:bodyPr anchor="t" rtlCol="false" tIns="0" lIns="0" bIns="0" rIns="0">
            <a:spAutoFit/>
          </a:bodyPr>
          <a:lstStyle/>
          <a:p>
            <a:pPr algn="r">
              <a:lnSpc>
                <a:spcPts val="3630"/>
              </a:lnSpc>
            </a:pPr>
            <a:r>
              <a:rPr lang="en-US" b="true" sz="3300" spc="105">
                <a:solidFill>
                  <a:srgbClr val="000000"/>
                </a:solidFill>
                <a:latin typeface="Open Sauce Bold"/>
                <a:ea typeface="Open Sauce Bold"/>
                <a:cs typeface="Open Sauce Bold"/>
                <a:sym typeface="Open Sauce Bold"/>
              </a:rPr>
              <a:t>Deep dive on sets </a:t>
            </a:r>
          </a:p>
        </p:txBody>
      </p:sp>
      <p:sp>
        <p:nvSpPr>
          <p:cNvPr name="TextBox 16" id="16"/>
          <p:cNvSpPr txBox="true"/>
          <p:nvPr/>
        </p:nvSpPr>
        <p:spPr>
          <a:xfrm rot="0">
            <a:off x="11943927" y="6989599"/>
            <a:ext cx="4458159" cy="937260"/>
          </a:xfrm>
          <a:prstGeom prst="rect">
            <a:avLst/>
          </a:prstGeom>
        </p:spPr>
        <p:txBody>
          <a:bodyPr anchor="t" rtlCol="false" tIns="0" lIns="0" bIns="0" rIns="0">
            <a:spAutoFit/>
          </a:bodyPr>
          <a:lstStyle/>
          <a:p>
            <a:pPr algn="ctr">
              <a:lnSpc>
                <a:spcPts val="3630"/>
              </a:lnSpc>
            </a:pPr>
            <a:r>
              <a:rPr lang="en-US" b="true" sz="3300" spc="105">
                <a:solidFill>
                  <a:srgbClr val="000000"/>
                </a:solidFill>
                <a:latin typeface="Open Sauce Bold"/>
                <a:ea typeface="Open Sauce Bold"/>
                <a:cs typeface="Open Sauce Bold"/>
                <a:sym typeface="Open Sauce Bold"/>
              </a:rPr>
              <a:t>Operations such as union are good</a:t>
            </a:r>
          </a:p>
        </p:txBody>
      </p:sp>
      <p:sp>
        <p:nvSpPr>
          <p:cNvPr name="TextBox 17" id="17"/>
          <p:cNvSpPr txBox="true"/>
          <p:nvPr/>
        </p:nvSpPr>
        <p:spPr>
          <a:xfrm rot="0">
            <a:off x="1898926" y="7196118"/>
            <a:ext cx="4586108" cy="1394460"/>
          </a:xfrm>
          <a:prstGeom prst="rect">
            <a:avLst/>
          </a:prstGeom>
        </p:spPr>
        <p:txBody>
          <a:bodyPr anchor="t" rtlCol="false" tIns="0" lIns="0" bIns="0" rIns="0">
            <a:spAutoFit/>
          </a:bodyPr>
          <a:lstStyle/>
          <a:p>
            <a:pPr algn="l">
              <a:lnSpc>
                <a:spcPts val="3630"/>
              </a:lnSpc>
            </a:pPr>
            <a:r>
              <a:rPr lang="en-US" sz="3300" spc="105" b="true">
                <a:solidFill>
                  <a:srgbClr val="000000"/>
                </a:solidFill>
                <a:latin typeface="Open Sauce Bold"/>
                <a:ea typeface="Open Sauce Bold"/>
                <a:cs typeface="Open Sauce Bold"/>
                <a:sym typeface="Open Sauce Bold"/>
              </a:rPr>
              <a:t>Built in implementation of a hash table </a:t>
            </a:r>
          </a:p>
        </p:txBody>
      </p:sp>
      <p:sp>
        <p:nvSpPr>
          <p:cNvPr name="TextBox 18" id="18"/>
          <p:cNvSpPr txBox="true"/>
          <p:nvPr/>
        </p:nvSpPr>
        <p:spPr>
          <a:xfrm rot="0">
            <a:off x="1920811" y="8753856"/>
            <a:ext cx="3900444" cy="504444"/>
          </a:xfrm>
          <a:prstGeom prst="rect">
            <a:avLst/>
          </a:prstGeom>
        </p:spPr>
        <p:txBody>
          <a:bodyPr anchor="t" rtlCol="false" tIns="0" lIns="0" bIns="0" rIns="0">
            <a:spAutoFit/>
          </a:bodyPr>
          <a:lstStyle/>
          <a:p>
            <a:pPr algn="l">
              <a:lnSpc>
                <a:spcPts val="2058"/>
              </a:lnSpc>
            </a:pPr>
            <a:r>
              <a:rPr lang="en-US" sz="1400">
                <a:solidFill>
                  <a:srgbClr val="000000"/>
                </a:solidFill>
                <a:latin typeface="Open Sauce"/>
                <a:ea typeface="Open Sauce"/>
                <a:cs typeface="Open Sauce"/>
                <a:sym typeface="Open Sauce"/>
              </a:rPr>
              <a:t>The elements are the keys in the hash table, the values are ignored. </a:t>
            </a:r>
          </a:p>
        </p:txBody>
      </p:sp>
      <p:sp>
        <p:nvSpPr>
          <p:cNvPr name="TextBox 19" id="19"/>
          <p:cNvSpPr txBox="true"/>
          <p:nvPr/>
        </p:nvSpPr>
        <p:spPr>
          <a:xfrm rot="0">
            <a:off x="7926442" y="8753856"/>
            <a:ext cx="3900444" cy="247269"/>
          </a:xfrm>
          <a:prstGeom prst="rect">
            <a:avLst/>
          </a:prstGeom>
        </p:spPr>
        <p:txBody>
          <a:bodyPr anchor="t" rtlCol="false" tIns="0" lIns="0" bIns="0" rIns="0">
            <a:spAutoFit/>
          </a:bodyPr>
          <a:lstStyle/>
          <a:p>
            <a:pPr algn="l">
              <a:lnSpc>
                <a:spcPts val="2058"/>
              </a:lnSpc>
            </a:pPr>
            <a:r>
              <a:rPr lang="en-US" sz="1400">
                <a:solidFill>
                  <a:srgbClr val="000000"/>
                </a:solidFill>
                <a:latin typeface="Open Sauce"/>
                <a:ea typeface="Open Sauce"/>
                <a:cs typeface="Open Sauce"/>
                <a:sym typeface="Open Sauce"/>
              </a:rPr>
              <a:t>As they have unique elements</a:t>
            </a:r>
          </a:p>
        </p:txBody>
      </p:sp>
      <p:sp>
        <p:nvSpPr>
          <p:cNvPr name="TextBox 20" id="20"/>
          <p:cNvSpPr txBox="true"/>
          <p:nvPr/>
        </p:nvSpPr>
        <p:spPr>
          <a:xfrm rot="0">
            <a:off x="12501642" y="8753856"/>
            <a:ext cx="3900444" cy="504444"/>
          </a:xfrm>
          <a:prstGeom prst="rect">
            <a:avLst/>
          </a:prstGeom>
        </p:spPr>
        <p:txBody>
          <a:bodyPr anchor="t" rtlCol="false" tIns="0" lIns="0" bIns="0" rIns="0">
            <a:spAutoFit/>
          </a:bodyPr>
          <a:lstStyle/>
          <a:p>
            <a:pPr algn="l">
              <a:lnSpc>
                <a:spcPts val="2058"/>
              </a:lnSpc>
            </a:pPr>
            <a:r>
              <a:rPr lang="en-US" sz="1400">
                <a:solidFill>
                  <a:srgbClr val="000000"/>
                </a:solidFill>
                <a:latin typeface="Open Sauce"/>
                <a:ea typeface="Open Sauce"/>
                <a:cs typeface="Open Sauce"/>
                <a:sym typeface="Open Sauce"/>
              </a:rPr>
              <a:t>There are many operations that can be done on sets that make them very useful</a:t>
            </a:r>
          </a:p>
        </p:txBody>
      </p:sp>
      <p:sp>
        <p:nvSpPr>
          <p:cNvPr name="TextBox 21" id="21"/>
          <p:cNvSpPr txBox="true"/>
          <p:nvPr/>
        </p:nvSpPr>
        <p:spPr>
          <a:xfrm rot="0">
            <a:off x="6263594" y="2814560"/>
            <a:ext cx="6243638" cy="396239"/>
          </a:xfrm>
          <a:prstGeom prst="rect">
            <a:avLst/>
          </a:prstGeom>
        </p:spPr>
        <p:txBody>
          <a:bodyPr anchor="t" rtlCol="false" tIns="0" lIns="0" bIns="0" rIns="0">
            <a:spAutoFit/>
          </a:bodyPr>
          <a:lstStyle/>
          <a:p>
            <a:pPr algn="ctr">
              <a:lnSpc>
                <a:spcPts val="3360"/>
              </a:lnSpc>
            </a:pPr>
            <a:r>
              <a:rPr lang="en-US" sz="2400">
                <a:solidFill>
                  <a:srgbClr val="000000"/>
                </a:solidFill>
                <a:latin typeface="Canva Sans"/>
                <a:ea typeface="Canva Sans"/>
                <a:cs typeface="Canva Sans"/>
                <a:sym typeface="Canva Sans"/>
              </a:rPr>
              <a:t>An unorded collection of unique elements </a:t>
            </a:r>
          </a:p>
        </p:txBody>
      </p:sp>
      <p:sp>
        <p:nvSpPr>
          <p:cNvPr name="Freeform 22" id="22"/>
          <p:cNvSpPr/>
          <p:nvPr/>
        </p:nvSpPr>
        <p:spPr>
          <a:xfrm flipH="false" flipV="false" rot="0">
            <a:off x="-180590" y="-698338"/>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5">
              <a:alphaModFix amt="37000"/>
            </a:blip>
            <a:stretch>
              <a:fillRect l="0" t="0" r="0" b="0"/>
            </a:stretch>
          </a:blipFill>
        </p:spPr>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8100000">
            <a:off x="-5281063" y="-2431920"/>
            <a:ext cx="16893429" cy="10074627"/>
          </a:xfrm>
          <a:custGeom>
            <a:avLst/>
            <a:gdLst/>
            <a:ahLst/>
            <a:cxnLst/>
            <a:rect r="r" b="b" t="t" l="l"/>
            <a:pathLst>
              <a:path h="10074627" w="16893429">
                <a:moveTo>
                  <a:pt x="0" y="0"/>
                </a:moveTo>
                <a:lnTo>
                  <a:pt x="16893430" y="0"/>
                </a:lnTo>
                <a:lnTo>
                  <a:pt x="16893430" y="10074627"/>
                </a:lnTo>
                <a:lnTo>
                  <a:pt x="0" y="100746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427040" y="1028700"/>
            <a:ext cx="15433919" cy="7619050"/>
            <a:chOff x="0" y="0"/>
            <a:chExt cx="4064900" cy="2006663"/>
          </a:xfrm>
        </p:grpSpPr>
        <p:sp>
          <p:nvSpPr>
            <p:cNvPr name="Freeform 4" id="4"/>
            <p:cNvSpPr/>
            <p:nvPr/>
          </p:nvSpPr>
          <p:spPr>
            <a:xfrm flipH="false" flipV="false" rot="0">
              <a:off x="0" y="0"/>
              <a:ext cx="4064900" cy="2006663"/>
            </a:xfrm>
            <a:custGeom>
              <a:avLst/>
              <a:gdLst/>
              <a:ahLst/>
              <a:cxnLst/>
              <a:rect r="r" b="b" t="t" l="l"/>
              <a:pathLst>
                <a:path h="2006663" w="4064900">
                  <a:moveTo>
                    <a:pt x="0" y="0"/>
                  </a:moveTo>
                  <a:lnTo>
                    <a:pt x="4064900" y="0"/>
                  </a:lnTo>
                  <a:lnTo>
                    <a:pt x="4064900" y="2006663"/>
                  </a:lnTo>
                  <a:lnTo>
                    <a:pt x="0" y="200666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64900" cy="2035238"/>
            </a:xfrm>
            <a:prstGeom prst="rect">
              <a:avLst/>
            </a:prstGeom>
          </p:spPr>
          <p:txBody>
            <a:bodyPr anchor="ctr" rtlCol="false" tIns="50800" lIns="50800" bIns="50800" rIns="50800"/>
            <a:lstStyle/>
            <a:p>
              <a:pPr algn="ctr">
                <a:lnSpc>
                  <a:spcPts val="1869"/>
                </a:lnSpc>
              </a:pPr>
            </a:p>
          </p:txBody>
        </p:sp>
      </p:grpSp>
      <p:sp>
        <p:nvSpPr>
          <p:cNvPr name="TextBox 6" id="6"/>
          <p:cNvSpPr txBox="true"/>
          <p:nvPr/>
        </p:nvSpPr>
        <p:spPr>
          <a:xfrm rot="0">
            <a:off x="2226667" y="2133600"/>
            <a:ext cx="13834665" cy="7010400"/>
          </a:xfrm>
          <a:prstGeom prst="rect">
            <a:avLst/>
          </a:prstGeom>
        </p:spPr>
        <p:txBody>
          <a:bodyPr anchor="t" rtlCol="false" tIns="0" lIns="0" bIns="0" rIns="0">
            <a:spAutoFit/>
          </a:bodyPr>
          <a:lstStyle/>
          <a:p>
            <a:pPr algn="ctr">
              <a:lnSpc>
                <a:spcPts val="7920"/>
              </a:lnSpc>
            </a:pPr>
            <a:r>
              <a:rPr lang="en-US" sz="6600">
                <a:solidFill>
                  <a:srgbClr val="000000"/>
                </a:solidFill>
                <a:latin typeface="Open Sauce"/>
                <a:ea typeface="Open Sauce"/>
                <a:cs typeface="Open Sauce"/>
                <a:sym typeface="Open Sauce"/>
              </a:rPr>
              <a:t>Return the 4th value in the list</a:t>
            </a:r>
          </a:p>
          <a:p>
            <a:pPr algn="ctr">
              <a:lnSpc>
                <a:spcPts val="7920"/>
              </a:lnSpc>
            </a:pPr>
          </a:p>
          <a:p>
            <a:pPr algn="ctr">
              <a:lnSpc>
                <a:spcPts val="7920"/>
              </a:lnSpc>
            </a:pPr>
            <a:r>
              <a:rPr lang="en-US" sz="6600">
                <a:solidFill>
                  <a:srgbClr val="000000"/>
                </a:solidFill>
                <a:latin typeface="Open Sauce"/>
                <a:ea typeface="Open Sauce"/>
                <a:cs typeface="Open Sauce"/>
                <a:sym typeface="Open Sauce"/>
              </a:rPr>
              <a:t>Append a value to you python list</a:t>
            </a:r>
          </a:p>
          <a:p>
            <a:pPr algn="ctr">
              <a:lnSpc>
                <a:spcPts val="7920"/>
              </a:lnSpc>
            </a:pPr>
          </a:p>
          <a:p>
            <a:pPr algn="ctr">
              <a:lnSpc>
                <a:spcPts val="7920"/>
              </a:lnSpc>
            </a:pPr>
            <a:r>
              <a:rPr lang="en-US" sz="6600">
                <a:solidFill>
                  <a:srgbClr val="000000"/>
                </a:solidFill>
                <a:latin typeface="Open Sauce"/>
                <a:ea typeface="Open Sauce"/>
                <a:cs typeface="Open Sauce"/>
                <a:sym typeface="Open Sauce"/>
              </a:rPr>
              <a:t>What happens when you do the same to a tuple</a:t>
            </a:r>
          </a:p>
          <a:p>
            <a:pPr algn="ctr">
              <a:lnSpc>
                <a:spcPts val="7920"/>
              </a:lnSpc>
            </a:pPr>
          </a:p>
        </p:txBody>
      </p:sp>
      <p:sp>
        <p:nvSpPr>
          <p:cNvPr name="Freeform 7" id="7"/>
          <p:cNvSpPr/>
          <p:nvPr/>
        </p:nvSpPr>
        <p:spPr>
          <a:xfrm flipH="false" flipV="false" rot="0">
            <a:off x="14497818" y="-556056"/>
            <a:ext cx="4202802" cy="2362325"/>
          </a:xfrm>
          <a:custGeom>
            <a:avLst/>
            <a:gdLst/>
            <a:ahLst/>
            <a:cxnLst/>
            <a:rect r="r" b="b" t="t" l="l"/>
            <a:pathLst>
              <a:path h="2362325" w="4202802">
                <a:moveTo>
                  <a:pt x="0" y="0"/>
                </a:moveTo>
                <a:lnTo>
                  <a:pt x="4202802" y="0"/>
                </a:lnTo>
                <a:lnTo>
                  <a:pt x="4202802" y="2362326"/>
                </a:lnTo>
                <a:lnTo>
                  <a:pt x="0" y="2362326"/>
                </a:lnTo>
                <a:lnTo>
                  <a:pt x="0" y="0"/>
                </a:lnTo>
                <a:close/>
              </a:path>
            </a:pathLst>
          </a:custGeom>
          <a:blipFill>
            <a:blip r:embed="rId4">
              <a:alphaModFix amt="37000"/>
            </a:blip>
            <a:stretch>
              <a:fillRect l="0" t="0" r="0" b="0"/>
            </a:stretch>
          </a:blipFill>
        </p:spPr>
      </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015114">
            <a:off x="9740863" y="2343404"/>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816790" y="3207671"/>
            <a:ext cx="12654420" cy="2836069"/>
          </a:xfrm>
          <a:custGeom>
            <a:avLst/>
            <a:gdLst/>
            <a:ahLst/>
            <a:cxnLst/>
            <a:rect r="r" b="b" t="t" l="l"/>
            <a:pathLst>
              <a:path h="2836069" w="12654420">
                <a:moveTo>
                  <a:pt x="0" y="0"/>
                </a:moveTo>
                <a:lnTo>
                  <a:pt x="12654420" y="0"/>
                </a:lnTo>
                <a:lnTo>
                  <a:pt x="12654420" y="2836068"/>
                </a:lnTo>
                <a:lnTo>
                  <a:pt x="0" y="2836068"/>
                </a:lnTo>
                <a:lnTo>
                  <a:pt x="0" y="0"/>
                </a:lnTo>
                <a:close/>
              </a:path>
            </a:pathLst>
          </a:custGeom>
          <a:blipFill>
            <a:blip r:embed="rId4"/>
            <a:stretch>
              <a:fillRect l="0" t="0" r="0" b="-109543"/>
            </a:stretch>
          </a:blipFill>
        </p:spPr>
      </p:sp>
      <p:sp>
        <p:nvSpPr>
          <p:cNvPr name="TextBox 4" id="4"/>
          <p:cNvSpPr txBox="true"/>
          <p:nvPr/>
        </p:nvSpPr>
        <p:spPr>
          <a:xfrm rot="0">
            <a:off x="6004836" y="1233550"/>
            <a:ext cx="5762625" cy="480060"/>
          </a:xfrm>
          <a:prstGeom prst="rect">
            <a:avLst/>
          </a:prstGeom>
        </p:spPr>
        <p:txBody>
          <a:bodyPr anchor="t" rtlCol="false" tIns="0" lIns="0" bIns="0" rIns="0">
            <a:spAutoFit/>
          </a:bodyPr>
          <a:lstStyle/>
          <a:p>
            <a:pPr algn="ctr">
              <a:lnSpc>
                <a:spcPts val="3630"/>
              </a:lnSpc>
              <a:spcBef>
                <a:spcPct val="0"/>
              </a:spcBef>
            </a:pPr>
            <a:r>
              <a:rPr lang="en-US" b="true" sz="3300" spc="105">
                <a:solidFill>
                  <a:srgbClr val="000000"/>
                </a:solidFill>
                <a:latin typeface="Open Sauce Medium"/>
                <a:ea typeface="Open Sauce Medium"/>
                <a:cs typeface="Open Sauce Medium"/>
                <a:sym typeface="Open Sauce Medium"/>
              </a:rPr>
              <a:t>Coding python collections</a:t>
            </a:r>
          </a:p>
        </p:txBody>
      </p:sp>
      <p:sp>
        <p:nvSpPr>
          <p:cNvPr name="Freeform 5" id="5"/>
          <p:cNvSpPr/>
          <p:nvPr/>
        </p:nvSpPr>
        <p:spPr>
          <a:xfrm flipH="false" flipV="false" rot="0">
            <a:off x="-256902" y="-648715"/>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5">
              <a:alphaModFix amt="37000"/>
            </a:blip>
            <a:stretch>
              <a:fillRect l="0" t="0" r="0" b="0"/>
            </a:stretch>
          </a:blipFill>
        </p:spPr>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8100000">
            <a:off x="-5281063" y="-2431920"/>
            <a:ext cx="16893429" cy="10074627"/>
          </a:xfrm>
          <a:custGeom>
            <a:avLst/>
            <a:gdLst/>
            <a:ahLst/>
            <a:cxnLst/>
            <a:rect r="r" b="b" t="t" l="l"/>
            <a:pathLst>
              <a:path h="10074627" w="16893429">
                <a:moveTo>
                  <a:pt x="0" y="0"/>
                </a:moveTo>
                <a:lnTo>
                  <a:pt x="16893430" y="0"/>
                </a:lnTo>
                <a:lnTo>
                  <a:pt x="16893430" y="10074627"/>
                </a:lnTo>
                <a:lnTo>
                  <a:pt x="0" y="100746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427040" y="1028700"/>
            <a:ext cx="15433919" cy="7619050"/>
            <a:chOff x="0" y="0"/>
            <a:chExt cx="4064900" cy="2006663"/>
          </a:xfrm>
        </p:grpSpPr>
        <p:sp>
          <p:nvSpPr>
            <p:cNvPr name="Freeform 4" id="4"/>
            <p:cNvSpPr/>
            <p:nvPr/>
          </p:nvSpPr>
          <p:spPr>
            <a:xfrm flipH="false" flipV="false" rot="0">
              <a:off x="0" y="0"/>
              <a:ext cx="4064900" cy="2006663"/>
            </a:xfrm>
            <a:custGeom>
              <a:avLst/>
              <a:gdLst/>
              <a:ahLst/>
              <a:cxnLst/>
              <a:rect r="r" b="b" t="t" l="l"/>
              <a:pathLst>
                <a:path h="2006663" w="4064900">
                  <a:moveTo>
                    <a:pt x="0" y="0"/>
                  </a:moveTo>
                  <a:lnTo>
                    <a:pt x="4064900" y="0"/>
                  </a:lnTo>
                  <a:lnTo>
                    <a:pt x="4064900" y="2006663"/>
                  </a:lnTo>
                  <a:lnTo>
                    <a:pt x="0" y="200666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64900" cy="2035238"/>
            </a:xfrm>
            <a:prstGeom prst="rect">
              <a:avLst/>
            </a:prstGeom>
          </p:spPr>
          <p:txBody>
            <a:bodyPr anchor="ctr" rtlCol="false" tIns="50800" lIns="50800" bIns="50800" rIns="50800"/>
            <a:lstStyle/>
            <a:p>
              <a:pPr algn="ctr">
                <a:lnSpc>
                  <a:spcPts val="1869"/>
                </a:lnSpc>
              </a:pPr>
            </a:p>
          </p:txBody>
        </p:sp>
      </p:grpSp>
      <p:sp>
        <p:nvSpPr>
          <p:cNvPr name="TextBox 6" id="6"/>
          <p:cNvSpPr txBox="true"/>
          <p:nvPr/>
        </p:nvSpPr>
        <p:spPr>
          <a:xfrm rot="0">
            <a:off x="2226667" y="2133600"/>
            <a:ext cx="13834665" cy="5010150"/>
          </a:xfrm>
          <a:prstGeom prst="rect">
            <a:avLst/>
          </a:prstGeom>
        </p:spPr>
        <p:txBody>
          <a:bodyPr anchor="t" rtlCol="false" tIns="0" lIns="0" bIns="0" rIns="0">
            <a:spAutoFit/>
          </a:bodyPr>
          <a:lstStyle/>
          <a:p>
            <a:pPr algn="ctr">
              <a:lnSpc>
                <a:spcPts val="7920"/>
              </a:lnSpc>
            </a:pPr>
            <a:r>
              <a:rPr lang="en-US" sz="6600">
                <a:solidFill>
                  <a:srgbClr val="000000"/>
                </a:solidFill>
                <a:latin typeface="Open Sauce"/>
                <a:ea typeface="Open Sauce"/>
                <a:cs typeface="Open Sauce"/>
                <a:sym typeface="Open Sauce"/>
              </a:rPr>
              <a:t>Return values linked to the name key</a:t>
            </a:r>
          </a:p>
          <a:p>
            <a:pPr algn="ctr">
              <a:lnSpc>
                <a:spcPts val="7920"/>
              </a:lnSpc>
            </a:pPr>
          </a:p>
          <a:p>
            <a:pPr algn="ctr">
              <a:lnSpc>
                <a:spcPts val="7920"/>
              </a:lnSpc>
            </a:pPr>
            <a:r>
              <a:rPr lang="en-US" sz="6600">
                <a:solidFill>
                  <a:srgbClr val="000000"/>
                </a:solidFill>
                <a:latin typeface="Open Sauce"/>
                <a:ea typeface="Open Sauce"/>
                <a:cs typeface="Open Sauce"/>
                <a:sym typeface="Open Sauce"/>
              </a:rPr>
              <a:t>Return unique numbers for a list of duplicated numbers</a:t>
            </a:r>
          </a:p>
        </p:txBody>
      </p:sp>
      <p:sp>
        <p:nvSpPr>
          <p:cNvPr name="Freeform 7" id="7"/>
          <p:cNvSpPr/>
          <p:nvPr/>
        </p:nvSpPr>
        <p:spPr>
          <a:xfrm flipH="false" flipV="false" rot="0">
            <a:off x="14554731" y="-598740"/>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4">
              <a:alphaModFix amt="37000"/>
            </a:blip>
            <a:stretch>
              <a:fillRect l="0" t="0" r="0" b="0"/>
            </a:stretch>
          </a:blipFill>
        </p:spPr>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015114">
            <a:off x="9740863" y="2343404"/>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912219" y="3277840"/>
            <a:ext cx="12463561" cy="2736995"/>
          </a:xfrm>
          <a:custGeom>
            <a:avLst/>
            <a:gdLst/>
            <a:ahLst/>
            <a:cxnLst/>
            <a:rect r="r" b="b" t="t" l="l"/>
            <a:pathLst>
              <a:path h="2736995" w="12463561">
                <a:moveTo>
                  <a:pt x="0" y="0"/>
                </a:moveTo>
                <a:lnTo>
                  <a:pt x="12463562" y="0"/>
                </a:lnTo>
                <a:lnTo>
                  <a:pt x="12463562" y="2736995"/>
                </a:lnTo>
                <a:lnTo>
                  <a:pt x="0" y="2736995"/>
                </a:lnTo>
                <a:lnTo>
                  <a:pt x="0" y="0"/>
                </a:lnTo>
                <a:close/>
              </a:path>
            </a:pathLst>
          </a:custGeom>
          <a:blipFill>
            <a:blip r:embed="rId4"/>
            <a:stretch>
              <a:fillRect l="-1531" t="-117128" r="0" b="0"/>
            </a:stretch>
          </a:blipFill>
        </p:spPr>
      </p:sp>
      <p:sp>
        <p:nvSpPr>
          <p:cNvPr name="TextBox 4" id="4"/>
          <p:cNvSpPr txBox="true"/>
          <p:nvPr/>
        </p:nvSpPr>
        <p:spPr>
          <a:xfrm rot="0">
            <a:off x="6004836" y="1233550"/>
            <a:ext cx="5762625" cy="480060"/>
          </a:xfrm>
          <a:prstGeom prst="rect">
            <a:avLst/>
          </a:prstGeom>
        </p:spPr>
        <p:txBody>
          <a:bodyPr anchor="t" rtlCol="false" tIns="0" lIns="0" bIns="0" rIns="0">
            <a:spAutoFit/>
          </a:bodyPr>
          <a:lstStyle/>
          <a:p>
            <a:pPr algn="ctr">
              <a:lnSpc>
                <a:spcPts val="3630"/>
              </a:lnSpc>
              <a:spcBef>
                <a:spcPct val="0"/>
              </a:spcBef>
            </a:pPr>
            <a:r>
              <a:rPr lang="en-US" b="true" sz="3300" spc="105">
                <a:solidFill>
                  <a:srgbClr val="000000"/>
                </a:solidFill>
                <a:latin typeface="Open Sauce Medium"/>
                <a:ea typeface="Open Sauce Medium"/>
                <a:cs typeface="Open Sauce Medium"/>
                <a:sym typeface="Open Sauce Medium"/>
              </a:rPr>
              <a:t>Coding python collections</a:t>
            </a:r>
          </a:p>
        </p:txBody>
      </p:sp>
      <p:sp>
        <p:nvSpPr>
          <p:cNvPr name="Freeform 5" id="5"/>
          <p:cNvSpPr/>
          <p:nvPr/>
        </p:nvSpPr>
        <p:spPr>
          <a:xfrm flipH="false" flipV="false" rot="0">
            <a:off x="-399185" y="-470686"/>
            <a:ext cx="4202802" cy="2362325"/>
          </a:xfrm>
          <a:custGeom>
            <a:avLst/>
            <a:gdLst/>
            <a:ahLst/>
            <a:cxnLst/>
            <a:rect r="r" b="b" t="t" l="l"/>
            <a:pathLst>
              <a:path h="2362325" w="4202802">
                <a:moveTo>
                  <a:pt x="0" y="0"/>
                </a:moveTo>
                <a:lnTo>
                  <a:pt x="4202803" y="0"/>
                </a:lnTo>
                <a:lnTo>
                  <a:pt x="4202803" y="2362325"/>
                </a:lnTo>
                <a:lnTo>
                  <a:pt x="0" y="2362325"/>
                </a:lnTo>
                <a:lnTo>
                  <a:pt x="0" y="0"/>
                </a:lnTo>
                <a:close/>
              </a:path>
            </a:pathLst>
          </a:custGeom>
          <a:blipFill>
            <a:blip r:embed="rId5">
              <a:alphaModFix amt="37000"/>
            </a:blip>
            <a:stretch>
              <a:fillRect l="0" t="0" r="0" b="0"/>
            </a:stretch>
          </a:blipFill>
        </p:spPr>
      </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015114">
            <a:off x="9740863" y="2343404"/>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816790" y="2333106"/>
            <a:ext cx="12654420" cy="5942798"/>
          </a:xfrm>
          <a:custGeom>
            <a:avLst/>
            <a:gdLst/>
            <a:ahLst/>
            <a:cxnLst/>
            <a:rect r="r" b="b" t="t" l="l"/>
            <a:pathLst>
              <a:path h="5942798" w="12654420">
                <a:moveTo>
                  <a:pt x="0" y="0"/>
                </a:moveTo>
                <a:lnTo>
                  <a:pt x="12654420" y="0"/>
                </a:lnTo>
                <a:lnTo>
                  <a:pt x="12654420" y="5942798"/>
                </a:lnTo>
                <a:lnTo>
                  <a:pt x="0" y="5942798"/>
                </a:lnTo>
                <a:lnTo>
                  <a:pt x="0" y="0"/>
                </a:lnTo>
                <a:close/>
              </a:path>
            </a:pathLst>
          </a:custGeom>
          <a:blipFill>
            <a:blip r:embed="rId4"/>
            <a:stretch>
              <a:fillRect l="0" t="0" r="0" b="0"/>
            </a:stretch>
          </a:blipFill>
        </p:spPr>
      </p:sp>
      <p:sp>
        <p:nvSpPr>
          <p:cNvPr name="TextBox 4" id="4"/>
          <p:cNvSpPr txBox="true"/>
          <p:nvPr/>
        </p:nvSpPr>
        <p:spPr>
          <a:xfrm rot="0">
            <a:off x="6004836" y="1233550"/>
            <a:ext cx="5762625" cy="480060"/>
          </a:xfrm>
          <a:prstGeom prst="rect">
            <a:avLst/>
          </a:prstGeom>
        </p:spPr>
        <p:txBody>
          <a:bodyPr anchor="t" rtlCol="false" tIns="0" lIns="0" bIns="0" rIns="0">
            <a:spAutoFit/>
          </a:bodyPr>
          <a:lstStyle/>
          <a:p>
            <a:pPr algn="ctr">
              <a:lnSpc>
                <a:spcPts val="3630"/>
              </a:lnSpc>
              <a:spcBef>
                <a:spcPct val="0"/>
              </a:spcBef>
            </a:pPr>
            <a:r>
              <a:rPr lang="en-US" b="true" sz="3300" spc="105">
                <a:solidFill>
                  <a:srgbClr val="000000"/>
                </a:solidFill>
                <a:latin typeface="Open Sauce Medium"/>
                <a:ea typeface="Open Sauce Medium"/>
                <a:cs typeface="Open Sauce Medium"/>
                <a:sym typeface="Open Sauce Medium"/>
              </a:rPr>
              <a:t>Coding python collections</a:t>
            </a:r>
          </a:p>
        </p:txBody>
      </p:sp>
      <p:sp>
        <p:nvSpPr>
          <p:cNvPr name="Freeform 5" id="5"/>
          <p:cNvSpPr/>
          <p:nvPr/>
        </p:nvSpPr>
        <p:spPr>
          <a:xfrm flipH="false" flipV="false" rot="0">
            <a:off x="-157304" y="-399545"/>
            <a:ext cx="4202802" cy="2362325"/>
          </a:xfrm>
          <a:custGeom>
            <a:avLst/>
            <a:gdLst/>
            <a:ahLst/>
            <a:cxnLst/>
            <a:rect r="r" b="b" t="t" l="l"/>
            <a:pathLst>
              <a:path h="2362325" w="4202802">
                <a:moveTo>
                  <a:pt x="0" y="0"/>
                </a:moveTo>
                <a:lnTo>
                  <a:pt x="4202802" y="0"/>
                </a:lnTo>
                <a:lnTo>
                  <a:pt x="4202802" y="2362326"/>
                </a:lnTo>
                <a:lnTo>
                  <a:pt x="0" y="2362326"/>
                </a:lnTo>
                <a:lnTo>
                  <a:pt x="0" y="0"/>
                </a:lnTo>
                <a:close/>
              </a:path>
            </a:pathLst>
          </a:custGeom>
          <a:blipFill>
            <a:blip r:embed="rId5">
              <a:alphaModFix amt="37000"/>
            </a:blip>
            <a:stretch>
              <a:fillRect l="0" t="0" r="0" b="0"/>
            </a:stretch>
          </a:blipFill>
        </p:spPr>
      </p:sp>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8100000">
            <a:off x="-5281063" y="-2431920"/>
            <a:ext cx="16893429" cy="10074627"/>
          </a:xfrm>
          <a:custGeom>
            <a:avLst/>
            <a:gdLst/>
            <a:ahLst/>
            <a:cxnLst/>
            <a:rect r="r" b="b" t="t" l="l"/>
            <a:pathLst>
              <a:path h="10074627" w="16893429">
                <a:moveTo>
                  <a:pt x="0" y="0"/>
                </a:moveTo>
                <a:lnTo>
                  <a:pt x="16893430" y="0"/>
                </a:lnTo>
                <a:lnTo>
                  <a:pt x="16893430" y="10074627"/>
                </a:lnTo>
                <a:lnTo>
                  <a:pt x="0" y="100746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66398" y="1333975"/>
            <a:ext cx="15433919" cy="7619050"/>
            <a:chOff x="0" y="0"/>
            <a:chExt cx="4064900" cy="2006663"/>
          </a:xfrm>
        </p:grpSpPr>
        <p:sp>
          <p:nvSpPr>
            <p:cNvPr name="Freeform 4" id="4"/>
            <p:cNvSpPr/>
            <p:nvPr/>
          </p:nvSpPr>
          <p:spPr>
            <a:xfrm flipH="false" flipV="false" rot="0">
              <a:off x="0" y="0"/>
              <a:ext cx="4064900" cy="2006663"/>
            </a:xfrm>
            <a:custGeom>
              <a:avLst/>
              <a:gdLst/>
              <a:ahLst/>
              <a:cxnLst/>
              <a:rect r="r" b="b" t="t" l="l"/>
              <a:pathLst>
                <a:path h="2006663" w="4064900">
                  <a:moveTo>
                    <a:pt x="0" y="0"/>
                  </a:moveTo>
                  <a:lnTo>
                    <a:pt x="4064900" y="0"/>
                  </a:lnTo>
                  <a:lnTo>
                    <a:pt x="4064900" y="2006663"/>
                  </a:lnTo>
                  <a:lnTo>
                    <a:pt x="0" y="200666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64900" cy="2035238"/>
            </a:xfrm>
            <a:prstGeom prst="rect">
              <a:avLst/>
            </a:prstGeom>
          </p:spPr>
          <p:txBody>
            <a:bodyPr anchor="ctr" rtlCol="false" tIns="50800" lIns="50800" bIns="50800" rIns="50800"/>
            <a:lstStyle/>
            <a:p>
              <a:pPr algn="ctr">
                <a:lnSpc>
                  <a:spcPts val="1869"/>
                </a:lnSpc>
              </a:pPr>
            </a:p>
          </p:txBody>
        </p:sp>
      </p:grpSp>
      <p:sp>
        <p:nvSpPr>
          <p:cNvPr name="TextBox 6" id="6"/>
          <p:cNvSpPr txBox="true"/>
          <p:nvPr/>
        </p:nvSpPr>
        <p:spPr>
          <a:xfrm rot="0">
            <a:off x="2226667" y="2076052"/>
            <a:ext cx="13834665" cy="5381625"/>
          </a:xfrm>
          <a:prstGeom prst="rect">
            <a:avLst/>
          </a:prstGeom>
        </p:spPr>
        <p:txBody>
          <a:bodyPr anchor="t" rtlCol="false" tIns="0" lIns="0" bIns="0" rIns="0">
            <a:spAutoFit/>
          </a:bodyPr>
          <a:lstStyle/>
          <a:p>
            <a:pPr algn="ctr">
              <a:lnSpc>
                <a:spcPts val="6960"/>
              </a:lnSpc>
            </a:pPr>
            <a:r>
              <a:rPr lang="en-US" sz="5800" spc="185">
                <a:solidFill>
                  <a:srgbClr val="000000"/>
                </a:solidFill>
                <a:latin typeface="Open Sauce"/>
                <a:ea typeface="Open Sauce"/>
                <a:cs typeface="Open Sauce"/>
                <a:sym typeface="Open Sauce"/>
              </a:rPr>
              <a:t>Create list and cast it to a tuple </a:t>
            </a:r>
          </a:p>
          <a:p>
            <a:pPr algn="ctr">
              <a:lnSpc>
                <a:spcPts val="6960"/>
              </a:lnSpc>
            </a:pPr>
            <a:r>
              <a:rPr lang="en-US" sz="5800" spc="185">
                <a:solidFill>
                  <a:srgbClr val="000000"/>
                </a:solidFill>
                <a:latin typeface="Open Sauce"/>
                <a:ea typeface="Open Sauce"/>
                <a:cs typeface="Open Sauce"/>
                <a:sym typeface="Open Sauce"/>
              </a:rPr>
              <a:t>What happens to the memory address of the objects?</a:t>
            </a:r>
          </a:p>
          <a:p>
            <a:pPr algn="ctr">
              <a:lnSpc>
                <a:spcPts val="6960"/>
              </a:lnSpc>
            </a:pPr>
          </a:p>
          <a:p>
            <a:pPr algn="ctr">
              <a:lnSpc>
                <a:spcPts val="6960"/>
              </a:lnSpc>
            </a:pPr>
            <a:r>
              <a:rPr lang="en-US" sz="5800" spc="185">
                <a:solidFill>
                  <a:srgbClr val="000000"/>
                </a:solidFill>
                <a:latin typeface="Open Sauce"/>
                <a:ea typeface="Open Sauce"/>
                <a:cs typeface="Open Sauce"/>
                <a:sym typeface="Open Sauce"/>
              </a:rPr>
              <a:t> </a:t>
            </a:r>
          </a:p>
          <a:p>
            <a:pPr algn="ctr">
              <a:lnSpc>
                <a:spcPts val="7920"/>
              </a:lnSpc>
            </a:pPr>
            <a:r>
              <a:rPr lang="en-US" sz="6600">
                <a:solidFill>
                  <a:srgbClr val="000000"/>
                </a:solidFill>
                <a:latin typeface="Open Sauce"/>
                <a:ea typeface="Open Sauce"/>
                <a:cs typeface="Open Sauce"/>
                <a:sym typeface="Open Sauce"/>
              </a:rPr>
              <a:t> </a:t>
            </a:r>
          </a:p>
        </p:txBody>
      </p:sp>
      <p:sp>
        <p:nvSpPr>
          <p:cNvPr name="Freeform 7" id="7"/>
          <p:cNvSpPr/>
          <p:nvPr/>
        </p:nvSpPr>
        <p:spPr>
          <a:xfrm flipH="false" flipV="false" rot="0">
            <a:off x="14497818" y="-556056"/>
            <a:ext cx="4202802" cy="2362325"/>
          </a:xfrm>
          <a:custGeom>
            <a:avLst/>
            <a:gdLst/>
            <a:ahLst/>
            <a:cxnLst/>
            <a:rect r="r" b="b" t="t" l="l"/>
            <a:pathLst>
              <a:path h="2362325" w="4202802">
                <a:moveTo>
                  <a:pt x="0" y="0"/>
                </a:moveTo>
                <a:lnTo>
                  <a:pt x="4202802" y="0"/>
                </a:lnTo>
                <a:lnTo>
                  <a:pt x="4202802" y="2362326"/>
                </a:lnTo>
                <a:lnTo>
                  <a:pt x="0" y="2362326"/>
                </a:lnTo>
                <a:lnTo>
                  <a:pt x="0" y="0"/>
                </a:lnTo>
                <a:close/>
              </a:path>
            </a:pathLst>
          </a:custGeom>
          <a:blipFill>
            <a:blip r:embed="rId4">
              <a:alphaModFix amt="37000"/>
            </a:blip>
            <a:stretch>
              <a:fillRect l="0" t="0" r="0" b="0"/>
            </a:stretch>
          </a:blipFill>
        </p:spPr>
      </p:sp>
    </p:spTree>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1615353" y="3262030"/>
            <a:ext cx="15057295" cy="3186996"/>
          </a:xfrm>
          <a:custGeom>
            <a:avLst/>
            <a:gdLst/>
            <a:ahLst/>
            <a:cxnLst/>
            <a:rect r="r" b="b" t="t" l="l"/>
            <a:pathLst>
              <a:path h="3186996" w="15057295">
                <a:moveTo>
                  <a:pt x="0" y="0"/>
                </a:moveTo>
                <a:lnTo>
                  <a:pt x="15057294" y="0"/>
                </a:lnTo>
                <a:lnTo>
                  <a:pt x="15057294" y="3186996"/>
                </a:lnTo>
                <a:lnTo>
                  <a:pt x="0" y="3186996"/>
                </a:lnTo>
                <a:lnTo>
                  <a:pt x="0" y="0"/>
                </a:lnTo>
                <a:close/>
              </a:path>
            </a:pathLst>
          </a:custGeom>
          <a:blipFill>
            <a:blip r:embed="rId2"/>
            <a:stretch>
              <a:fillRect l="-360" t="0" r="0" b="-131665"/>
            </a:stretch>
          </a:blipFill>
        </p:spPr>
      </p:sp>
      <p:sp>
        <p:nvSpPr>
          <p:cNvPr name="Freeform 3" id="3"/>
          <p:cNvSpPr/>
          <p:nvPr/>
        </p:nvSpPr>
        <p:spPr>
          <a:xfrm flipH="false" flipV="false" rot="0">
            <a:off x="14497818" y="-556056"/>
            <a:ext cx="4202802" cy="2362325"/>
          </a:xfrm>
          <a:custGeom>
            <a:avLst/>
            <a:gdLst/>
            <a:ahLst/>
            <a:cxnLst/>
            <a:rect r="r" b="b" t="t" l="l"/>
            <a:pathLst>
              <a:path h="2362325" w="4202802">
                <a:moveTo>
                  <a:pt x="0" y="0"/>
                </a:moveTo>
                <a:lnTo>
                  <a:pt x="4202802" y="0"/>
                </a:lnTo>
                <a:lnTo>
                  <a:pt x="4202802" y="2362326"/>
                </a:lnTo>
                <a:lnTo>
                  <a:pt x="0" y="2362326"/>
                </a:lnTo>
                <a:lnTo>
                  <a:pt x="0" y="0"/>
                </a:lnTo>
                <a:close/>
              </a:path>
            </a:pathLst>
          </a:custGeom>
          <a:blipFill>
            <a:blip r:embed="rId3">
              <a:alphaModFix amt="37000"/>
            </a:blip>
            <a:stretch>
              <a:fillRect l="0" t="0" r="0" b="0"/>
            </a:stretch>
          </a:blipFill>
        </p:spPr>
      </p:sp>
    </p:spTree>
  </p:cSld>
  <p:clrMapOvr>
    <a:masterClrMapping/>
  </p:clrMapOvr>
</p:sld>
</file>

<file path=ppt/slides/slide59.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8100000">
            <a:off x="-5281063" y="-2431920"/>
            <a:ext cx="16893429" cy="10074627"/>
          </a:xfrm>
          <a:custGeom>
            <a:avLst/>
            <a:gdLst/>
            <a:ahLst/>
            <a:cxnLst/>
            <a:rect r="r" b="b" t="t" l="l"/>
            <a:pathLst>
              <a:path h="10074627" w="16893429">
                <a:moveTo>
                  <a:pt x="0" y="0"/>
                </a:moveTo>
                <a:lnTo>
                  <a:pt x="16893430" y="0"/>
                </a:lnTo>
                <a:lnTo>
                  <a:pt x="16893430" y="10074627"/>
                </a:lnTo>
                <a:lnTo>
                  <a:pt x="0" y="100746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66398" y="1333975"/>
            <a:ext cx="15433919" cy="7619050"/>
            <a:chOff x="0" y="0"/>
            <a:chExt cx="4064900" cy="2006663"/>
          </a:xfrm>
        </p:grpSpPr>
        <p:sp>
          <p:nvSpPr>
            <p:cNvPr name="Freeform 4" id="4"/>
            <p:cNvSpPr/>
            <p:nvPr/>
          </p:nvSpPr>
          <p:spPr>
            <a:xfrm flipH="false" flipV="false" rot="0">
              <a:off x="0" y="0"/>
              <a:ext cx="4064900" cy="2006663"/>
            </a:xfrm>
            <a:custGeom>
              <a:avLst/>
              <a:gdLst/>
              <a:ahLst/>
              <a:cxnLst/>
              <a:rect r="r" b="b" t="t" l="l"/>
              <a:pathLst>
                <a:path h="2006663" w="4064900">
                  <a:moveTo>
                    <a:pt x="0" y="0"/>
                  </a:moveTo>
                  <a:lnTo>
                    <a:pt x="4064900" y="0"/>
                  </a:lnTo>
                  <a:lnTo>
                    <a:pt x="4064900" y="2006663"/>
                  </a:lnTo>
                  <a:lnTo>
                    <a:pt x="0" y="200666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64900" cy="2035238"/>
            </a:xfrm>
            <a:prstGeom prst="rect">
              <a:avLst/>
            </a:prstGeom>
          </p:spPr>
          <p:txBody>
            <a:bodyPr anchor="ctr" rtlCol="false" tIns="50800" lIns="50800" bIns="50800" rIns="50800"/>
            <a:lstStyle/>
            <a:p>
              <a:pPr algn="ctr">
                <a:lnSpc>
                  <a:spcPts val="1869"/>
                </a:lnSpc>
              </a:pPr>
            </a:p>
          </p:txBody>
        </p:sp>
      </p:grpSp>
      <p:sp>
        <p:nvSpPr>
          <p:cNvPr name="TextBox 6" id="6"/>
          <p:cNvSpPr txBox="true"/>
          <p:nvPr/>
        </p:nvSpPr>
        <p:spPr>
          <a:xfrm rot="0">
            <a:off x="2226667" y="2076052"/>
            <a:ext cx="13834665" cy="5381625"/>
          </a:xfrm>
          <a:prstGeom prst="rect">
            <a:avLst/>
          </a:prstGeom>
        </p:spPr>
        <p:txBody>
          <a:bodyPr anchor="t" rtlCol="false" tIns="0" lIns="0" bIns="0" rIns="0">
            <a:spAutoFit/>
          </a:bodyPr>
          <a:lstStyle/>
          <a:p>
            <a:pPr algn="ctr">
              <a:lnSpc>
                <a:spcPts val="6960"/>
              </a:lnSpc>
            </a:pPr>
          </a:p>
          <a:p>
            <a:pPr algn="ctr">
              <a:lnSpc>
                <a:spcPts val="6960"/>
              </a:lnSpc>
            </a:pPr>
            <a:r>
              <a:rPr lang="en-US" sz="5800" spc="185">
                <a:solidFill>
                  <a:srgbClr val="000000"/>
                </a:solidFill>
                <a:latin typeface="Open Sauce"/>
                <a:ea typeface="Open Sauce"/>
                <a:cs typeface="Open Sauce"/>
                <a:sym typeface="Open Sauce"/>
              </a:rPr>
              <a:t>Append a new item to the list and tuple.</a:t>
            </a:r>
          </a:p>
          <a:p>
            <a:pPr algn="ctr">
              <a:lnSpc>
                <a:spcPts val="6960"/>
              </a:lnSpc>
            </a:pPr>
            <a:r>
              <a:rPr lang="en-US" sz="5800" spc="185">
                <a:solidFill>
                  <a:srgbClr val="000000"/>
                </a:solidFill>
                <a:latin typeface="Open Sauce"/>
                <a:ea typeface="Open Sauce"/>
                <a:cs typeface="Open Sauce"/>
                <a:sym typeface="Open Sauce"/>
              </a:rPr>
              <a:t>Whats the cause of any errors?</a:t>
            </a:r>
          </a:p>
          <a:p>
            <a:pPr algn="ctr">
              <a:lnSpc>
                <a:spcPts val="6960"/>
              </a:lnSpc>
            </a:pPr>
            <a:r>
              <a:rPr lang="en-US" sz="5800" spc="185">
                <a:solidFill>
                  <a:srgbClr val="000000"/>
                </a:solidFill>
                <a:latin typeface="Open Sauce"/>
                <a:ea typeface="Open Sauce"/>
                <a:cs typeface="Open Sauce"/>
                <a:sym typeface="Open Sauce"/>
              </a:rPr>
              <a:t> </a:t>
            </a:r>
          </a:p>
          <a:p>
            <a:pPr algn="ctr">
              <a:lnSpc>
                <a:spcPts val="7920"/>
              </a:lnSpc>
            </a:pPr>
            <a:r>
              <a:rPr lang="en-US" sz="6600">
                <a:solidFill>
                  <a:srgbClr val="000000"/>
                </a:solidFill>
                <a:latin typeface="Open Sauce"/>
                <a:ea typeface="Open Sauce"/>
                <a:cs typeface="Open Sauce"/>
                <a:sym typeface="Open Sauce"/>
              </a:rPr>
              <a:t> </a:t>
            </a:r>
          </a:p>
        </p:txBody>
      </p:sp>
      <p:sp>
        <p:nvSpPr>
          <p:cNvPr name="Freeform 7" id="7"/>
          <p:cNvSpPr/>
          <p:nvPr/>
        </p:nvSpPr>
        <p:spPr>
          <a:xfrm flipH="false" flipV="false" rot="0">
            <a:off x="14497818" y="-556056"/>
            <a:ext cx="4202802" cy="2362325"/>
          </a:xfrm>
          <a:custGeom>
            <a:avLst/>
            <a:gdLst/>
            <a:ahLst/>
            <a:cxnLst/>
            <a:rect r="r" b="b" t="t" l="l"/>
            <a:pathLst>
              <a:path h="2362325" w="4202802">
                <a:moveTo>
                  <a:pt x="0" y="0"/>
                </a:moveTo>
                <a:lnTo>
                  <a:pt x="4202802" y="0"/>
                </a:lnTo>
                <a:lnTo>
                  <a:pt x="4202802" y="2362326"/>
                </a:lnTo>
                <a:lnTo>
                  <a:pt x="0" y="2362326"/>
                </a:lnTo>
                <a:lnTo>
                  <a:pt x="0" y="0"/>
                </a:lnTo>
                <a:close/>
              </a:path>
            </a:pathLst>
          </a:custGeom>
          <a:blipFill>
            <a:blip r:embed="rId4">
              <a:alphaModFix amt="37000"/>
            </a:blip>
            <a:stretch>
              <a:fillRect l="0" t="0" r="0" b="0"/>
            </a:stretch>
          </a:blipFill>
        </p:spPr>
      </p:sp>
    </p:spTree>
  </p:cSld>
  <p:clrMapOvr>
    <a:masterClrMapping/>
  </p:clrMapOvr>
</p:sld>
</file>

<file path=ppt/slides/slide60.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4201744" y="1472893"/>
            <a:ext cx="10502037" cy="3757194"/>
          </a:xfrm>
          <a:custGeom>
            <a:avLst/>
            <a:gdLst/>
            <a:ahLst/>
            <a:cxnLst/>
            <a:rect r="r" b="b" t="t" l="l"/>
            <a:pathLst>
              <a:path h="3757194" w="10502037">
                <a:moveTo>
                  <a:pt x="0" y="0"/>
                </a:moveTo>
                <a:lnTo>
                  <a:pt x="10502036" y="0"/>
                </a:lnTo>
                <a:lnTo>
                  <a:pt x="10502036" y="3757194"/>
                </a:lnTo>
                <a:lnTo>
                  <a:pt x="0" y="3757194"/>
                </a:lnTo>
                <a:lnTo>
                  <a:pt x="0" y="0"/>
                </a:lnTo>
                <a:close/>
              </a:path>
            </a:pathLst>
          </a:custGeom>
          <a:blipFill>
            <a:blip r:embed="rId2"/>
            <a:stretch>
              <a:fillRect l="0" t="0" r="0" b="0"/>
            </a:stretch>
          </a:blipFill>
        </p:spPr>
      </p:sp>
      <p:sp>
        <p:nvSpPr>
          <p:cNvPr name="Freeform 3" id="3"/>
          <p:cNvSpPr/>
          <p:nvPr/>
        </p:nvSpPr>
        <p:spPr>
          <a:xfrm flipH="false" flipV="false" rot="0">
            <a:off x="14497818" y="-556056"/>
            <a:ext cx="4202802" cy="2362325"/>
          </a:xfrm>
          <a:custGeom>
            <a:avLst/>
            <a:gdLst/>
            <a:ahLst/>
            <a:cxnLst/>
            <a:rect r="r" b="b" t="t" l="l"/>
            <a:pathLst>
              <a:path h="2362325" w="4202802">
                <a:moveTo>
                  <a:pt x="0" y="0"/>
                </a:moveTo>
                <a:lnTo>
                  <a:pt x="4202802" y="0"/>
                </a:lnTo>
                <a:lnTo>
                  <a:pt x="4202802" y="2362326"/>
                </a:lnTo>
                <a:lnTo>
                  <a:pt x="0" y="2362326"/>
                </a:lnTo>
                <a:lnTo>
                  <a:pt x="0" y="0"/>
                </a:lnTo>
                <a:close/>
              </a:path>
            </a:pathLst>
          </a:custGeom>
          <a:blipFill>
            <a:blip r:embed="rId3">
              <a:alphaModFix amt="37000"/>
            </a:blip>
            <a:stretch>
              <a:fillRect l="0" t="0" r="0" b="0"/>
            </a:stretch>
          </a:blipFill>
        </p:spPr>
      </p:sp>
    </p:spTree>
  </p:cSld>
  <p:clrMapOvr>
    <a:masterClrMapping/>
  </p:clrMapOvr>
</p:sld>
</file>

<file path=ppt/slides/slide61.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8100000">
            <a:off x="-5281063" y="-2431920"/>
            <a:ext cx="16893429" cy="10074627"/>
          </a:xfrm>
          <a:custGeom>
            <a:avLst/>
            <a:gdLst/>
            <a:ahLst/>
            <a:cxnLst/>
            <a:rect r="r" b="b" t="t" l="l"/>
            <a:pathLst>
              <a:path h="10074627" w="16893429">
                <a:moveTo>
                  <a:pt x="0" y="0"/>
                </a:moveTo>
                <a:lnTo>
                  <a:pt x="16893430" y="0"/>
                </a:lnTo>
                <a:lnTo>
                  <a:pt x="16893430" y="10074627"/>
                </a:lnTo>
                <a:lnTo>
                  <a:pt x="0" y="100746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427040" y="1028700"/>
            <a:ext cx="15433919" cy="7619050"/>
            <a:chOff x="0" y="0"/>
            <a:chExt cx="4064900" cy="2006663"/>
          </a:xfrm>
        </p:grpSpPr>
        <p:sp>
          <p:nvSpPr>
            <p:cNvPr name="Freeform 4" id="4"/>
            <p:cNvSpPr/>
            <p:nvPr/>
          </p:nvSpPr>
          <p:spPr>
            <a:xfrm flipH="false" flipV="false" rot="0">
              <a:off x="0" y="0"/>
              <a:ext cx="4064900" cy="2006663"/>
            </a:xfrm>
            <a:custGeom>
              <a:avLst/>
              <a:gdLst/>
              <a:ahLst/>
              <a:cxnLst/>
              <a:rect r="r" b="b" t="t" l="l"/>
              <a:pathLst>
                <a:path h="2006663" w="4064900">
                  <a:moveTo>
                    <a:pt x="0" y="0"/>
                  </a:moveTo>
                  <a:lnTo>
                    <a:pt x="4064900" y="0"/>
                  </a:lnTo>
                  <a:lnTo>
                    <a:pt x="4064900" y="2006663"/>
                  </a:lnTo>
                  <a:lnTo>
                    <a:pt x="0" y="200666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64900" cy="2035238"/>
            </a:xfrm>
            <a:prstGeom prst="rect">
              <a:avLst/>
            </a:prstGeom>
          </p:spPr>
          <p:txBody>
            <a:bodyPr anchor="ctr" rtlCol="false" tIns="50800" lIns="50800" bIns="50800" rIns="50800"/>
            <a:lstStyle/>
            <a:p>
              <a:pPr algn="ctr">
                <a:lnSpc>
                  <a:spcPts val="1869"/>
                </a:lnSpc>
              </a:pPr>
            </a:p>
          </p:txBody>
        </p:sp>
      </p:grpSp>
      <p:sp>
        <p:nvSpPr>
          <p:cNvPr name="TextBox 6" id="6"/>
          <p:cNvSpPr txBox="true"/>
          <p:nvPr/>
        </p:nvSpPr>
        <p:spPr>
          <a:xfrm rot="0">
            <a:off x="2226667" y="2133600"/>
            <a:ext cx="13834665" cy="6010275"/>
          </a:xfrm>
          <a:prstGeom prst="rect">
            <a:avLst/>
          </a:prstGeom>
        </p:spPr>
        <p:txBody>
          <a:bodyPr anchor="t" rtlCol="false" tIns="0" lIns="0" bIns="0" rIns="0">
            <a:spAutoFit/>
          </a:bodyPr>
          <a:lstStyle/>
          <a:p>
            <a:pPr algn="ctr">
              <a:lnSpc>
                <a:spcPts val="7920"/>
              </a:lnSpc>
            </a:pPr>
            <a:r>
              <a:rPr lang="en-US" sz="6600">
                <a:solidFill>
                  <a:srgbClr val="000000"/>
                </a:solidFill>
                <a:latin typeface="Open Sauce"/>
                <a:ea typeface="Open Sauce"/>
                <a:cs typeface="Open Sauce"/>
                <a:sym typeface="Open Sauce"/>
              </a:rPr>
              <a:t>Note these are Pythonic data structures - linked lists, tree, stacks and queues exist give them a google or a chatty if you are intrested</a:t>
            </a:r>
          </a:p>
          <a:p>
            <a:pPr algn="ctr">
              <a:lnSpc>
                <a:spcPts val="7920"/>
              </a:lnSpc>
            </a:pPr>
          </a:p>
        </p:txBody>
      </p:sp>
      <p:sp>
        <p:nvSpPr>
          <p:cNvPr name="Freeform 7" id="7"/>
          <p:cNvSpPr/>
          <p:nvPr/>
        </p:nvSpPr>
        <p:spPr>
          <a:xfrm flipH="false" flipV="false" rot="0">
            <a:off x="14568959" y="-612969"/>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4">
              <a:alphaModFix amt="37000"/>
            </a:blip>
            <a:stretch>
              <a:fillRect l="0" t="0" r="0" b="0"/>
            </a:stretch>
          </a:blipFill>
        </p:spPr>
      </p:sp>
    </p:spTree>
  </p:cSld>
  <p:clrMapOvr>
    <a:masterClrMapping/>
  </p:clrMapOvr>
</p:sld>
</file>

<file path=ppt/slides/slide62.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2923865">
            <a:off x="-2984685" y="1184351"/>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5400000">
            <a:off x="8046708" y="385825"/>
            <a:ext cx="11245538" cy="9778557"/>
            <a:chOff x="0" y="0"/>
            <a:chExt cx="2961788" cy="2575423"/>
          </a:xfrm>
        </p:grpSpPr>
        <p:sp>
          <p:nvSpPr>
            <p:cNvPr name="Freeform 4" id="4"/>
            <p:cNvSpPr/>
            <p:nvPr/>
          </p:nvSpPr>
          <p:spPr>
            <a:xfrm flipH="false" flipV="false" rot="0">
              <a:off x="0" y="0"/>
              <a:ext cx="2961788" cy="2575422"/>
            </a:xfrm>
            <a:custGeom>
              <a:avLst/>
              <a:gdLst/>
              <a:ahLst/>
              <a:cxnLst/>
              <a:rect r="r" b="b" t="t" l="l"/>
              <a:pathLst>
                <a:path h="2575422" w="2961788">
                  <a:moveTo>
                    <a:pt x="0" y="0"/>
                  </a:moveTo>
                  <a:lnTo>
                    <a:pt x="2961788" y="0"/>
                  </a:lnTo>
                  <a:lnTo>
                    <a:pt x="2961788" y="2575422"/>
                  </a:lnTo>
                  <a:lnTo>
                    <a:pt x="0" y="2575422"/>
                  </a:lnTo>
                  <a:close/>
                </a:path>
              </a:pathLst>
            </a:custGeom>
            <a:solidFill>
              <a:srgbClr val="192253"/>
            </a:solidFill>
          </p:spPr>
        </p:sp>
        <p:sp>
          <p:nvSpPr>
            <p:cNvPr name="TextBox 5" id="5"/>
            <p:cNvSpPr txBox="true"/>
            <p:nvPr/>
          </p:nvSpPr>
          <p:spPr>
            <a:xfrm>
              <a:off x="0" y="-28575"/>
              <a:ext cx="2961788" cy="2603998"/>
            </a:xfrm>
            <a:prstGeom prst="rect">
              <a:avLst/>
            </a:prstGeom>
          </p:spPr>
          <p:txBody>
            <a:bodyPr anchor="ctr" rtlCol="false" tIns="50800" lIns="50800" bIns="50800" rIns="50800"/>
            <a:lstStyle/>
            <a:p>
              <a:pPr algn="ctr">
                <a:lnSpc>
                  <a:spcPts val="1869"/>
                </a:lnSpc>
              </a:pPr>
            </a:p>
          </p:txBody>
        </p:sp>
      </p:grpSp>
      <p:sp>
        <p:nvSpPr>
          <p:cNvPr name="AutoShape 6" id="6"/>
          <p:cNvSpPr/>
          <p:nvPr/>
        </p:nvSpPr>
        <p:spPr>
          <a:xfrm flipH="true" flipV="true">
            <a:off x="-488525" y="8289279"/>
            <a:ext cx="15156557" cy="0"/>
          </a:xfrm>
          <a:prstGeom prst="line">
            <a:avLst/>
          </a:prstGeom>
          <a:ln cap="flat" w="76200">
            <a:solidFill>
              <a:srgbClr val="C23A97"/>
            </a:solidFill>
            <a:prstDash val="solid"/>
            <a:headEnd type="none" len="sm" w="sm"/>
            <a:tailEnd type="none" len="sm" w="sm"/>
          </a:ln>
        </p:spPr>
      </p:sp>
      <p:sp>
        <p:nvSpPr>
          <p:cNvPr name="AutoShape 7" id="7"/>
          <p:cNvSpPr/>
          <p:nvPr/>
        </p:nvSpPr>
        <p:spPr>
          <a:xfrm flipH="true">
            <a:off x="10559239" y="2561194"/>
            <a:ext cx="8347436" cy="0"/>
          </a:xfrm>
          <a:prstGeom prst="line">
            <a:avLst/>
          </a:prstGeom>
          <a:ln cap="flat" w="76200">
            <a:solidFill>
              <a:srgbClr val="F5F5F5"/>
            </a:solidFill>
            <a:prstDash val="solid"/>
            <a:headEnd type="none" len="sm" w="sm"/>
            <a:tailEnd type="none" len="sm" w="sm"/>
          </a:ln>
        </p:spPr>
      </p:sp>
      <p:sp>
        <p:nvSpPr>
          <p:cNvPr name="TextBox 8" id="8"/>
          <p:cNvSpPr txBox="true"/>
          <p:nvPr/>
        </p:nvSpPr>
        <p:spPr>
          <a:xfrm rot="0">
            <a:off x="13669477" y="4887513"/>
            <a:ext cx="4173718" cy="784225"/>
          </a:xfrm>
          <a:prstGeom prst="rect">
            <a:avLst/>
          </a:prstGeom>
        </p:spPr>
        <p:txBody>
          <a:bodyPr anchor="t" rtlCol="false" tIns="0" lIns="0" bIns="0" rIns="0">
            <a:spAutoFit/>
          </a:bodyPr>
          <a:lstStyle/>
          <a:p>
            <a:pPr algn="l">
              <a:lnSpc>
                <a:spcPts val="6049"/>
              </a:lnSpc>
            </a:pPr>
            <a:r>
              <a:rPr lang="en-US" b="true" sz="5499" spc="175">
                <a:solidFill>
                  <a:srgbClr val="FFFFFF"/>
                </a:solidFill>
                <a:latin typeface="Open Sauce Medium"/>
                <a:ea typeface="Open Sauce Medium"/>
                <a:cs typeface="Open Sauce Medium"/>
                <a:sym typeface="Open Sauce Medium"/>
              </a:rPr>
              <a:t>LOOPS</a:t>
            </a:r>
          </a:p>
        </p:txBody>
      </p:sp>
      <p:sp>
        <p:nvSpPr>
          <p:cNvPr name="Freeform 9" id="9"/>
          <p:cNvSpPr/>
          <p:nvPr/>
        </p:nvSpPr>
        <p:spPr>
          <a:xfrm flipH="false" flipV="false" rot="0">
            <a:off x="14497818" y="-556056"/>
            <a:ext cx="4202802" cy="2362325"/>
          </a:xfrm>
          <a:custGeom>
            <a:avLst/>
            <a:gdLst/>
            <a:ahLst/>
            <a:cxnLst/>
            <a:rect r="r" b="b" t="t" l="l"/>
            <a:pathLst>
              <a:path h="2362325" w="4202802">
                <a:moveTo>
                  <a:pt x="0" y="0"/>
                </a:moveTo>
                <a:lnTo>
                  <a:pt x="4202802" y="0"/>
                </a:lnTo>
                <a:lnTo>
                  <a:pt x="4202802" y="2362326"/>
                </a:lnTo>
                <a:lnTo>
                  <a:pt x="0" y="2362326"/>
                </a:lnTo>
                <a:lnTo>
                  <a:pt x="0" y="0"/>
                </a:lnTo>
                <a:close/>
              </a:path>
            </a:pathLst>
          </a:custGeom>
          <a:blipFill>
            <a:blip r:embed="rId4">
              <a:alphaModFix amt="37000"/>
            </a:blip>
            <a:stretch>
              <a:fillRect l="0" t="0" r="0" b="0"/>
            </a:stretch>
          </a:blipFill>
        </p:spPr>
      </p:sp>
    </p:spTree>
  </p:cSld>
  <p:clrMapOvr>
    <a:masterClrMapping/>
  </p:clrMapOvr>
</p:sld>
</file>

<file path=ppt/slides/slide63.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AutoShape 2" id="2"/>
          <p:cNvSpPr/>
          <p:nvPr/>
        </p:nvSpPr>
        <p:spPr>
          <a:xfrm flipV="true">
            <a:off x="3163511" y="5340142"/>
            <a:ext cx="11464743" cy="36005"/>
          </a:xfrm>
          <a:prstGeom prst="line">
            <a:avLst/>
          </a:prstGeom>
          <a:ln cap="flat" w="38100">
            <a:solidFill>
              <a:srgbClr val="192253"/>
            </a:solidFill>
            <a:prstDash val="solid"/>
            <a:headEnd type="none" len="sm" w="sm"/>
            <a:tailEnd type="none" len="sm" w="sm"/>
          </a:ln>
        </p:spPr>
      </p:sp>
      <p:grpSp>
        <p:nvGrpSpPr>
          <p:cNvPr name="Group 3" id="3"/>
          <p:cNvGrpSpPr>
            <a:grpSpLocks noChangeAspect="true"/>
          </p:cNvGrpSpPr>
          <p:nvPr/>
        </p:nvGrpSpPr>
        <p:grpSpPr>
          <a:xfrm rot="5400000">
            <a:off x="14628253" y="5143500"/>
            <a:ext cx="392053" cy="392053"/>
            <a:chOff x="6705600" y="1371600"/>
            <a:chExt cx="10972800" cy="10972800"/>
          </a:xfrm>
        </p:grpSpPr>
        <p:sp>
          <p:nvSpPr>
            <p:cNvPr name="Freeform 4" id="4"/>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5" id="5"/>
          <p:cNvGrpSpPr>
            <a:grpSpLocks noChangeAspect="true"/>
          </p:cNvGrpSpPr>
          <p:nvPr/>
        </p:nvGrpSpPr>
        <p:grpSpPr>
          <a:xfrm rot="5400000">
            <a:off x="9051761" y="5143500"/>
            <a:ext cx="465293" cy="465293"/>
            <a:chOff x="6705600" y="1371600"/>
            <a:chExt cx="10972800" cy="10972800"/>
          </a:xfrm>
        </p:grpSpPr>
        <p:sp>
          <p:nvSpPr>
            <p:cNvPr name="Freeform 6" id="6"/>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7" id="7"/>
          <p:cNvGrpSpPr>
            <a:grpSpLocks noChangeAspect="true"/>
          </p:cNvGrpSpPr>
          <p:nvPr/>
        </p:nvGrpSpPr>
        <p:grpSpPr>
          <a:xfrm rot="5400000">
            <a:off x="3163511" y="5180120"/>
            <a:ext cx="392053" cy="392053"/>
            <a:chOff x="6705600" y="1371600"/>
            <a:chExt cx="10972800" cy="10972800"/>
          </a:xfrm>
        </p:grpSpPr>
        <p:sp>
          <p:nvSpPr>
            <p:cNvPr name="Freeform 8" id="8"/>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sp>
        <p:nvSpPr>
          <p:cNvPr name="TextBox 9" id="9"/>
          <p:cNvSpPr txBox="true"/>
          <p:nvPr/>
        </p:nvSpPr>
        <p:spPr>
          <a:xfrm rot="0">
            <a:off x="4929144" y="2072923"/>
            <a:ext cx="8491369" cy="480060"/>
          </a:xfrm>
          <a:prstGeom prst="rect">
            <a:avLst/>
          </a:prstGeom>
        </p:spPr>
        <p:txBody>
          <a:bodyPr anchor="t" rtlCol="false" tIns="0" lIns="0" bIns="0" rIns="0">
            <a:spAutoFit/>
          </a:bodyPr>
          <a:lstStyle/>
          <a:p>
            <a:pPr algn="ctr">
              <a:lnSpc>
                <a:spcPts val="3630"/>
              </a:lnSpc>
            </a:pPr>
            <a:r>
              <a:rPr lang="en-US" b="true" sz="3300" spc="105">
                <a:solidFill>
                  <a:srgbClr val="000000"/>
                </a:solidFill>
                <a:latin typeface="Open Sauce Bold"/>
                <a:ea typeface="Open Sauce Bold"/>
                <a:cs typeface="Open Sauce Bold"/>
                <a:sym typeface="Open Sauce Bold"/>
              </a:rPr>
              <a:t>Loops</a:t>
            </a:r>
          </a:p>
        </p:txBody>
      </p:sp>
      <p:sp>
        <p:nvSpPr>
          <p:cNvPr name="TextBox 10" id="10"/>
          <p:cNvSpPr txBox="true"/>
          <p:nvPr/>
        </p:nvSpPr>
        <p:spPr>
          <a:xfrm rot="0">
            <a:off x="1554288" y="5848179"/>
            <a:ext cx="7497473" cy="408305"/>
          </a:xfrm>
          <a:prstGeom prst="rect">
            <a:avLst/>
          </a:prstGeom>
        </p:spPr>
        <p:txBody>
          <a:bodyPr anchor="t" rtlCol="false" tIns="0" lIns="0" bIns="0" rIns="0">
            <a:spAutoFit/>
          </a:bodyPr>
          <a:lstStyle/>
          <a:p>
            <a:pPr algn="just">
              <a:lnSpc>
                <a:spcPts val="3190"/>
              </a:lnSpc>
            </a:pPr>
            <a:r>
              <a:rPr lang="en-US" b="true" sz="2900" spc="92">
                <a:solidFill>
                  <a:srgbClr val="000000"/>
                </a:solidFill>
                <a:latin typeface="Open Sauce Medium"/>
                <a:ea typeface="Open Sauce Medium"/>
                <a:cs typeface="Open Sauce Medium"/>
                <a:sym typeface="Open Sauce Medium"/>
              </a:rPr>
              <a:t>For loop:</a:t>
            </a:r>
          </a:p>
        </p:txBody>
      </p:sp>
      <p:sp>
        <p:nvSpPr>
          <p:cNvPr name="TextBox 11" id="11"/>
          <p:cNvSpPr txBox="true"/>
          <p:nvPr/>
        </p:nvSpPr>
        <p:spPr>
          <a:xfrm rot="0">
            <a:off x="1213289" y="6647010"/>
            <a:ext cx="3900444" cy="1018794"/>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 A for loop iterates over a sequence of elements and executes a block of code for each element.</a:t>
            </a:r>
          </a:p>
          <a:p>
            <a:pPr algn="l">
              <a:lnSpc>
                <a:spcPts val="2058"/>
              </a:lnSpc>
            </a:pPr>
          </a:p>
        </p:txBody>
      </p:sp>
      <p:sp>
        <p:nvSpPr>
          <p:cNvPr name="TextBox 12" id="12"/>
          <p:cNvSpPr txBox="true"/>
          <p:nvPr/>
        </p:nvSpPr>
        <p:spPr>
          <a:xfrm rot="0">
            <a:off x="7102318" y="5848179"/>
            <a:ext cx="8168866" cy="408305"/>
          </a:xfrm>
          <a:prstGeom prst="rect">
            <a:avLst/>
          </a:prstGeom>
        </p:spPr>
        <p:txBody>
          <a:bodyPr anchor="t" rtlCol="false" tIns="0" lIns="0" bIns="0" rIns="0">
            <a:spAutoFit/>
          </a:bodyPr>
          <a:lstStyle/>
          <a:p>
            <a:pPr algn="just">
              <a:lnSpc>
                <a:spcPts val="3190"/>
              </a:lnSpc>
            </a:pPr>
            <a:r>
              <a:rPr lang="en-US" sz="2900" spc="92">
                <a:solidFill>
                  <a:srgbClr val="000000"/>
                </a:solidFill>
                <a:latin typeface="Open Sauce"/>
                <a:ea typeface="Open Sauce"/>
                <a:cs typeface="Open Sauce"/>
                <a:sym typeface="Open Sauce"/>
              </a:rPr>
              <a:t>While loop</a:t>
            </a:r>
          </a:p>
        </p:txBody>
      </p:sp>
      <p:sp>
        <p:nvSpPr>
          <p:cNvPr name="TextBox 13" id="13"/>
          <p:cNvSpPr txBox="true"/>
          <p:nvPr/>
        </p:nvSpPr>
        <p:spPr>
          <a:xfrm rot="0">
            <a:off x="6459388" y="6647010"/>
            <a:ext cx="4334231" cy="761619"/>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A while loop repeatedly executes a block of code as long as a specified condition remains True.</a:t>
            </a:r>
          </a:p>
          <a:p>
            <a:pPr algn="l">
              <a:lnSpc>
                <a:spcPts val="2058"/>
              </a:lnSpc>
            </a:pPr>
          </a:p>
        </p:txBody>
      </p:sp>
      <p:sp>
        <p:nvSpPr>
          <p:cNvPr name="TextBox 14" id="14"/>
          <p:cNvSpPr txBox="true"/>
          <p:nvPr/>
        </p:nvSpPr>
        <p:spPr>
          <a:xfrm rot="0">
            <a:off x="11881557" y="5784860"/>
            <a:ext cx="5885446" cy="808355"/>
          </a:xfrm>
          <a:prstGeom prst="rect">
            <a:avLst/>
          </a:prstGeom>
        </p:spPr>
        <p:txBody>
          <a:bodyPr anchor="t" rtlCol="false" tIns="0" lIns="0" bIns="0" rIns="0">
            <a:spAutoFit/>
          </a:bodyPr>
          <a:lstStyle/>
          <a:p>
            <a:pPr algn="just">
              <a:lnSpc>
                <a:spcPts val="3190"/>
              </a:lnSpc>
            </a:pPr>
            <a:r>
              <a:rPr lang="en-US" sz="2900" spc="92">
                <a:solidFill>
                  <a:srgbClr val="000000"/>
                </a:solidFill>
                <a:latin typeface="Open Sauce"/>
                <a:ea typeface="Open Sauce"/>
                <a:cs typeface="Open Sauce"/>
                <a:sym typeface="Open Sauce"/>
              </a:rPr>
              <a:t>Conditional checks can be added</a:t>
            </a:r>
          </a:p>
        </p:txBody>
      </p:sp>
      <p:sp>
        <p:nvSpPr>
          <p:cNvPr name="TextBox 15" id="15"/>
          <p:cNvSpPr txBox="true"/>
          <p:nvPr/>
        </p:nvSpPr>
        <p:spPr>
          <a:xfrm rot="0">
            <a:off x="11881557" y="6840865"/>
            <a:ext cx="6986316" cy="247269"/>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We can break or continue the loop based on conditions </a:t>
            </a:r>
          </a:p>
        </p:txBody>
      </p:sp>
      <p:sp>
        <p:nvSpPr>
          <p:cNvPr name="Freeform 16" id="16"/>
          <p:cNvSpPr/>
          <p:nvPr/>
        </p:nvSpPr>
        <p:spPr>
          <a:xfrm flipH="false" flipV="false" rot="0">
            <a:off x="14497818" y="-556056"/>
            <a:ext cx="4202802" cy="2362325"/>
          </a:xfrm>
          <a:custGeom>
            <a:avLst/>
            <a:gdLst/>
            <a:ahLst/>
            <a:cxnLst/>
            <a:rect r="r" b="b" t="t" l="l"/>
            <a:pathLst>
              <a:path h="2362325" w="4202802">
                <a:moveTo>
                  <a:pt x="0" y="0"/>
                </a:moveTo>
                <a:lnTo>
                  <a:pt x="4202802" y="0"/>
                </a:lnTo>
                <a:lnTo>
                  <a:pt x="4202802" y="2362326"/>
                </a:lnTo>
                <a:lnTo>
                  <a:pt x="0" y="2362326"/>
                </a:lnTo>
                <a:lnTo>
                  <a:pt x="0" y="0"/>
                </a:lnTo>
                <a:close/>
              </a:path>
            </a:pathLst>
          </a:custGeom>
          <a:blipFill>
            <a:blip r:embed="rId2">
              <a:alphaModFix amt="37000"/>
            </a:blip>
            <a:stretch>
              <a:fillRect l="0" t="0" r="0" b="0"/>
            </a:stretch>
          </a:blipFill>
        </p:spPr>
      </p:sp>
    </p:spTree>
  </p:cSld>
  <p:clrMapOvr>
    <a:masterClrMapping/>
  </p:clrMapOvr>
</p:sld>
</file>

<file path=ppt/slides/slide64.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8100000">
            <a:off x="-5281063" y="-2431920"/>
            <a:ext cx="16893429" cy="10074627"/>
          </a:xfrm>
          <a:custGeom>
            <a:avLst/>
            <a:gdLst/>
            <a:ahLst/>
            <a:cxnLst/>
            <a:rect r="r" b="b" t="t" l="l"/>
            <a:pathLst>
              <a:path h="10074627" w="16893429">
                <a:moveTo>
                  <a:pt x="0" y="0"/>
                </a:moveTo>
                <a:lnTo>
                  <a:pt x="16893430" y="0"/>
                </a:lnTo>
                <a:lnTo>
                  <a:pt x="16893430" y="10074627"/>
                </a:lnTo>
                <a:lnTo>
                  <a:pt x="0" y="100746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66398" y="1333975"/>
            <a:ext cx="15433919" cy="7619050"/>
            <a:chOff x="0" y="0"/>
            <a:chExt cx="4064900" cy="2006663"/>
          </a:xfrm>
        </p:grpSpPr>
        <p:sp>
          <p:nvSpPr>
            <p:cNvPr name="Freeform 4" id="4"/>
            <p:cNvSpPr/>
            <p:nvPr/>
          </p:nvSpPr>
          <p:spPr>
            <a:xfrm flipH="false" flipV="false" rot="0">
              <a:off x="0" y="0"/>
              <a:ext cx="4064900" cy="2006663"/>
            </a:xfrm>
            <a:custGeom>
              <a:avLst/>
              <a:gdLst/>
              <a:ahLst/>
              <a:cxnLst/>
              <a:rect r="r" b="b" t="t" l="l"/>
              <a:pathLst>
                <a:path h="2006663" w="4064900">
                  <a:moveTo>
                    <a:pt x="0" y="0"/>
                  </a:moveTo>
                  <a:lnTo>
                    <a:pt x="4064900" y="0"/>
                  </a:lnTo>
                  <a:lnTo>
                    <a:pt x="4064900" y="2006663"/>
                  </a:lnTo>
                  <a:lnTo>
                    <a:pt x="0" y="200666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64900" cy="2035238"/>
            </a:xfrm>
            <a:prstGeom prst="rect">
              <a:avLst/>
            </a:prstGeom>
          </p:spPr>
          <p:txBody>
            <a:bodyPr anchor="ctr" rtlCol="false" tIns="50800" lIns="50800" bIns="50800" rIns="50800"/>
            <a:lstStyle/>
            <a:p>
              <a:pPr algn="ctr">
                <a:lnSpc>
                  <a:spcPts val="1869"/>
                </a:lnSpc>
              </a:pPr>
            </a:p>
          </p:txBody>
        </p:sp>
      </p:grpSp>
      <p:sp>
        <p:nvSpPr>
          <p:cNvPr name="TextBox 6" id="6"/>
          <p:cNvSpPr txBox="true"/>
          <p:nvPr/>
        </p:nvSpPr>
        <p:spPr>
          <a:xfrm rot="0">
            <a:off x="2226667" y="2076052"/>
            <a:ext cx="13834665" cy="2552700"/>
          </a:xfrm>
          <a:prstGeom prst="rect">
            <a:avLst/>
          </a:prstGeom>
        </p:spPr>
        <p:txBody>
          <a:bodyPr anchor="t" rtlCol="false" tIns="0" lIns="0" bIns="0" rIns="0">
            <a:spAutoFit/>
          </a:bodyPr>
          <a:lstStyle/>
          <a:p>
            <a:pPr algn="ctr">
              <a:lnSpc>
                <a:spcPts val="5040"/>
              </a:lnSpc>
            </a:pPr>
            <a:r>
              <a:rPr lang="en-US" sz="4200">
                <a:solidFill>
                  <a:srgbClr val="000000"/>
                </a:solidFill>
                <a:latin typeface="Open Sauce"/>
                <a:ea typeface="Open Sauce"/>
                <a:cs typeface="Open Sauce"/>
                <a:sym typeface="Open Sauce"/>
              </a:rPr>
              <a:t>Write code that takes x (starting as 0.1) and using a for loop that iterates 20 times, update the value of x in each iteration according to the following formula: x = x * 11 - 1. Print the value of x in each iteration. </a:t>
            </a:r>
          </a:p>
        </p:txBody>
      </p:sp>
      <p:sp>
        <p:nvSpPr>
          <p:cNvPr name="Freeform 7" id="7"/>
          <p:cNvSpPr/>
          <p:nvPr/>
        </p:nvSpPr>
        <p:spPr>
          <a:xfrm flipH="false" flipV="false" rot="0">
            <a:off x="14497818" y="-556056"/>
            <a:ext cx="4202802" cy="2362325"/>
          </a:xfrm>
          <a:custGeom>
            <a:avLst/>
            <a:gdLst/>
            <a:ahLst/>
            <a:cxnLst/>
            <a:rect r="r" b="b" t="t" l="l"/>
            <a:pathLst>
              <a:path h="2362325" w="4202802">
                <a:moveTo>
                  <a:pt x="0" y="0"/>
                </a:moveTo>
                <a:lnTo>
                  <a:pt x="4202802" y="0"/>
                </a:lnTo>
                <a:lnTo>
                  <a:pt x="4202802" y="2362326"/>
                </a:lnTo>
                <a:lnTo>
                  <a:pt x="0" y="2362326"/>
                </a:lnTo>
                <a:lnTo>
                  <a:pt x="0" y="0"/>
                </a:lnTo>
                <a:close/>
              </a:path>
            </a:pathLst>
          </a:custGeom>
          <a:blipFill>
            <a:blip r:embed="rId4">
              <a:alphaModFix amt="37000"/>
            </a:blip>
            <a:stretch>
              <a:fillRect l="0" t="0" r="0" b="0"/>
            </a:stretch>
          </a:blipFill>
        </p:spPr>
      </p:sp>
    </p:spTree>
  </p:cSld>
  <p:clrMapOvr>
    <a:masterClrMapping/>
  </p:clrMapOvr>
</p:sld>
</file>

<file path=ppt/slides/slide65.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8100000">
            <a:off x="-5281063" y="-2431920"/>
            <a:ext cx="16893429" cy="10074627"/>
          </a:xfrm>
          <a:custGeom>
            <a:avLst/>
            <a:gdLst/>
            <a:ahLst/>
            <a:cxnLst/>
            <a:rect r="r" b="b" t="t" l="l"/>
            <a:pathLst>
              <a:path h="10074627" w="16893429">
                <a:moveTo>
                  <a:pt x="0" y="0"/>
                </a:moveTo>
                <a:lnTo>
                  <a:pt x="16893430" y="0"/>
                </a:lnTo>
                <a:lnTo>
                  <a:pt x="16893430" y="10074627"/>
                </a:lnTo>
                <a:lnTo>
                  <a:pt x="0" y="100746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66398" y="1333975"/>
            <a:ext cx="15433919" cy="7619050"/>
            <a:chOff x="0" y="0"/>
            <a:chExt cx="4064900" cy="2006663"/>
          </a:xfrm>
        </p:grpSpPr>
        <p:sp>
          <p:nvSpPr>
            <p:cNvPr name="Freeform 4" id="4"/>
            <p:cNvSpPr/>
            <p:nvPr/>
          </p:nvSpPr>
          <p:spPr>
            <a:xfrm flipH="false" flipV="false" rot="0">
              <a:off x="0" y="0"/>
              <a:ext cx="4064900" cy="2006663"/>
            </a:xfrm>
            <a:custGeom>
              <a:avLst/>
              <a:gdLst/>
              <a:ahLst/>
              <a:cxnLst/>
              <a:rect r="r" b="b" t="t" l="l"/>
              <a:pathLst>
                <a:path h="2006663" w="4064900">
                  <a:moveTo>
                    <a:pt x="0" y="0"/>
                  </a:moveTo>
                  <a:lnTo>
                    <a:pt x="4064900" y="0"/>
                  </a:lnTo>
                  <a:lnTo>
                    <a:pt x="4064900" y="2006663"/>
                  </a:lnTo>
                  <a:lnTo>
                    <a:pt x="0" y="200666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64900" cy="2035238"/>
            </a:xfrm>
            <a:prstGeom prst="rect">
              <a:avLst/>
            </a:prstGeom>
          </p:spPr>
          <p:txBody>
            <a:bodyPr anchor="ctr" rtlCol="false" tIns="50800" lIns="50800" bIns="50800" rIns="50800"/>
            <a:lstStyle/>
            <a:p>
              <a:pPr algn="ctr">
                <a:lnSpc>
                  <a:spcPts val="1869"/>
                </a:lnSpc>
              </a:pPr>
            </a:p>
          </p:txBody>
        </p:sp>
      </p:grpSp>
      <p:sp>
        <p:nvSpPr>
          <p:cNvPr name="Freeform 6" id="6"/>
          <p:cNvSpPr/>
          <p:nvPr/>
        </p:nvSpPr>
        <p:spPr>
          <a:xfrm flipH="false" flipV="false" rot="0">
            <a:off x="4946275" y="2857740"/>
            <a:ext cx="8674166" cy="4571520"/>
          </a:xfrm>
          <a:custGeom>
            <a:avLst/>
            <a:gdLst/>
            <a:ahLst/>
            <a:cxnLst/>
            <a:rect r="r" b="b" t="t" l="l"/>
            <a:pathLst>
              <a:path h="4571520" w="8674166">
                <a:moveTo>
                  <a:pt x="0" y="0"/>
                </a:moveTo>
                <a:lnTo>
                  <a:pt x="8674166" y="0"/>
                </a:lnTo>
                <a:lnTo>
                  <a:pt x="8674166" y="4571520"/>
                </a:lnTo>
                <a:lnTo>
                  <a:pt x="0" y="4571520"/>
                </a:lnTo>
                <a:lnTo>
                  <a:pt x="0" y="0"/>
                </a:lnTo>
                <a:close/>
              </a:path>
            </a:pathLst>
          </a:custGeom>
          <a:blipFill>
            <a:blip r:embed="rId4"/>
            <a:stretch>
              <a:fillRect l="0" t="0" r="0" b="0"/>
            </a:stretch>
          </a:blipFill>
        </p:spPr>
      </p:sp>
      <p:sp>
        <p:nvSpPr>
          <p:cNvPr name="Freeform 7" id="7"/>
          <p:cNvSpPr/>
          <p:nvPr/>
        </p:nvSpPr>
        <p:spPr>
          <a:xfrm flipH="false" flipV="false" rot="0">
            <a:off x="14497818" y="-556056"/>
            <a:ext cx="4202802" cy="2362325"/>
          </a:xfrm>
          <a:custGeom>
            <a:avLst/>
            <a:gdLst/>
            <a:ahLst/>
            <a:cxnLst/>
            <a:rect r="r" b="b" t="t" l="l"/>
            <a:pathLst>
              <a:path h="2362325" w="4202802">
                <a:moveTo>
                  <a:pt x="0" y="0"/>
                </a:moveTo>
                <a:lnTo>
                  <a:pt x="4202802" y="0"/>
                </a:lnTo>
                <a:lnTo>
                  <a:pt x="4202802" y="2362326"/>
                </a:lnTo>
                <a:lnTo>
                  <a:pt x="0" y="2362326"/>
                </a:lnTo>
                <a:lnTo>
                  <a:pt x="0" y="0"/>
                </a:lnTo>
                <a:close/>
              </a:path>
            </a:pathLst>
          </a:custGeom>
          <a:blipFill>
            <a:blip r:embed="rId5">
              <a:alphaModFix amt="37000"/>
            </a:blip>
            <a:stretch>
              <a:fillRect l="0" t="0" r="0" b="0"/>
            </a:stretch>
          </a:blipFill>
        </p:spPr>
      </p:sp>
    </p:spTree>
  </p:cSld>
  <p:clrMapOvr>
    <a:masterClrMapping/>
  </p:clrMapOvr>
</p:sld>
</file>

<file path=ppt/slides/slide66.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8100000">
            <a:off x="-5281063" y="-2431920"/>
            <a:ext cx="16893429" cy="10074627"/>
          </a:xfrm>
          <a:custGeom>
            <a:avLst/>
            <a:gdLst/>
            <a:ahLst/>
            <a:cxnLst/>
            <a:rect r="r" b="b" t="t" l="l"/>
            <a:pathLst>
              <a:path h="10074627" w="16893429">
                <a:moveTo>
                  <a:pt x="0" y="0"/>
                </a:moveTo>
                <a:lnTo>
                  <a:pt x="16893430" y="0"/>
                </a:lnTo>
                <a:lnTo>
                  <a:pt x="16893430" y="10074627"/>
                </a:lnTo>
                <a:lnTo>
                  <a:pt x="0" y="100746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66398" y="1333975"/>
            <a:ext cx="15433919" cy="7619050"/>
            <a:chOff x="0" y="0"/>
            <a:chExt cx="4064900" cy="2006663"/>
          </a:xfrm>
        </p:grpSpPr>
        <p:sp>
          <p:nvSpPr>
            <p:cNvPr name="Freeform 4" id="4"/>
            <p:cNvSpPr/>
            <p:nvPr/>
          </p:nvSpPr>
          <p:spPr>
            <a:xfrm flipH="false" flipV="false" rot="0">
              <a:off x="0" y="0"/>
              <a:ext cx="4064900" cy="2006663"/>
            </a:xfrm>
            <a:custGeom>
              <a:avLst/>
              <a:gdLst/>
              <a:ahLst/>
              <a:cxnLst/>
              <a:rect r="r" b="b" t="t" l="l"/>
              <a:pathLst>
                <a:path h="2006663" w="4064900">
                  <a:moveTo>
                    <a:pt x="0" y="0"/>
                  </a:moveTo>
                  <a:lnTo>
                    <a:pt x="4064900" y="0"/>
                  </a:lnTo>
                  <a:lnTo>
                    <a:pt x="4064900" y="2006663"/>
                  </a:lnTo>
                  <a:lnTo>
                    <a:pt x="0" y="200666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64900" cy="2035238"/>
            </a:xfrm>
            <a:prstGeom prst="rect">
              <a:avLst/>
            </a:prstGeom>
          </p:spPr>
          <p:txBody>
            <a:bodyPr anchor="ctr" rtlCol="false" tIns="50800" lIns="50800" bIns="50800" rIns="50800"/>
            <a:lstStyle/>
            <a:p>
              <a:pPr algn="ctr">
                <a:lnSpc>
                  <a:spcPts val="1869"/>
                </a:lnSpc>
              </a:pPr>
            </a:p>
          </p:txBody>
        </p:sp>
      </p:grpSp>
      <p:sp>
        <p:nvSpPr>
          <p:cNvPr name="TextBox 6" id="6"/>
          <p:cNvSpPr txBox="true"/>
          <p:nvPr/>
        </p:nvSpPr>
        <p:spPr>
          <a:xfrm rot="0">
            <a:off x="4397936" y="5162550"/>
            <a:ext cx="9090948"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Could this be done with a while loop?</a:t>
            </a:r>
          </a:p>
        </p:txBody>
      </p:sp>
      <p:sp>
        <p:nvSpPr>
          <p:cNvPr name="TextBox 7" id="7"/>
          <p:cNvSpPr txBox="true"/>
          <p:nvPr/>
        </p:nvSpPr>
        <p:spPr>
          <a:xfrm rot="0">
            <a:off x="4397936" y="2925553"/>
            <a:ext cx="9090948" cy="9372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Could we impliment in break at a threshold?</a:t>
            </a:r>
          </a:p>
        </p:txBody>
      </p:sp>
      <p:sp>
        <p:nvSpPr>
          <p:cNvPr name="Freeform 8" id="8"/>
          <p:cNvSpPr/>
          <p:nvPr/>
        </p:nvSpPr>
        <p:spPr>
          <a:xfrm flipH="false" flipV="false" rot="0">
            <a:off x="14497818" y="-556056"/>
            <a:ext cx="4202802" cy="2362325"/>
          </a:xfrm>
          <a:custGeom>
            <a:avLst/>
            <a:gdLst/>
            <a:ahLst/>
            <a:cxnLst/>
            <a:rect r="r" b="b" t="t" l="l"/>
            <a:pathLst>
              <a:path h="2362325" w="4202802">
                <a:moveTo>
                  <a:pt x="0" y="0"/>
                </a:moveTo>
                <a:lnTo>
                  <a:pt x="4202802" y="0"/>
                </a:lnTo>
                <a:lnTo>
                  <a:pt x="4202802" y="2362326"/>
                </a:lnTo>
                <a:lnTo>
                  <a:pt x="0" y="2362326"/>
                </a:lnTo>
                <a:lnTo>
                  <a:pt x="0" y="0"/>
                </a:lnTo>
                <a:close/>
              </a:path>
            </a:pathLst>
          </a:custGeom>
          <a:blipFill>
            <a:blip r:embed="rId4">
              <a:alphaModFix amt="37000"/>
            </a:blip>
            <a:stretch>
              <a:fillRect l="0" t="0" r="0" b="0"/>
            </a:stretch>
          </a:blipFill>
        </p:spPr>
      </p:sp>
    </p:spTree>
  </p:cSld>
  <p:clrMapOvr>
    <a:masterClrMapping/>
  </p:clrMapOvr>
</p:sld>
</file>

<file path=ppt/slides/slide67.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2923865">
            <a:off x="-2984685" y="1184351"/>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5400000">
            <a:off x="8046708" y="385825"/>
            <a:ext cx="11245538" cy="9778557"/>
            <a:chOff x="0" y="0"/>
            <a:chExt cx="2961788" cy="2575423"/>
          </a:xfrm>
        </p:grpSpPr>
        <p:sp>
          <p:nvSpPr>
            <p:cNvPr name="Freeform 4" id="4"/>
            <p:cNvSpPr/>
            <p:nvPr/>
          </p:nvSpPr>
          <p:spPr>
            <a:xfrm flipH="false" flipV="false" rot="0">
              <a:off x="0" y="0"/>
              <a:ext cx="2961788" cy="2575422"/>
            </a:xfrm>
            <a:custGeom>
              <a:avLst/>
              <a:gdLst/>
              <a:ahLst/>
              <a:cxnLst/>
              <a:rect r="r" b="b" t="t" l="l"/>
              <a:pathLst>
                <a:path h="2575422" w="2961788">
                  <a:moveTo>
                    <a:pt x="0" y="0"/>
                  </a:moveTo>
                  <a:lnTo>
                    <a:pt x="2961788" y="0"/>
                  </a:lnTo>
                  <a:lnTo>
                    <a:pt x="2961788" y="2575422"/>
                  </a:lnTo>
                  <a:lnTo>
                    <a:pt x="0" y="2575422"/>
                  </a:lnTo>
                  <a:close/>
                </a:path>
              </a:pathLst>
            </a:custGeom>
            <a:solidFill>
              <a:srgbClr val="192253"/>
            </a:solidFill>
          </p:spPr>
        </p:sp>
        <p:sp>
          <p:nvSpPr>
            <p:cNvPr name="TextBox 5" id="5"/>
            <p:cNvSpPr txBox="true"/>
            <p:nvPr/>
          </p:nvSpPr>
          <p:spPr>
            <a:xfrm>
              <a:off x="0" y="-28575"/>
              <a:ext cx="2961788" cy="2603998"/>
            </a:xfrm>
            <a:prstGeom prst="rect">
              <a:avLst/>
            </a:prstGeom>
          </p:spPr>
          <p:txBody>
            <a:bodyPr anchor="ctr" rtlCol="false" tIns="50800" lIns="50800" bIns="50800" rIns="50800"/>
            <a:lstStyle/>
            <a:p>
              <a:pPr algn="ctr">
                <a:lnSpc>
                  <a:spcPts val="1869"/>
                </a:lnSpc>
              </a:pPr>
            </a:p>
          </p:txBody>
        </p:sp>
      </p:grpSp>
      <p:sp>
        <p:nvSpPr>
          <p:cNvPr name="AutoShape 6" id="6"/>
          <p:cNvSpPr/>
          <p:nvPr/>
        </p:nvSpPr>
        <p:spPr>
          <a:xfrm flipH="true" flipV="true">
            <a:off x="-488525" y="8289279"/>
            <a:ext cx="15156557" cy="0"/>
          </a:xfrm>
          <a:prstGeom prst="line">
            <a:avLst/>
          </a:prstGeom>
          <a:ln cap="flat" w="76200">
            <a:solidFill>
              <a:srgbClr val="C23A97"/>
            </a:solidFill>
            <a:prstDash val="solid"/>
            <a:headEnd type="none" len="sm" w="sm"/>
            <a:tailEnd type="none" len="sm" w="sm"/>
          </a:ln>
        </p:spPr>
      </p:sp>
      <p:sp>
        <p:nvSpPr>
          <p:cNvPr name="AutoShape 7" id="7"/>
          <p:cNvSpPr/>
          <p:nvPr/>
        </p:nvSpPr>
        <p:spPr>
          <a:xfrm flipH="true">
            <a:off x="10559239" y="2561194"/>
            <a:ext cx="8347436" cy="0"/>
          </a:xfrm>
          <a:prstGeom prst="line">
            <a:avLst/>
          </a:prstGeom>
          <a:ln cap="flat" w="76200">
            <a:solidFill>
              <a:srgbClr val="F5F5F5"/>
            </a:solidFill>
            <a:prstDash val="solid"/>
            <a:headEnd type="none" len="sm" w="sm"/>
            <a:tailEnd type="none" len="sm" w="sm"/>
          </a:ln>
        </p:spPr>
      </p:sp>
      <p:sp>
        <p:nvSpPr>
          <p:cNvPr name="TextBox 8" id="8"/>
          <p:cNvSpPr txBox="true"/>
          <p:nvPr/>
        </p:nvSpPr>
        <p:spPr>
          <a:xfrm rot="0">
            <a:off x="13669477" y="4887513"/>
            <a:ext cx="4173718" cy="1546225"/>
          </a:xfrm>
          <a:prstGeom prst="rect">
            <a:avLst/>
          </a:prstGeom>
        </p:spPr>
        <p:txBody>
          <a:bodyPr anchor="t" rtlCol="false" tIns="0" lIns="0" bIns="0" rIns="0">
            <a:spAutoFit/>
          </a:bodyPr>
          <a:lstStyle/>
          <a:p>
            <a:pPr algn="l">
              <a:lnSpc>
                <a:spcPts val="6049"/>
              </a:lnSpc>
            </a:pPr>
            <a:r>
              <a:rPr lang="en-US" b="true" sz="5499" spc="175">
                <a:solidFill>
                  <a:srgbClr val="FFFFFF"/>
                </a:solidFill>
                <a:latin typeface="Open Sauce Medium"/>
                <a:ea typeface="Open Sauce Medium"/>
                <a:cs typeface="Open Sauce Medium"/>
                <a:sym typeface="Open Sauce Medium"/>
              </a:rPr>
              <a:t>CREATE A FUNCTION</a:t>
            </a:r>
          </a:p>
        </p:txBody>
      </p:sp>
      <p:sp>
        <p:nvSpPr>
          <p:cNvPr name="Freeform 9" id="9"/>
          <p:cNvSpPr/>
          <p:nvPr/>
        </p:nvSpPr>
        <p:spPr>
          <a:xfrm flipH="false" flipV="false" rot="0">
            <a:off x="14355953" y="-461492"/>
            <a:ext cx="4202802" cy="2362325"/>
          </a:xfrm>
          <a:custGeom>
            <a:avLst/>
            <a:gdLst/>
            <a:ahLst/>
            <a:cxnLst/>
            <a:rect r="r" b="b" t="t" l="l"/>
            <a:pathLst>
              <a:path h="2362325" w="4202802">
                <a:moveTo>
                  <a:pt x="0" y="0"/>
                </a:moveTo>
                <a:lnTo>
                  <a:pt x="4202803" y="0"/>
                </a:lnTo>
                <a:lnTo>
                  <a:pt x="4202803" y="2362326"/>
                </a:lnTo>
                <a:lnTo>
                  <a:pt x="0" y="2362326"/>
                </a:lnTo>
                <a:lnTo>
                  <a:pt x="0" y="0"/>
                </a:lnTo>
                <a:close/>
              </a:path>
            </a:pathLst>
          </a:custGeom>
          <a:blipFill>
            <a:blip r:embed="rId4">
              <a:alphaModFix amt="37000"/>
            </a:blip>
            <a:stretch>
              <a:fillRect l="0" t="0" r="0" b="0"/>
            </a:stretch>
          </a:blipFill>
        </p:spPr>
      </p:sp>
    </p:spTree>
  </p:cSld>
  <p:clrMapOvr>
    <a:masterClrMapping/>
  </p:clrMapOvr>
</p:sld>
</file>

<file path=ppt/slides/slide68.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8100000">
            <a:off x="-5281063" y="-2431920"/>
            <a:ext cx="16893429" cy="10074627"/>
          </a:xfrm>
          <a:custGeom>
            <a:avLst/>
            <a:gdLst/>
            <a:ahLst/>
            <a:cxnLst/>
            <a:rect r="r" b="b" t="t" l="l"/>
            <a:pathLst>
              <a:path h="10074627" w="16893429">
                <a:moveTo>
                  <a:pt x="0" y="0"/>
                </a:moveTo>
                <a:lnTo>
                  <a:pt x="16893430" y="0"/>
                </a:lnTo>
                <a:lnTo>
                  <a:pt x="16893430" y="10074627"/>
                </a:lnTo>
                <a:lnTo>
                  <a:pt x="0" y="100746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66398" y="1333975"/>
            <a:ext cx="15433919" cy="7619050"/>
            <a:chOff x="0" y="0"/>
            <a:chExt cx="4064900" cy="2006663"/>
          </a:xfrm>
        </p:grpSpPr>
        <p:sp>
          <p:nvSpPr>
            <p:cNvPr name="Freeform 4" id="4"/>
            <p:cNvSpPr/>
            <p:nvPr/>
          </p:nvSpPr>
          <p:spPr>
            <a:xfrm flipH="false" flipV="false" rot="0">
              <a:off x="0" y="0"/>
              <a:ext cx="4064900" cy="2006663"/>
            </a:xfrm>
            <a:custGeom>
              <a:avLst/>
              <a:gdLst/>
              <a:ahLst/>
              <a:cxnLst/>
              <a:rect r="r" b="b" t="t" l="l"/>
              <a:pathLst>
                <a:path h="2006663" w="4064900">
                  <a:moveTo>
                    <a:pt x="0" y="0"/>
                  </a:moveTo>
                  <a:lnTo>
                    <a:pt x="4064900" y="0"/>
                  </a:lnTo>
                  <a:lnTo>
                    <a:pt x="4064900" y="2006663"/>
                  </a:lnTo>
                  <a:lnTo>
                    <a:pt x="0" y="200666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64900" cy="2035238"/>
            </a:xfrm>
            <a:prstGeom prst="rect">
              <a:avLst/>
            </a:prstGeom>
          </p:spPr>
          <p:txBody>
            <a:bodyPr anchor="ctr" rtlCol="false" tIns="50800" lIns="50800" bIns="50800" rIns="50800"/>
            <a:lstStyle/>
            <a:p>
              <a:pPr algn="ctr">
                <a:lnSpc>
                  <a:spcPts val="1869"/>
                </a:lnSpc>
              </a:pPr>
            </a:p>
          </p:txBody>
        </p:sp>
      </p:grpSp>
      <p:sp>
        <p:nvSpPr>
          <p:cNvPr name="TextBox 6" id="6"/>
          <p:cNvSpPr txBox="true"/>
          <p:nvPr/>
        </p:nvSpPr>
        <p:spPr>
          <a:xfrm rot="0">
            <a:off x="2226667" y="2066527"/>
            <a:ext cx="13834665" cy="1009650"/>
          </a:xfrm>
          <a:prstGeom prst="rect">
            <a:avLst/>
          </a:prstGeom>
        </p:spPr>
        <p:txBody>
          <a:bodyPr anchor="t" rtlCol="false" tIns="0" lIns="0" bIns="0" rIns="0">
            <a:spAutoFit/>
          </a:bodyPr>
          <a:lstStyle/>
          <a:p>
            <a:pPr algn="ctr">
              <a:lnSpc>
                <a:spcPts val="7920"/>
              </a:lnSpc>
            </a:pPr>
            <a:r>
              <a:rPr lang="en-US" sz="6600">
                <a:solidFill>
                  <a:srgbClr val="000000"/>
                </a:solidFill>
                <a:latin typeface="Open Sauce"/>
                <a:ea typeface="Open Sauce"/>
                <a:cs typeface="Open Sauce"/>
                <a:sym typeface="Open Sauce"/>
              </a:rPr>
              <a:t>4 main catagories of functions  </a:t>
            </a:r>
          </a:p>
        </p:txBody>
      </p:sp>
      <p:grpSp>
        <p:nvGrpSpPr>
          <p:cNvPr name="Group 7" id="7"/>
          <p:cNvGrpSpPr>
            <a:grpSpLocks noChangeAspect="true"/>
          </p:cNvGrpSpPr>
          <p:nvPr/>
        </p:nvGrpSpPr>
        <p:grpSpPr>
          <a:xfrm rot="0">
            <a:off x="2843066" y="4869108"/>
            <a:ext cx="369918" cy="369918"/>
            <a:chOff x="6705600" y="1371600"/>
            <a:chExt cx="10972800" cy="10972800"/>
          </a:xfrm>
        </p:grpSpPr>
        <p:sp>
          <p:nvSpPr>
            <p:cNvPr name="Freeform 8" id="8"/>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9" id="9"/>
          <p:cNvGrpSpPr>
            <a:grpSpLocks noChangeAspect="true"/>
          </p:cNvGrpSpPr>
          <p:nvPr/>
        </p:nvGrpSpPr>
        <p:grpSpPr>
          <a:xfrm rot="0">
            <a:off x="2843066" y="6848846"/>
            <a:ext cx="369918" cy="369918"/>
            <a:chOff x="6705600" y="1371600"/>
            <a:chExt cx="10972800" cy="10972800"/>
          </a:xfrm>
        </p:grpSpPr>
        <p:sp>
          <p:nvSpPr>
            <p:cNvPr name="Freeform 10" id="10"/>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sp>
        <p:nvSpPr>
          <p:cNvPr name="TextBox 11" id="11"/>
          <p:cNvSpPr txBox="true"/>
          <p:nvPr/>
        </p:nvSpPr>
        <p:spPr>
          <a:xfrm rot="0">
            <a:off x="3427514" y="4843513"/>
            <a:ext cx="5260448"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Built in-functions</a:t>
            </a:r>
          </a:p>
        </p:txBody>
      </p:sp>
      <p:sp>
        <p:nvSpPr>
          <p:cNvPr name="TextBox 12" id="12"/>
          <p:cNvSpPr txBox="true"/>
          <p:nvPr/>
        </p:nvSpPr>
        <p:spPr>
          <a:xfrm rot="0">
            <a:off x="3427514" y="6803300"/>
            <a:ext cx="5260448"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Library functions</a:t>
            </a:r>
          </a:p>
        </p:txBody>
      </p:sp>
      <p:grpSp>
        <p:nvGrpSpPr>
          <p:cNvPr name="Group 13" id="13"/>
          <p:cNvGrpSpPr>
            <a:grpSpLocks noChangeAspect="true"/>
          </p:cNvGrpSpPr>
          <p:nvPr/>
        </p:nvGrpSpPr>
        <p:grpSpPr>
          <a:xfrm rot="0">
            <a:off x="9850465" y="4847940"/>
            <a:ext cx="369918" cy="369918"/>
            <a:chOff x="6705600" y="1371600"/>
            <a:chExt cx="10972800" cy="10972800"/>
          </a:xfrm>
        </p:grpSpPr>
        <p:sp>
          <p:nvSpPr>
            <p:cNvPr name="Freeform 14" id="14"/>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sp>
        <p:nvSpPr>
          <p:cNvPr name="TextBox 15" id="15"/>
          <p:cNvSpPr txBox="true"/>
          <p:nvPr/>
        </p:nvSpPr>
        <p:spPr>
          <a:xfrm rot="0">
            <a:off x="10434913" y="4843513"/>
            <a:ext cx="5260448"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User defined functions</a:t>
            </a:r>
          </a:p>
        </p:txBody>
      </p:sp>
      <p:sp>
        <p:nvSpPr>
          <p:cNvPr name="TextBox 16" id="16"/>
          <p:cNvSpPr txBox="true"/>
          <p:nvPr/>
        </p:nvSpPr>
        <p:spPr>
          <a:xfrm rot="0">
            <a:off x="3427514" y="5525465"/>
            <a:ext cx="5626420" cy="504444"/>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These are functions that come downloaded with Python.They are always available such as print(), len() etc </a:t>
            </a:r>
          </a:p>
        </p:txBody>
      </p:sp>
      <p:sp>
        <p:nvSpPr>
          <p:cNvPr name="TextBox 17" id="17"/>
          <p:cNvSpPr txBox="true"/>
          <p:nvPr/>
        </p:nvSpPr>
        <p:spPr>
          <a:xfrm rot="0">
            <a:off x="3517580" y="7353814"/>
            <a:ext cx="5626420" cy="1018794"/>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Functions provided by external libraries or modules, which can be imported and used in your own code. These enable you to leverage Python's extensive ecosystem of libraries for a wide range of tasks.</a:t>
            </a:r>
          </a:p>
        </p:txBody>
      </p:sp>
      <p:sp>
        <p:nvSpPr>
          <p:cNvPr name="TextBox 18" id="18"/>
          <p:cNvSpPr txBox="true"/>
          <p:nvPr/>
        </p:nvSpPr>
        <p:spPr>
          <a:xfrm rot="0">
            <a:off x="10434913" y="5390248"/>
            <a:ext cx="5626420" cy="504444"/>
          </a:xfrm>
          <a:prstGeom prst="rect">
            <a:avLst/>
          </a:prstGeom>
        </p:spPr>
        <p:txBody>
          <a:bodyPr anchor="t" rtlCol="false" tIns="0" lIns="0" bIns="0" rIns="0">
            <a:spAutoFit/>
          </a:bodyPr>
          <a:lstStyle/>
          <a:p>
            <a:pPr algn="l">
              <a:lnSpc>
                <a:spcPts val="2058"/>
              </a:lnSpc>
            </a:pPr>
            <a:r>
              <a:rPr lang="en-US" sz="1400">
                <a:solidFill>
                  <a:srgbClr val="000000"/>
                </a:solidFill>
                <a:latin typeface="Open Sauce"/>
                <a:ea typeface="Open Sauce"/>
                <a:cs typeface="Open Sauce"/>
                <a:sym typeface="Open Sauce"/>
              </a:rPr>
              <a:t>Functions that programmer writes themselves to solve their own specific problems.</a:t>
            </a:r>
          </a:p>
        </p:txBody>
      </p:sp>
      <p:grpSp>
        <p:nvGrpSpPr>
          <p:cNvPr name="Group 19" id="19"/>
          <p:cNvGrpSpPr>
            <a:grpSpLocks noChangeAspect="true"/>
          </p:cNvGrpSpPr>
          <p:nvPr/>
        </p:nvGrpSpPr>
        <p:grpSpPr>
          <a:xfrm rot="0">
            <a:off x="9850465" y="6848846"/>
            <a:ext cx="369918" cy="369918"/>
            <a:chOff x="6705600" y="1371600"/>
            <a:chExt cx="10972800" cy="10972800"/>
          </a:xfrm>
        </p:grpSpPr>
        <p:sp>
          <p:nvSpPr>
            <p:cNvPr name="Freeform 20" id="20"/>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sp>
        <p:nvSpPr>
          <p:cNvPr name="TextBox 21" id="21"/>
          <p:cNvSpPr txBox="true"/>
          <p:nvPr/>
        </p:nvSpPr>
        <p:spPr>
          <a:xfrm rot="0">
            <a:off x="10434913" y="6803300"/>
            <a:ext cx="5260448"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Other functions</a:t>
            </a:r>
          </a:p>
        </p:txBody>
      </p:sp>
      <p:sp>
        <p:nvSpPr>
          <p:cNvPr name="TextBox 22" id="22"/>
          <p:cNvSpPr txBox="true"/>
          <p:nvPr/>
        </p:nvSpPr>
        <p:spPr>
          <a:xfrm rot="0">
            <a:off x="10524978" y="7353814"/>
            <a:ext cx="5626420" cy="1018794"/>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Other types of functions such as Anonymous (Lambda) Functions, Recursive Functions, and Generator Functions. These aren’t covered in this course. </a:t>
            </a:r>
          </a:p>
          <a:p>
            <a:pPr algn="l">
              <a:lnSpc>
                <a:spcPts val="2058"/>
              </a:lnSpc>
            </a:pPr>
          </a:p>
        </p:txBody>
      </p:sp>
      <p:sp>
        <p:nvSpPr>
          <p:cNvPr name="Freeform 23" id="23"/>
          <p:cNvSpPr/>
          <p:nvPr/>
        </p:nvSpPr>
        <p:spPr>
          <a:xfrm flipH="false" flipV="false" rot="0">
            <a:off x="14469780" y="-584512"/>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4">
              <a:alphaModFix amt="37000"/>
            </a:blip>
            <a:stretch>
              <a:fillRect l="0" t="0" r="0" b="0"/>
            </a:stretch>
          </a:blipFill>
        </p:spPr>
      </p:sp>
    </p:spTree>
  </p:cSld>
  <p:clrMapOvr>
    <a:masterClrMapping/>
  </p:clrMapOvr>
</p:sld>
</file>

<file path=ppt/slides/slide69.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5015114">
            <a:off x="9740863" y="2343404"/>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66398" y="1333975"/>
            <a:ext cx="15433919" cy="7619050"/>
            <a:chOff x="0" y="0"/>
            <a:chExt cx="4064900" cy="2006663"/>
          </a:xfrm>
        </p:grpSpPr>
        <p:sp>
          <p:nvSpPr>
            <p:cNvPr name="Freeform 4" id="4"/>
            <p:cNvSpPr/>
            <p:nvPr/>
          </p:nvSpPr>
          <p:spPr>
            <a:xfrm flipH="false" flipV="false" rot="0">
              <a:off x="0" y="0"/>
              <a:ext cx="4064900" cy="2006663"/>
            </a:xfrm>
            <a:custGeom>
              <a:avLst/>
              <a:gdLst/>
              <a:ahLst/>
              <a:cxnLst/>
              <a:rect r="r" b="b" t="t" l="l"/>
              <a:pathLst>
                <a:path h="2006663" w="4064900">
                  <a:moveTo>
                    <a:pt x="0" y="0"/>
                  </a:moveTo>
                  <a:lnTo>
                    <a:pt x="4064900" y="0"/>
                  </a:lnTo>
                  <a:lnTo>
                    <a:pt x="4064900" y="2006663"/>
                  </a:lnTo>
                  <a:lnTo>
                    <a:pt x="0" y="200666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64900" cy="2035238"/>
            </a:xfrm>
            <a:prstGeom prst="rect">
              <a:avLst/>
            </a:prstGeom>
          </p:spPr>
          <p:txBody>
            <a:bodyPr anchor="ctr" rtlCol="false" tIns="50800" lIns="50800" bIns="50800" rIns="50800"/>
            <a:lstStyle/>
            <a:p>
              <a:pPr algn="ctr">
                <a:lnSpc>
                  <a:spcPts val="1869"/>
                </a:lnSpc>
              </a:pPr>
            </a:p>
          </p:txBody>
        </p:sp>
      </p:grpSp>
      <p:sp>
        <p:nvSpPr>
          <p:cNvPr name="AutoShape 6" id="6"/>
          <p:cNvSpPr/>
          <p:nvPr/>
        </p:nvSpPr>
        <p:spPr>
          <a:xfrm flipV="true">
            <a:off x="8654651" y="2652442"/>
            <a:ext cx="0" cy="5211720"/>
          </a:xfrm>
          <a:prstGeom prst="line">
            <a:avLst/>
          </a:prstGeom>
          <a:ln cap="flat" w="38100">
            <a:solidFill>
              <a:srgbClr val="192253"/>
            </a:solidFill>
            <a:prstDash val="solid"/>
            <a:headEnd type="none" len="sm" w="sm"/>
            <a:tailEnd type="none" len="sm" w="sm"/>
          </a:ln>
        </p:spPr>
      </p:sp>
      <p:grpSp>
        <p:nvGrpSpPr>
          <p:cNvPr name="Group 7" id="7"/>
          <p:cNvGrpSpPr>
            <a:grpSpLocks noChangeAspect="true"/>
          </p:cNvGrpSpPr>
          <p:nvPr/>
        </p:nvGrpSpPr>
        <p:grpSpPr>
          <a:xfrm rot="0">
            <a:off x="8469692" y="2467483"/>
            <a:ext cx="369918" cy="369918"/>
            <a:chOff x="6705600" y="1371600"/>
            <a:chExt cx="10972800" cy="10972800"/>
          </a:xfrm>
        </p:grpSpPr>
        <p:sp>
          <p:nvSpPr>
            <p:cNvPr name="Freeform 8" id="8"/>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9" id="9"/>
          <p:cNvGrpSpPr>
            <a:grpSpLocks noChangeAspect="true"/>
          </p:cNvGrpSpPr>
          <p:nvPr/>
        </p:nvGrpSpPr>
        <p:grpSpPr>
          <a:xfrm rot="0">
            <a:off x="8469692" y="4447221"/>
            <a:ext cx="369918" cy="369918"/>
            <a:chOff x="6705600" y="1371600"/>
            <a:chExt cx="10972800" cy="10972800"/>
          </a:xfrm>
        </p:grpSpPr>
        <p:sp>
          <p:nvSpPr>
            <p:cNvPr name="Freeform 10" id="10"/>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11" id="11"/>
          <p:cNvGrpSpPr>
            <a:grpSpLocks noChangeAspect="true"/>
          </p:cNvGrpSpPr>
          <p:nvPr/>
        </p:nvGrpSpPr>
        <p:grpSpPr>
          <a:xfrm rot="0">
            <a:off x="8469692" y="6360189"/>
            <a:ext cx="369918" cy="369918"/>
            <a:chOff x="6705600" y="1371600"/>
            <a:chExt cx="10972800" cy="10972800"/>
          </a:xfrm>
        </p:grpSpPr>
        <p:sp>
          <p:nvSpPr>
            <p:cNvPr name="Freeform 12" id="12"/>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sp>
        <p:nvSpPr>
          <p:cNvPr name="Freeform 13" id="13"/>
          <p:cNvSpPr/>
          <p:nvPr/>
        </p:nvSpPr>
        <p:spPr>
          <a:xfrm flipH="false" flipV="false" rot="0">
            <a:off x="1958223" y="3335181"/>
            <a:ext cx="6044744" cy="3209967"/>
          </a:xfrm>
          <a:custGeom>
            <a:avLst/>
            <a:gdLst/>
            <a:ahLst/>
            <a:cxnLst/>
            <a:rect r="r" b="b" t="t" l="l"/>
            <a:pathLst>
              <a:path h="3209967" w="6044744">
                <a:moveTo>
                  <a:pt x="0" y="0"/>
                </a:moveTo>
                <a:lnTo>
                  <a:pt x="6044744" y="0"/>
                </a:lnTo>
                <a:lnTo>
                  <a:pt x="6044744" y="3209967"/>
                </a:lnTo>
                <a:lnTo>
                  <a:pt x="0" y="3209967"/>
                </a:lnTo>
                <a:lnTo>
                  <a:pt x="0" y="0"/>
                </a:lnTo>
                <a:close/>
              </a:path>
            </a:pathLst>
          </a:custGeom>
          <a:blipFill>
            <a:blip r:embed="rId4"/>
            <a:stretch>
              <a:fillRect l="0" t="0" r="0" b="0"/>
            </a:stretch>
          </a:blipFill>
        </p:spPr>
      </p:sp>
      <p:sp>
        <p:nvSpPr>
          <p:cNvPr name="TextBox 14" id="14"/>
          <p:cNvSpPr txBox="true"/>
          <p:nvPr/>
        </p:nvSpPr>
        <p:spPr>
          <a:xfrm rot="0">
            <a:off x="9054139" y="2441888"/>
            <a:ext cx="5260448"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def</a:t>
            </a:r>
          </a:p>
        </p:txBody>
      </p:sp>
      <p:sp>
        <p:nvSpPr>
          <p:cNvPr name="TextBox 15" id="15"/>
          <p:cNvSpPr txBox="true"/>
          <p:nvPr/>
        </p:nvSpPr>
        <p:spPr>
          <a:xfrm rot="0">
            <a:off x="9054139" y="4401675"/>
            <a:ext cx="5260448" cy="480060"/>
          </a:xfrm>
          <a:prstGeom prst="rect">
            <a:avLst/>
          </a:prstGeom>
        </p:spPr>
        <p:txBody>
          <a:bodyPr anchor="t" rtlCol="false" tIns="0" lIns="0" bIns="0" rIns="0">
            <a:spAutoFit/>
          </a:bodyPr>
          <a:lstStyle/>
          <a:p>
            <a:pPr algn="just">
              <a:lnSpc>
                <a:spcPts val="3630"/>
              </a:lnSpc>
            </a:pPr>
            <a:r>
              <a:rPr lang="en-US" sz="3300" spc="105">
                <a:solidFill>
                  <a:srgbClr val="000000"/>
                </a:solidFill>
                <a:latin typeface="Open Sauce"/>
                <a:ea typeface="Open Sauce"/>
                <a:cs typeface="Open Sauce"/>
                <a:sym typeface="Open Sauce"/>
              </a:rPr>
              <a:t>Arguments</a:t>
            </a:r>
          </a:p>
        </p:txBody>
      </p:sp>
      <p:sp>
        <p:nvSpPr>
          <p:cNvPr name="TextBox 16" id="16"/>
          <p:cNvSpPr txBox="true"/>
          <p:nvPr/>
        </p:nvSpPr>
        <p:spPr>
          <a:xfrm rot="0">
            <a:off x="9144000" y="3140440"/>
            <a:ext cx="7022611" cy="247269"/>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The start of the function  </a:t>
            </a:r>
          </a:p>
        </p:txBody>
      </p:sp>
      <p:sp>
        <p:nvSpPr>
          <p:cNvPr name="TextBox 17" id="17"/>
          <p:cNvSpPr txBox="true"/>
          <p:nvPr/>
        </p:nvSpPr>
        <p:spPr>
          <a:xfrm rot="0">
            <a:off x="9144000" y="5105400"/>
            <a:ext cx="6986316" cy="247269"/>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Inthis case a and b, the inputs</a:t>
            </a:r>
          </a:p>
        </p:txBody>
      </p:sp>
      <p:sp>
        <p:nvSpPr>
          <p:cNvPr name="TextBox 18" id="18"/>
          <p:cNvSpPr txBox="true"/>
          <p:nvPr/>
        </p:nvSpPr>
        <p:spPr>
          <a:xfrm rot="0">
            <a:off x="9054139" y="6355762"/>
            <a:ext cx="5260448"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return</a:t>
            </a:r>
          </a:p>
        </p:txBody>
      </p:sp>
      <p:sp>
        <p:nvSpPr>
          <p:cNvPr name="TextBox 19" id="19"/>
          <p:cNvSpPr txBox="true"/>
          <p:nvPr/>
        </p:nvSpPr>
        <p:spPr>
          <a:xfrm rot="0">
            <a:off x="9144000" y="7017220"/>
            <a:ext cx="7022611" cy="247269"/>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Returns the values or objects calculated/created in the function body</a:t>
            </a:r>
          </a:p>
        </p:txBody>
      </p:sp>
      <p:sp>
        <p:nvSpPr>
          <p:cNvPr name="TextBox 20" id="20"/>
          <p:cNvSpPr txBox="true"/>
          <p:nvPr/>
        </p:nvSpPr>
        <p:spPr>
          <a:xfrm rot="0">
            <a:off x="2432932" y="1605268"/>
            <a:ext cx="13834665" cy="685800"/>
          </a:xfrm>
          <a:prstGeom prst="rect">
            <a:avLst/>
          </a:prstGeom>
        </p:spPr>
        <p:txBody>
          <a:bodyPr anchor="t" rtlCol="false" tIns="0" lIns="0" bIns="0" rIns="0">
            <a:spAutoFit/>
          </a:bodyPr>
          <a:lstStyle/>
          <a:p>
            <a:pPr algn="ctr">
              <a:lnSpc>
                <a:spcPts val="5400"/>
              </a:lnSpc>
            </a:pPr>
            <a:r>
              <a:rPr lang="en-US" sz="4500">
                <a:solidFill>
                  <a:srgbClr val="000000"/>
                </a:solidFill>
                <a:latin typeface="Open Sauce"/>
                <a:ea typeface="Open Sauce"/>
                <a:cs typeface="Open Sauce"/>
                <a:sym typeface="Open Sauce"/>
              </a:rPr>
              <a:t>User defined functions</a:t>
            </a:r>
          </a:p>
        </p:txBody>
      </p:sp>
      <p:sp>
        <p:nvSpPr>
          <p:cNvPr name="Freeform 21" id="21"/>
          <p:cNvSpPr/>
          <p:nvPr/>
        </p:nvSpPr>
        <p:spPr>
          <a:xfrm flipH="false" flipV="false" rot="0">
            <a:off x="-341853" y="-684110"/>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5">
              <a:alphaModFix amt="37000"/>
            </a:blip>
            <a:stretch>
              <a:fillRect l="0" t="0" r="0" b="0"/>
            </a:stretch>
          </a:blipFill>
        </p:spPr>
      </p:sp>
    </p:spTree>
  </p:cSld>
  <p:clrMapOvr>
    <a:masterClrMapping/>
  </p:clrMapOvr>
</p:sld>
</file>

<file path=ppt/slides/slide70.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8100000">
            <a:off x="-5281063" y="-2431920"/>
            <a:ext cx="16893429" cy="10074627"/>
          </a:xfrm>
          <a:custGeom>
            <a:avLst/>
            <a:gdLst/>
            <a:ahLst/>
            <a:cxnLst/>
            <a:rect r="r" b="b" t="t" l="l"/>
            <a:pathLst>
              <a:path h="10074627" w="16893429">
                <a:moveTo>
                  <a:pt x="0" y="0"/>
                </a:moveTo>
                <a:lnTo>
                  <a:pt x="16893430" y="0"/>
                </a:lnTo>
                <a:lnTo>
                  <a:pt x="16893430" y="10074627"/>
                </a:lnTo>
                <a:lnTo>
                  <a:pt x="0" y="100746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66398" y="1333975"/>
            <a:ext cx="15433919" cy="7619050"/>
            <a:chOff x="0" y="0"/>
            <a:chExt cx="4064900" cy="2006663"/>
          </a:xfrm>
        </p:grpSpPr>
        <p:sp>
          <p:nvSpPr>
            <p:cNvPr name="Freeform 4" id="4"/>
            <p:cNvSpPr/>
            <p:nvPr/>
          </p:nvSpPr>
          <p:spPr>
            <a:xfrm flipH="false" flipV="false" rot="0">
              <a:off x="0" y="0"/>
              <a:ext cx="4064900" cy="2006663"/>
            </a:xfrm>
            <a:custGeom>
              <a:avLst/>
              <a:gdLst/>
              <a:ahLst/>
              <a:cxnLst/>
              <a:rect r="r" b="b" t="t" l="l"/>
              <a:pathLst>
                <a:path h="2006663" w="4064900">
                  <a:moveTo>
                    <a:pt x="0" y="0"/>
                  </a:moveTo>
                  <a:lnTo>
                    <a:pt x="4064900" y="0"/>
                  </a:lnTo>
                  <a:lnTo>
                    <a:pt x="4064900" y="2006663"/>
                  </a:lnTo>
                  <a:lnTo>
                    <a:pt x="0" y="200666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64900" cy="2035238"/>
            </a:xfrm>
            <a:prstGeom prst="rect">
              <a:avLst/>
            </a:prstGeom>
          </p:spPr>
          <p:txBody>
            <a:bodyPr anchor="ctr" rtlCol="false" tIns="50800" lIns="50800" bIns="50800" rIns="50800"/>
            <a:lstStyle/>
            <a:p>
              <a:pPr algn="ctr">
                <a:lnSpc>
                  <a:spcPts val="1869"/>
                </a:lnSpc>
              </a:pPr>
            </a:p>
          </p:txBody>
        </p:sp>
      </p:grpSp>
      <p:sp>
        <p:nvSpPr>
          <p:cNvPr name="TextBox 6" id="6"/>
          <p:cNvSpPr txBox="true"/>
          <p:nvPr/>
        </p:nvSpPr>
        <p:spPr>
          <a:xfrm rot="0">
            <a:off x="2226667" y="2066527"/>
            <a:ext cx="13834665" cy="1533525"/>
          </a:xfrm>
          <a:prstGeom prst="rect">
            <a:avLst/>
          </a:prstGeom>
        </p:spPr>
        <p:txBody>
          <a:bodyPr anchor="t" rtlCol="false" tIns="0" lIns="0" bIns="0" rIns="0">
            <a:spAutoFit/>
          </a:bodyPr>
          <a:lstStyle/>
          <a:p>
            <a:pPr algn="ctr">
              <a:lnSpc>
                <a:spcPts val="6000"/>
              </a:lnSpc>
            </a:pPr>
            <a:r>
              <a:rPr lang="en-US" sz="5000">
                <a:solidFill>
                  <a:srgbClr val="000000"/>
                </a:solidFill>
                <a:latin typeface="Open Sauce"/>
                <a:ea typeface="Open Sauce"/>
                <a:cs typeface="Open Sauce"/>
                <a:sym typeface="Open Sauce"/>
              </a:rPr>
              <a:t>Can you make a function that calculates the square root of a number? </a:t>
            </a:r>
          </a:p>
        </p:txBody>
      </p:sp>
      <p:sp>
        <p:nvSpPr>
          <p:cNvPr name="TextBox 7" id="7"/>
          <p:cNvSpPr txBox="true"/>
          <p:nvPr/>
        </p:nvSpPr>
        <p:spPr>
          <a:xfrm rot="0">
            <a:off x="3165652" y="4684911"/>
            <a:ext cx="13365349" cy="1678305"/>
          </a:xfrm>
          <a:prstGeom prst="rect">
            <a:avLst/>
          </a:prstGeom>
        </p:spPr>
        <p:txBody>
          <a:bodyPr anchor="t" rtlCol="false" tIns="0" lIns="0" bIns="0" rIns="0">
            <a:spAutoFit/>
          </a:bodyPr>
          <a:lstStyle/>
          <a:p>
            <a:pPr algn="just">
              <a:lnSpc>
                <a:spcPts val="2640"/>
              </a:lnSpc>
            </a:pPr>
            <a:r>
              <a:rPr lang="en-US" sz="2400" spc="76">
                <a:solidFill>
                  <a:srgbClr val="000000"/>
                </a:solidFill>
                <a:latin typeface="Open Sauce"/>
                <a:ea typeface="Open Sauce"/>
                <a:cs typeface="Open Sauce"/>
                <a:sym typeface="Open Sauce"/>
              </a:rPr>
              <a:t>Further challange:   Can how does your function deal with negative values? </a:t>
            </a:r>
          </a:p>
          <a:p>
            <a:pPr algn="just">
              <a:lnSpc>
                <a:spcPts val="2640"/>
              </a:lnSpc>
            </a:pPr>
          </a:p>
          <a:p>
            <a:pPr algn="just">
              <a:lnSpc>
                <a:spcPts val="2640"/>
              </a:lnSpc>
            </a:pPr>
            <a:r>
              <a:rPr lang="en-US" sz="2400" spc="76">
                <a:solidFill>
                  <a:srgbClr val="000000"/>
                </a:solidFill>
                <a:latin typeface="Open Sauce"/>
                <a:ea typeface="Open Sauce"/>
                <a:cs typeface="Open Sauce"/>
                <a:sym typeface="Open Sauce"/>
              </a:rPr>
              <a:t>What are some solutions to the problem?</a:t>
            </a:r>
          </a:p>
          <a:p>
            <a:pPr algn="just">
              <a:lnSpc>
                <a:spcPts val="2640"/>
              </a:lnSpc>
            </a:pPr>
          </a:p>
          <a:p>
            <a:pPr algn="just">
              <a:lnSpc>
                <a:spcPts val="2640"/>
              </a:lnSpc>
            </a:pPr>
            <a:r>
              <a:rPr lang="en-US" sz="2400" spc="76">
                <a:solidFill>
                  <a:srgbClr val="000000"/>
                </a:solidFill>
                <a:latin typeface="Open Sauce"/>
                <a:ea typeface="Open Sauce"/>
                <a:cs typeface="Open Sauce"/>
                <a:sym typeface="Open Sauce"/>
              </a:rPr>
              <a:t>If this is still to easy can you create a function to sort a list of data?</a:t>
            </a:r>
          </a:p>
        </p:txBody>
      </p:sp>
      <p:sp>
        <p:nvSpPr>
          <p:cNvPr name="TextBox 8" id="8"/>
          <p:cNvSpPr txBox="true"/>
          <p:nvPr/>
        </p:nvSpPr>
        <p:spPr>
          <a:xfrm rot="0">
            <a:off x="2366025" y="7419500"/>
            <a:ext cx="13834665" cy="1533525"/>
          </a:xfrm>
          <a:prstGeom prst="rect">
            <a:avLst/>
          </a:prstGeom>
        </p:spPr>
        <p:txBody>
          <a:bodyPr anchor="t" rtlCol="false" tIns="0" lIns="0" bIns="0" rIns="0">
            <a:spAutoFit/>
          </a:bodyPr>
          <a:lstStyle/>
          <a:p>
            <a:pPr algn="ctr">
              <a:lnSpc>
                <a:spcPts val="6000"/>
              </a:lnSpc>
            </a:pPr>
            <a:r>
              <a:rPr lang="en-US" sz="5000">
                <a:solidFill>
                  <a:srgbClr val="000000"/>
                </a:solidFill>
                <a:latin typeface="Open Sauce"/>
                <a:ea typeface="Open Sauce"/>
                <a:cs typeface="Open Sauce"/>
                <a:sym typeface="Open Sauce"/>
              </a:rPr>
              <a:t>Challenge: Write a function which does vector multiplication</a:t>
            </a:r>
          </a:p>
        </p:txBody>
      </p:sp>
      <p:sp>
        <p:nvSpPr>
          <p:cNvPr name="Freeform 9" id="9"/>
          <p:cNvSpPr/>
          <p:nvPr/>
        </p:nvSpPr>
        <p:spPr>
          <a:xfrm flipH="false" flipV="false" rot="0">
            <a:off x="14540921" y="-513371"/>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4">
              <a:alphaModFix amt="37000"/>
            </a:blip>
            <a:stretch>
              <a:fillRect l="0" t="0" r="0" b="0"/>
            </a:stretch>
          </a:blipFill>
        </p:spPr>
      </p:sp>
    </p:spTree>
  </p:cSld>
  <p:clrMapOvr>
    <a:masterClrMapping/>
  </p:clrMapOvr>
</p:sld>
</file>

<file path=ppt/slides/slide71.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5015114">
            <a:off x="9740863" y="2343404"/>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66398" y="1333975"/>
            <a:ext cx="15433919" cy="7619050"/>
            <a:chOff x="0" y="0"/>
            <a:chExt cx="4064900" cy="2006663"/>
          </a:xfrm>
        </p:grpSpPr>
        <p:sp>
          <p:nvSpPr>
            <p:cNvPr name="Freeform 4" id="4"/>
            <p:cNvSpPr/>
            <p:nvPr/>
          </p:nvSpPr>
          <p:spPr>
            <a:xfrm flipH="false" flipV="false" rot="0">
              <a:off x="0" y="0"/>
              <a:ext cx="4064900" cy="2006663"/>
            </a:xfrm>
            <a:custGeom>
              <a:avLst/>
              <a:gdLst/>
              <a:ahLst/>
              <a:cxnLst/>
              <a:rect r="r" b="b" t="t" l="l"/>
              <a:pathLst>
                <a:path h="2006663" w="4064900">
                  <a:moveTo>
                    <a:pt x="0" y="0"/>
                  </a:moveTo>
                  <a:lnTo>
                    <a:pt x="4064900" y="0"/>
                  </a:lnTo>
                  <a:lnTo>
                    <a:pt x="4064900" y="2006663"/>
                  </a:lnTo>
                  <a:lnTo>
                    <a:pt x="0" y="200666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64900" cy="2035238"/>
            </a:xfrm>
            <a:prstGeom prst="rect">
              <a:avLst/>
            </a:prstGeom>
          </p:spPr>
          <p:txBody>
            <a:bodyPr anchor="ctr" rtlCol="false" tIns="50800" lIns="50800" bIns="50800" rIns="50800"/>
            <a:lstStyle/>
            <a:p>
              <a:pPr algn="ctr">
                <a:lnSpc>
                  <a:spcPts val="1869"/>
                </a:lnSpc>
              </a:pPr>
            </a:p>
          </p:txBody>
        </p:sp>
      </p:grpSp>
      <p:sp>
        <p:nvSpPr>
          <p:cNvPr name="AutoShape 6" id="6"/>
          <p:cNvSpPr/>
          <p:nvPr/>
        </p:nvSpPr>
        <p:spPr>
          <a:xfrm flipV="true">
            <a:off x="8654651" y="2652442"/>
            <a:ext cx="0" cy="5211720"/>
          </a:xfrm>
          <a:prstGeom prst="line">
            <a:avLst/>
          </a:prstGeom>
          <a:ln cap="flat" w="38100">
            <a:solidFill>
              <a:srgbClr val="192253"/>
            </a:solidFill>
            <a:prstDash val="solid"/>
            <a:headEnd type="none" len="sm" w="sm"/>
            <a:tailEnd type="none" len="sm" w="sm"/>
          </a:ln>
        </p:spPr>
      </p:sp>
      <p:grpSp>
        <p:nvGrpSpPr>
          <p:cNvPr name="Group 7" id="7"/>
          <p:cNvGrpSpPr>
            <a:grpSpLocks noChangeAspect="true"/>
          </p:cNvGrpSpPr>
          <p:nvPr/>
        </p:nvGrpSpPr>
        <p:grpSpPr>
          <a:xfrm rot="0">
            <a:off x="8469692" y="2467483"/>
            <a:ext cx="369918" cy="369918"/>
            <a:chOff x="6705600" y="1371600"/>
            <a:chExt cx="10972800" cy="10972800"/>
          </a:xfrm>
        </p:grpSpPr>
        <p:sp>
          <p:nvSpPr>
            <p:cNvPr name="Freeform 8" id="8"/>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9" id="9"/>
          <p:cNvGrpSpPr>
            <a:grpSpLocks noChangeAspect="true"/>
          </p:cNvGrpSpPr>
          <p:nvPr/>
        </p:nvGrpSpPr>
        <p:grpSpPr>
          <a:xfrm rot="0">
            <a:off x="8469692" y="4447221"/>
            <a:ext cx="369918" cy="369918"/>
            <a:chOff x="6705600" y="1371600"/>
            <a:chExt cx="10972800" cy="10972800"/>
          </a:xfrm>
        </p:grpSpPr>
        <p:sp>
          <p:nvSpPr>
            <p:cNvPr name="Freeform 10" id="10"/>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11" id="11"/>
          <p:cNvGrpSpPr>
            <a:grpSpLocks noChangeAspect="true"/>
          </p:cNvGrpSpPr>
          <p:nvPr/>
        </p:nvGrpSpPr>
        <p:grpSpPr>
          <a:xfrm rot="0">
            <a:off x="8469692" y="6360189"/>
            <a:ext cx="369918" cy="369918"/>
            <a:chOff x="6705600" y="1371600"/>
            <a:chExt cx="10972800" cy="10972800"/>
          </a:xfrm>
        </p:grpSpPr>
        <p:sp>
          <p:nvSpPr>
            <p:cNvPr name="Freeform 12" id="12"/>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sp>
        <p:nvSpPr>
          <p:cNvPr name="Freeform 13" id="13"/>
          <p:cNvSpPr/>
          <p:nvPr/>
        </p:nvSpPr>
        <p:spPr>
          <a:xfrm flipH="false" flipV="false" rot="0">
            <a:off x="2382074" y="2084648"/>
            <a:ext cx="5106947" cy="2606122"/>
          </a:xfrm>
          <a:custGeom>
            <a:avLst/>
            <a:gdLst/>
            <a:ahLst/>
            <a:cxnLst/>
            <a:rect r="r" b="b" t="t" l="l"/>
            <a:pathLst>
              <a:path h="2606122" w="5106947">
                <a:moveTo>
                  <a:pt x="0" y="0"/>
                </a:moveTo>
                <a:lnTo>
                  <a:pt x="5106946" y="0"/>
                </a:lnTo>
                <a:lnTo>
                  <a:pt x="5106946" y="2606122"/>
                </a:lnTo>
                <a:lnTo>
                  <a:pt x="0" y="2606122"/>
                </a:lnTo>
                <a:lnTo>
                  <a:pt x="0" y="0"/>
                </a:lnTo>
                <a:close/>
              </a:path>
            </a:pathLst>
          </a:custGeom>
          <a:blipFill>
            <a:blip r:embed="rId4"/>
            <a:stretch>
              <a:fillRect l="0" t="0" r="0" b="0"/>
            </a:stretch>
          </a:blipFill>
        </p:spPr>
      </p:sp>
      <p:sp>
        <p:nvSpPr>
          <p:cNvPr name="Freeform 14" id="14"/>
          <p:cNvSpPr/>
          <p:nvPr/>
        </p:nvSpPr>
        <p:spPr>
          <a:xfrm flipH="false" flipV="false" rot="0">
            <a:off x="2100553" y="5873979"/>
            <a:ext cx="5902413" cy="1712257"/>
          </a:xfrm>
          <a:custGeom>
            <a:avLst/>
            <a:gdLst/>
            <a:ahLst/>
            <a:cxnLst/>
            <a:rect r="r" b="b" t="t" l="l"/>
            <a:pathLst>
              <a:path h="1712257" w="5902413">
                <a:moveTo>
                  <a:pt x="0" y="0"/>
                </a:moveTo>
                <a:lnTo>
                  <a:pt x="5902414" y="0"/>
                </a:lnTo>
                <a:lnTo>
                  <a:pt x="5902414" y="1712257"/>
                </a:lnTo>
                <a:lnTo>
                  <a:pt x="0" y="1712257"/>
                </a:lnTo>
                <a:lnTo>
                  <a:pt x="0" y="0"/>
                </a:lnTo>
                <a:close/>
              </a:path>
            </a:pathLst>
          </a:custGeom>
          <a:blipFill>
            <a:blip r:embed="rId5"/>
            <a:stretch>
              <a:fillRect l="0" t="0" r="0" b="0"/>
            </a:stretch>
          </a:blipFill>
        </p:spPr>
      </p:sp>
      <p:sp>
        <p:nvSpPr>
          <p:cNvPr name="TextBox 15" id="15"/>
          <p:cNvSpPr txBox="true"/>
          <p:nvPr/>
        </p:nvSpPr>
        <p:spPr>
          <a:xfrm rot="0">
            <a:off x="9090434" y="2447511"/>
            <a:ext cx="7712002" cy="808355"/>
          </a:xfrm>
          <a:prstGeom prst="rect">
            <a:avLst/>
          </a:prstGeom>
        </p:spPr>
        <p:txBody>
          <a:bodyPr anchor="t" rtlCol="false" tIns="0" lIns="0" bIns="0" rIns="0">
            <a:spAutoFit/>
          </a:bodyPr>
          <a:lstStyle/>
          <a:p>
            <a:pPr algn="just">
              <a:lnSpc>
                <a:spcPts val="3190"/>
              </a:lnSpc>
            </a:pPr>
            <a:r>
              <a:rPr lang="en-US" sz="2900" spc="92">
                <a:solidFill>
                  <a:srgbClr val="000000"/>
                </a:solidFill>
                <a:latin typeface="Open Sauce"/>
                <a:ea typeface="Open Sauce"/>
                <a:cs typeface="Open Sauce"/>
                <a:sym typeface="Open Sauce"/>
              </a:rPr>
              <a:t>Where can this function be improved to make it more readable?</a:t>
            </a:r>
          </a:p>
        </p:txBody>
      </p:sp>
      <p:sp>
        <p:nvSpPr>
          <p:cNvPr name="TextBox 16" id="16"/>
          <p:cNvSpPr txBox="true"/>
          <p:nvPr/>
        </p:nvSpPr>
        <p:spPr>
          <a:xfrm rot="0">
            <a:off x="9054139" y="4411200"/>
            <a:ext cx="7497473" cy="808355"/>
          </a:xfrm>
          <a:prstGeom prst="rect">
            <a:avLst/>
          </a:prstGeom>
        </p:spPr>
        <p:txBody>
          <a:bodyPr anchor="t" rtlCol="false" tIns="0" lIns="0" bIns="0" rIns="0">
            <a:spAutoFit/>
          </a:bodyPr>
          <a:lstStyle/>
          <a:p>
            <a:pPr algn="just">
              <a:lnSpc>
                <a:spcPts val="3190"/>
              </a:lnSpc>
            </a:pPr>
            <a:r>
              <a:rPr lang="en-US" sz="2900" spc="92">
                <a:solidFill>
                  <a:srgbClr val="000000"/>
                </a:solidFill>
                <a:latin typeface="Open Sauce"/>
                <a:ea typeface="Open Sauce"/>
                <a:cs typeface="Open Sauce"/>
                <a:sym typeface="Open Sauce"/>
              </a:rPr>
              <a:t>Can we assign the output of the function to a variable?</a:t>
            </a:r>
          </a:p>
        </p:txBody>
      </p:sp>
      <p:sp>
        <p:nvSpPr>
          <p:cNvPr name="TextBox 17" id="17"/>
          <p:cNvSpPr txBox="true"/>
          <p:nvPr/>
        </p:nvSpPr>
        <p:spPr>
          <a:xfrm rot="0">
            <a:off x="9054139" y="3349609"/>
            <a:ext cx="7022611" cy="247269"/>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On the whiteboard can the function be writen to deal with negative input</a:t>
            </a:r>
          </a:p>
        </p:txBody>
      </p:sp>
      <p:sp>
        <p:nvSpPr>
          <p:cNvPr name="TextBox 18" id="18"/>
          <p:cNvSpPr txBox="true"/>
          <p:nvPr/>
        </p:nvSpPr>
        <p:spPr>
          <a:xfrm rot="0">
            <a:off x="9090434" y="5396580"/>
            <a:ext cx="6986316" cy="247269"/>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How would this be done if the function output 2 values? - variable unpacking</a:t>
            </a:r>
          </a:p>
        </p:txBody>
      </p:sp>
      <p:sp>
        <p:nvSpPr>
          <p:cNvPr name="TextBox 19" id="19"/>
          <p:cNvSpPr txBox="true"/>
          <p:nvPr/>
        </p:nvSpPr>
        <p:spPr>
          <a:xfrm rot="0">
            <a:off x="8862002" y="6388764"/>
            <a:ext cx="8168866" cy="408305"/>
          </a:xfrm>
          <a:prstGeom prst="rect">
            <a:avLst/>
          </a:prstGeom>
        </p:spPr>
        <p:txBody>
          <a:bodyPr anchor="t" rtlCol="false" tIns="0" lIns="0" bIns="0" rIns="0">
            <a:spAutoFit/>
          </a:bodyPr>
          <a:lstStyle/>
          <a:p>
            <a:pPr algn="just">
              <a:lnSpc>
                <a:spcPts val="3190"/>
              </a:lnSpc>
            </a:pPr>
            <a:r>
              <a:rPr lang="en-US" sz="2900" spc="92">
                <a:solidFill>
                  <a:srgbClr val="000000"/>
                </a:solidFill>
                <a:latin typeface="Open Sauce"/>
                <a:ea typeface="Open Sauce"/>
                <a:cs typeface="Open Sauce"/>
                <a:sym typeface="Open Sauce"/>
              </a:rPr>
              <a:t>Whats the output from print(square_root)?</a:t>
            </a:r>
          </a:p>
        </p:txBody>
      </p:sp>
      <p:sp>
        <p:nvSpPr>
          <p:cNvPr name="TextBox 20" id="20"/>
          <p:cNvSpPr txBox="true"/>
          <p:nvPr/>
        </p:nvSpPr>
        <p:spPr>
          <a:xfrm rot="0">
            <a:off x="9090434" y="7184133"/>
            <a:ext cx="6986316" cy="247269"/>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What does this tell us about the function you have made and functions in general?</a:t>
            </a:r>
          </a:p>
        </p:txBody>
      </p:sp>
      <p:sp>
        <p:nvSpPr>
          <p:cNvPr name="Freeform 21" id="21"/>
          <p:cNvSpPr/>
          <p:nvPr/>
        </p:nvSpPr>
        <p:spPr>
          <a:xfrm flipH="false" flipV="false" rot="0">
            <a:off x="-341853" y="-684110"/>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6">
              <a:alphaModFix amt="37000"/>
            </a:blip>
            <a:stretch>
              <a:fillRect l="0" t="0" r="0" b="0"/>
            </a:stretch>
          </a:blipFill>
        </p:spPr>
      </p:sp>
    </p:spTree>
  </p:cSld>
  <p:clrMapOvr>
    <a:masterClrMapping/>
  </p:clrMapOvr>
</p:sld>
</file>

<file path=ppt/slides/slide72.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8100000">
            <a:off x="-5281063" y="-2431920"/>
            <a:ext cx="16893429" cy="10074627"/>
          </a:xfrm>
          <a:custGeom>
            <a:avLst/>
            <a:gdLst/>
            <a:ahLst/>
            <a:cxnLst/>
            <a:rect r="r" b="b" t="t" l="l"/>
            <a:pathLst>
              <a:path h="10074627" w="16893429">
                <a:moveTo>
                  <a:pt x="0" y="0"/>
                </a:moveTo>
                <a:lnTo>
                  <a:pt x="16893430" y="0"/>
                </a:lnTo>
                <a:lnTo>
                  <a:pt x="16893430" y="10074627"/>
                </a:lnTo>
                <a:lnTo>
                  <a:pt x="0" y="100746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33305" y="1333975"/>
            <a:ext cx="15433919" cy="7619050"/>
            <a:chOff x="0" y="0"/>
            <a:chExt cx="4064900" cy="2006663"/>
          </a:xfrm>
        </p:grpSpPr>
        <p:sp>
          <p:nvSpPr>
            <p:cNvPr name="Freeform 4" id="4"/>
            <p:cNvSpPr/>
            <p:nvPr/>
          </p:nvSpPr>
          <p:spPr>
            <a:xfrm flipH="false" flipV="false" rot="0">
              <a:off x="0" y="0"/>
              <a:ext cx="4064900" cy="2006663"/>
            </a:xfrm>
            <a:custGeom>
              <a:avLst/>
              <a:gdLst/>
              <a:ahLst/>
              <a:cxnLst/>
              <a:rect r="r" b="b" t="t" l="l"/>
              <a:pathLst>
                <a:path h="2006663" w="4064900">
                  <a:moveTo>
                    <a:pt x="0" y="0"/>
                  </a:moveTo>
                  <a:lnTo>
                    <a:pt x="4064900" y="0"/>
                  </a:lnTo>
                  <a:lnTo>
                    <a:pt x="4064900" y="2006663"/>
                  </a:lnTo>
                  <a:lnTo>
                    <a:pt x="0" y="200666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64900" cy="2035238"/>
            </a:xfrm>
            <a:prstGeom prst="rect">
              <a:avLst/>
            </a:prstGeom>
          </p:spPr>
          <p:txBody>
            <a:bodyPr anchor="ctr" rtlCol="false" tIns="50800" lIns="50800" bIns="50800" rIns="50800"/>
            <a:lstStyle/>
            <a:p>
              <a:pPr algn="ctr">
                <a:lnSpc>
                  <a:spcPts val="1869"/>
                </a:lnSpc>
              </a:pPr>
            </a:p>
          </p:txBody>
        </p:sp>
      </p:grpSp>
      <p:sp>
        <p:nvSpPr>
          <p:cNvPr name="TextBox 6" id="6"/>
          <p:cNvSpPr txBox="true"/>
          <p:nvPr/>
        </p:nvSpPr>
        <p:spPr>
          <a:xfrm rot="0">
            <a:off x="2884488" y="3757011"/>
            <a:ext cx="13834665" cy="771525"/>
          </a:xfrm>
          <a:prstGeom prst="rect">
            <a:avLst/>
          </a:prstGeom>
        </p:spPr>
        <p:txBody>
          <a:bodyPr anchor="t" rtlCol="false" tIns="0" lIns="0" bIns="0" rIns="0">
            <a:spAutoFit/>
          </a:bodyPr>
          <a:lstStyle/>
          <a:p>
            <a:pPr algn="ctr">
              <a:lnSpc>
                <a:spcPts val="6000"/>
              </a:lnSpc>
            </a:pPr>
            <a:r>
              <a:rPr lang="en-US" sz="5000">
                <a:solidFill>
                  <a:srgbClr val="000000"/>
                </a:solidFill>
                <a:latin typeface="Open Sauce"/>
                <a:ea typeface="Open Sauce"/>
                <a:cs typeface="Open Sauce"/>
                <a:sym typeface="Open Sauce"/>
              </a:rPr>
              <a:t>Challange: Can you comment your function?</a:t>
            </a:r>
          </a:p>
        </p:txBody>
      </p:sp>
      <p:sp>
        <p:nvSpPr>
          <p:cNvPr name="TextBox 7" id="7"/>
          <p:cNvSpPr txBox="true"/>
          <p:nvPr/>
        </p:nvSpPr>
        <p:spPr>
          <a:xfrm rot="0">
            <a:off x="4779701" y="5684396"/>
            <a:ext cx="9141128" cy="480060"/>
          </a:xfrm>
          <a:prstGeom prst="rect">
            <a:avLst/>
          </a:prstGeom>
        </p:spPr>
        <p:txBody>
          <a:bodyPr anchor="t" rtlCol="false" tIns="0" lIns="0" bIns="0" rIns="0">
            <a:spAutoFit/>
          </a:bodyPr>
          <a:lstStyle/>
          <a:p>
            <a:pPr algn="just">
              <a:lnSpc>
                <a:spcPts val="3630"/>
              </a:lnSpc>
            </a:pPr>
            <a:r>
              <a:rPr lang="en-US" sz="3300" spc="105">
                <a:solidFill>
                  <a:srgbClr val="000000"/>
                </a:solidFill>
                <a:latin typeface="Open Sauce"/>
                <a:ea typeface="Open Sauce"/>
                <a:cs typeface="Open Sauce"/>
                <a:sym typeface="Open Sauce"/>
              </a:rPr>
              <a:t>Come show an example on the board :) </a:t>
            </a:r>
          </a:p>
        </p:txBody>
      </p:sp>
      <p:sp>
        <p:nvSpPr>
          <p:cNvPr name="Freeform 8" id="8"/>
          <p:cNvSpPr/>
          <p:nvPr/>
        </p:nvSpPr>
        <p:spPr>
          <a:xfrm flipH="false" flipV="false" rot="0">
            <a:off x="14412867" y="-541827"/>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4">
              <a:alphaModFix amt="37000"/>
            </a:blip>
            <a:stretch>
              <a:fillRect l="0" t="0" r="0" b="0"/>
            </a:stretch>
          </a:blipFill>
        </p:spPr>
      </p:sp>
    </p:spTree>
  </p:cSld>
  <p:clrMapOvr>
    <a:masterClrMapping/>
  </p:clrMapOvr>
</p:sld>
</file>

<file path=ppt/slides/slide73.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8100000">
            <a:off x="-5281063" y="-2431920"/>
            <a:ext cx="16893429" cy="10074627"/>
          </a:xfrm>
          <a:custGeom>
            <a:avLst/>
            <a:gdLst/>
            <a:ahLst/>
            <a:cxnLst/>
            <a:rect r="r" b="b" t="t" l="l"/>
            <a:pathLst>
              <a:path h="10074627" w="16893429">
                <a:moveTo>
                  <a:pt x="0" y="0"/>
                </a:moveTo>
                <a:lnTo>
                  <a:pt x="16893430" y="0"/>
                </a:lnTo>
                <a:lnTo>
                  <a:pt x="16893430" y="10074627"/>
                </a:lnTo>
                <a:lnTo>
                  <a:pt x="0" y="100746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33305" y="1333975"/>
            <a:ext cx="15433919" cy="7619050"/>
            <a:chOff x="0" y="0"/>
            <a:chExt cx="4064900" cy="2006663"/>
          </a:xfrm>
        </p:grpSpPr>
        <p:sp>
          <p:nvSpPr>
            <p:cNvPr name="Freeform 4" id="4"/>
            <p:cNvSpPr/>
            <p:nvPr/>
          </p:nvSpPr>
          <p:spPr>
            <a:xfrm flipH="false" flipV="false" rot="0">
              <a:off x="0" y="0"/>
              <a:ext cx="4064900" cy="2006663"/>
            </a:xfrm>
            <a:custGeom>
              <a:avLst/>
              <a:gdLst/>
              <a:ahLst/>
              <a:cxnLst/>
              <a:rect r="r" b="b" t="t" l="l"/>
              <a:pathLst>
                <a:path h="2006663" w="4064900">
                  <a:moveTo>
                    <a:pt x="0" y="0"/>
                  </a:moveTo>
                  <a:lnTo>
                    <a:pt x="4064900" y="0"/>
                  </a:lnTo>
                  <a:lnTo>
                    <a:pt x="4064900" y="2006663"/>
                  </a:lnTo>
                  <a:lnTo>
                    <a:pt x="0" y="200666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64900" cy="2035238"/>
            </a:xfrm>
            <a:prstGeom prst="rect">
              <a:avLst/>
            </a:prstGeom>
          </p:spPr>
          <p:txBody>
            <a:bodyPr anchor="ctr" rtlCol="false" tIns="50800" lIns="50800" bIns="50800" rIns="50800"/>
            <a:lstStyle/>
            <a:p>
              <a:pPr algn="ctr">
                <a:lnSpc>
                  <a:spcPts val="1869"/>
                </a:lnSpc>
              </a:pPr>
            </a:p>
          </p:txBody>
        </p:sp>
      </p:grpSp>
      <p:sp>
        <p:nvSpPr>
          <p:cNvPr name="Freeform 6" id="6"/>
          <p:cNvSpPr/>
          <p:nvPr/>
        </p:nvSpPr>
        <p:spPr>
          <a:xfrm flipH="false" flipV="false" rot="0">
            <a:off x="5157188" y="2327571"/>
            <a:ext cx="9023627" cy="6119026"/>
          </a:xfrm>
          <a:custGeom>
            <a:avLst/>
            <a:gdLst/>
            <a:ahLst/>
            <a:cxnLst/>
            <a:rect r="r" b="b" t="t" l="l"/>
            <a:pathLst>
              <a:path h="6119026" w="9023627">
                <a:moveTo>
                  <a:pt x="0" y="0"/>
                </a:moveTo>
                <a:lnTo>
                  <a:pt x="9023627" y="0"/>
                </a:lnTo>
                <a:lnTo>
                  <a:pt x="9023627" y="6119025"/>
                </a:lnTo>
                <a:lnTo>
                  <a:pt x="0" y="6119025"/>
                </a:lnTo>
                <a:lnTo>
                  <a:pt x="0" y="0"/>
                </a:lnTo>
                <a:close/>
              </a:path>
            </a:pathLst>
          </a:custGeom>
          <a:blipFill>
            <a:blip r:embed="rId4"/>
            <a:stretch>
              <a:fillRect l="0" t="0" r="0" b="0"/>
            </a:stretch>
          </a:blipFill>
        </p:spPr>
      </p:sp>
      <p:sp>
        <p:nvSpPr>
          <p:cNvPr name="Freeform 7" id="7"/>
          <p:cNvSpPr/>
          <p:nvPr/>
        </p:nvSpPr>
        <p:spPr>
          <a:xfrm flipH="false" flipV="false" rot="0">
            <a:off x="14370182" y="-612969"/>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5">
              <a:alphaModFix amt="37000"/>
            </a:blip>
            <a:stretch>
              <a:fillRect l="0" t="0" r="0" b="0"/>
            </a:stretch>
          </a:blipFill>
        </p:spPr>
      </p:sp>
    </p:spTree>
  </p:cSld>
  <p:clrMapOvr>
    <a:masterClrMapping/>
  </p:clrMapOvr>
</p:sld>
</file>

<file path=ppt/slides/slide74.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2923865">
            <a:off x="-2984685" y="1184351"/>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5400000">
            <a:off x="8046708" y="385825"/>
            <a:ext cx="11245538" cy="9778557"/>
            <a:chOff x="0" y="0"/>
            <a:chExt cx="2961788" cy="2575423"/>
          </a:xfrm>
        </p:grpSpPr>
        <p:sp>
          <p:nvSpPr>
            <p:cNvPr name="Freeform 4" id="4"/>
            <p:cNvSpPr/>
            <p:nvPr/>
          </p:nvSpPr>
          <p:spPr>
            <a:xfrm flipH="false" flipV="false" rot="0">
              <a:off x="0" y="0"/>
              <a:ext cx="2961788" cy="2575422"/>
            </a:xfrm>
            <a:custGeom>
              <a:avLst/>
              <a:gdLst/>
              <a:ahLst/>
              <a:cxnLst/>
              <a:rect r="r" b="b" t="t" l="l"/>
              <a:pathLst>
                <a:path h="2575422" w="2961788">
                  <a:moveTo>
                    <a:pt x="0" y="0"/>
                  </a:moveTo>
                  <a:lnTo>
                    <a:pt x="2961788" y="0"/>
                  </a:lnTo>
                  <a:lnTo>
                    <a:pt x="2961788" y="2575422"/>
                  </a:lnTo>
                  <a:lnTo>
                    <a:pt x="0" y="2575422"/>
                  </a:lnTo>
                  <a:close/>
                </a:path>
              </a:pathLst>
            </a:custGeom>
            <a:solidFill>
              <a:srgbClr val="192253"/>
            </a:solidFill>
          </p:spPr>
        </p:sp>
        <p:sp>
          <p:nvSpPr>
            <p:cNvPr name="TextBox 5" id="5"/>
            <p:cNvSpPr txBox="true"/>
            <p:nvPr/>
          </p:nvSpPr>
          <p:spPr>
            <a:xfrm>
              <a:off x="0" y="-28575"/>
              <a:ext cx="2961788" cy="2603998"/>
            </a:xfrm>
            <a:prstGeom prst="rect">
              <a:avLst/>
            </a:prstGeom>
          </p:spPr>
          <p:txBody>
            <a:bodyPr anchor="ctr" rtlCol="false" tIns="50800" lIns="50800" bIns="50800" rIns="50800"/>
            <a:lstStyle/>
            <a:p>
              <a:pPr algn="ctr">
                <a:lnSpc>
                  <a:spcPts val="1869"/>
                </a:lnSpc>
              </a:pPr>
            </a:p>
          </p:txBody>
        </p:sp>
      </p:grpSp>
      <p:sp>
        <p:nvSpPr>
          <p:cNvPr name="AutoShape 6" id="6"/>
          <p:cNvSpPr/>
          <p:nvPr/>
        </p:nvSpPr>
        <p:spPr>
          <a:xfrm flipH="true" flipV="true">
            <a:off x="-488525" y="8289279"/>
            <a:ext cx="15156557" cy="0"/>
          </a:xfrm>
          <a:prstGeom prst="line">
            <a:avLst/>
          </a:prstGeom>
          <a:ln cap="flat" w="76200">
            <a:solidFill>
              <a:srgbClr val="C23A97"/>
            </a:solidFill>
            <a:prstDash val="solid"/>
            <a:headEnd type="none" len="sm" w="sm"/>
            <a:tailEnd type="none" len="sm" w="sm"/>
          </a:ln>
        </p:spPr>
      </p:sp>
      <p:sp>
        <p:nvSpPr>
          <p:cNvPr name="AutoShape 7" id="7"/>
          <p:cNvSpPr/>
          <p:nvPr/>
        </p:nvSpPr>
        <p:spPr>
          <a:xfrm flipH="true">
            <a:off x="10559239" y="2561194"/>
            <a:ext cx="8347436" cy="0"/>
          </a:xfrm>
          <a:prstGeom prst="line">
            <a:avLst/>
          </a:prstGeom>
          <a:ln cap="flat" w="76200">
            <a:solidFill>
              <a:srgbClr val="F5F5F5"/>
            </a:solidFill>
            <a:prstDash val="solid"/>
            <a:headEnd type="none" len="sm" w="sm"/>
            <a:tailEnd type="none" len="sm" w="sm"/>
          </a:ln>
        </p:spPr>
      </p:sp>
      <p:sp>
        <p:nvSpPr>
          <p:cNvPr name="TextBox 8" id="8"/>
          <p:cNvSpPr txBox="true"/>
          <p:nvPr/>
        </p:nvSpPr>
        <p:spPr>
          <a:xfrm rot="0">
            <a:off x="13435301" y="4887513"/>
            <a:ext cx="4575162" cy="3070225"/>
          </a:xfrm>
          <a:prstGeom prst="rect">
            <a:avLst/>
          </a:prstGeom>
        </p:spPr>
        <p:txBody>
          <a:bodyPr anchor="t" rtlCol="false" tIns="0" lIns="0" bIns="0" rIns="0">
            <a:spAutoFit/>
          </a:bodyPr>
          <a:lstStyle/>
          <a:p>
            <a:pPr algn="l">
              <a:lnSpc>
                <a:spcPts val="6049"/>
              </a:lnSpc>
            </a:pPr>
            <a:r>
              <a:rPr lang="en-US" b="true" sz="5499" spc="175">
                <a:solidFill>
                  <a:srgbClr val="FFFFFF"/>
                </a:solidFill>
                <a:latin typeface="Open Sauce Bold"/>
                <a:ea typeface="Open Sauce Bold"/>
                <a:cs typeface="Open Sauce Bold"/>
                <a:sym typeface="Open Sauce Bold"/>
              </a:rPr>
              <a:t>IMPORT FUNCTIONS FROM A LIBRARY</a:t>
            </a:r>
          </a:p>
        </p:txBody>
      </p:sp>
      <p:sp>
        <p:nvSpPr>
          <p:cNvPr name="Freeform 9" id="9"/>
          <p:cNvSpPr/>
          <p:nvPr/>
        </p:nvSpPr>
        <p:spPr>
          <a:xfrm flipH="false" flipV="false" rot="0">
            <a:off x="14355953" y="-347665"/>
            <a:ext cx="4202802" cy="2362325"/>
          </a:xfrm>
          <a:custGeom>
            <a:avLst/>
            <a:gdLst/>
            <a:ahLst/>
            <a:cxnLst/>
            <a:rect r="r" b="b" t="t" l="l"/>
            <a:pathLst>
              <a:path h="2362325" w="4202802">
                <a:moveTo>
                  <a:pt x="0" y="0"/>
                </a:moveTo>
                <a:lnTo>
                  <a:pt x="4202803" y="0"/>
                </a:lnTo>
                <a:lnTo>
                  <a:pt x="4202803" y="2362325"/>
                </a:lnTo>
                <a:lnTo>
                  <a:pt x="0" y="2362325"/>
                </a:lnTo>
                <a:lnTo>
                  <a:pt x="0" y="0"/>
                </a:lnTo>
                <a:close/>
              </a:path>
            </a:pathLst>
          </a:custGeom>
          <a:blipFill>
            <a:blip r:embed="rId4">
              <a:alphaModFix amt="37000"/>
            </a:blip>
            <a:stretch>
              <a:fillRect l="0" t="0" r="0" b="0"/>
            </a:stretch>
          </a:blipFill>
        </p:spPr>
      </p:sp>
    </p:spTree>
  </p:cSld>
  <p:clrMapOvr>
    <a:masterClrMapping/>
  </p:clrMapOvr>
</p:sld>
</file>

<file path=ppt/slides/slide75.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5015114">
            <a:off x="9740863" y="2343404"/>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66398" y="1333975"/>
            <a:ext cx="15433919" cy="7619050"/>
            <a:chOff x="0" y="0"/>
            <a:chExt cx="4064900" cy="2006663"/>
          </a:xfrm>
        </p:grpSpPr>
        <p:sp>
          <p:nvSpPr>
            <p:cNvPr name="Freeform 4" id="4"/>
            <p:cNvSpPr/>
            <p:nvPr/>
          </p:nvSpPr>
          <p:spPr>
            <a:xfrm flipH="false" flipV="false" rot="0">
              <a:off x="0" y="0"/>
              <a:ext cx="4064900" cy="2006663"/>
            </a:xfrm>
            <a:custGeom>
              <a:avLst/>
              <a:gdLst/>
              <a:ahLst/>
              <a:cxnLst/>
              <a:rect r="r" b="b" t="t" l="l"/>
              <a:pathLst>
                <a:path h="2006663" w="4064900">
                  <a:moveTo>
                    <a:pt x="0" y="0"/>
                  </a:moveTo>
                  <a:lnTo>
                    <a:pt x="4064900" y="0"/>
                  </a:lnTo>
                  <a:lnTo>
                    <a:pt x="4064900" y="2006663"/>
                  </a:lnTo>
                  <a:lnTo>
                    <a:pt x="0" y="200666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64900" cy="2035238"/>
            </a:xfrm>
            <a:prstGeom prst="rect">
              <a:avLst/>
            </a:prstGeom>
          </p:spPr>
          <p:txBody>
            <a:bodyPr anchor="ctr" rtlCol="false" tIns="50800" lIns="50800" bIns="50800" rIns="50800"/>
            <a:lstStyle/>
            <a:p>
              <a:pPr algn="ctr">
                <a:lnSpc>
                  <a:spcPts val="1869"/>
                </a:lnSpc>
              </a:pPr>
            </a:p>
          </p:txBody>
        </p:sp>
      </p:grpSp>
      <p:sp>
        <p:nvSpPr>
          <p:cNvPr name="AutoShape 6" id="6"/>
          <p:cNvSpPr/>
          <p:nvPr/>
        </p:nvSpPr>
        <p:spPr>
          <a:xfrm flipV="true">
            <a:off x="8654651" y="2652442"/>
            <a:ext cx="0" cy="5211720"/>
          </a:xfrm>
          <a:prstGeom prst="line">
            <a:avLst/>
          </a:prstGeom>
          <a:ln cap="flat" w="38100">
            <a:solidFill>
              <a:srgbClr val="192253"/>
            </a:solidFill>
            <a:prstDash val="solid"/>
            <a:headEnd type="none" len="sm" w="sm"/>
            <a:tailEnd type="none" len="sm" w="sm"/>
          </a:ln>
        </p:spPr>
      </p:sp>
      <p:grpSp>
        <p:nvGrpSpPr>
          <p:cNvPr name="Group 7" id="7"/>
          <p:cNvGrpSpPr>
            <a:grpSpLocks noChangeAspect="true"/>
          </p:cNvGrpSpPr>
          <p:nvPr/>
        </p:nvGrpSpPr>
        <p:grpSpPr>
          <a:xfrm rot="0">
            <a:off x="8469692" y="2467483"/>
            <a:ext cx="369918" cy="369918"/>
            <a:chOff x="6705600" y="1371600"/>
            <a:chExt cx="10972800" cy="10972800"/>
          </a:xfrm>
        </p:grpSpPr>
        <p:sp>
          <p:nvSpPr>
            <p:cNvPr name="Freeform 8" id="8"/>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9" id="9"/>
          <p:cNvGrpSpPr>
            <a:grpSpLocks noChangeAspect="true"/>
          </p:cNvGrpSpPr>
          <p:nvPr/>
        </p:nvGrpSpPr>
        <p:grpSpPr>
          <a:xfrm rot="0">
            <a:off x="8469692" y="4447221"/>
            <a:ext cx="369918" cy="369918"/>
            <a:chOff x="6705600" y="1371600"/>
            <a:chExt cx="10972800" cy="10972800"/>
          </a:xfrm>
        </p:grpSpPr>
        <p:sp>
          <p:nvSpPr>
            <p:cNvPr name="Freeform 10" id="10"/>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11" id="11"/>
          <p:cNvGrpSpPr>
            <a:grpSpLocks noChangeAspect="true"/>
          </p:cNvGrpSpPr>
          <p:nvPr/>
        </p:nvGrpSpPr>
        <p:grpSpPr>
          <a:xfrm rot="0">
            <a:off x="8469692" y="6360189"/>
            <a:ext cx="369918" cy="369918"/>
            <a:chOff x="6705600" y="1371600"/>
            <a:chExt cx="10972800" cy="10972800"/>
          </a:xfrm>
        </p:grpSpPr>
        <p:sp>
          <p:nvSpPr>
            <p:cNvPr name="Freeform 12" id="12"/>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sp>
        <p:nvSpPr>
          <p:cNvPr name="Freeform 13" id="13"/>
          <p:cNvSpPr/>
          <p:nvPr/>
        </p:nvSpPr>
        <p:spPr>
          <a:xfrm flipH="false" flipV="false" rot="0">
            <a:off x="2973416" y="2422838"/>
            <a:ext cx="4047288" cy="1821280"/>
          </a:xfrm>
          <a:custGeom>
            <a:avLst/>
            <a:gdLst/>
            <a:ahLst/>
            <a:cxnLst/>
            <a:rect r="r" b="b" t="t" l="l"/>
            <a:pathLst>
              <a:path h="1821280" w="4047288">
                <a:moveTo>
                  <a:pt x="0" y="0"/>
                </a:moveTo>
                <a:lnTo>
                  <a:pt x="4047288" y="0"/>
                </a:lnTo>
                <a:lnTo>
                  <a:pt x="4047288" y="1821279"/>
                </a:lnTo>
                <a:lnTo>
                  <a:pt x="0" y="1821279"/>
                </a:lnTo>
                <a:lnTo>
                  <a:pt x="0" y="0"/>
                </a:lnTo>
                <a:close/>
              </a:path>
            </a:pathLst>
          </a:custGeom>
          <a:blipFill>
            <a:blip r:embed="rId4"/>
            <a:stretch>
              <a:fillRect l="0" t="0" r="0" b="0"/>
            </a:stretch>
          </a:blipFill>
        </p:spPr>
      </p:sp>
      <p:sp>
        <p:nvSpPr>
          <p:cNvPr name="Freeform 14" id="14"/>
          <p:cNvSpPr/>
          <p:nvPr/>
        </p:nvSpPr>
        <p:spPr>
          <a:xfrm flipH="false" flipV="false" rot="0">
            <a:off x="1991153" y="4788390"/>
            <a:ext cx="6011813" cy="392817"/>
          </a:xfrm>
          <a:custGeom>
            <a:avLst/>
            <a:gdLst/>
            <a:ahLst/>
            <a:cxnLst/>
            <a:rect r="r" b="b" t="t" l="l"/>
            <a:pathLst>
              <a:path h="392817" w="6011813">
                <a:moveTo>
                  <a:pt x="0" y="0"/>
                </a:moveTo>
                <a:lnTo>
                  <a:pt x="6011814" y="0"/>
                </a:lnTo>
                <a:lnTo>
                  <a:pt x="6011814" y="392818"/>
                </a:lnTo>
                <a:lnTo>
                  <a:pt x="0" y="392818"/>
                </a:lnTo>
                <a:lnTo>
                  <a:pt x="0" y="0"/>
                </a:lnTo>
                <a:close/>
              </a:path>
            </a:pathLst>
          </a:custGeom>
          <a:blipFill>
            <a:blip r:embed="rId5"/>
            <a:stretch>
              <a:fillRect l="0" t="0" r="0" b="0"/>
            </a:stretch>
          </a:blipFill>
        </p:spPr>
      </p:sp>
      <p:sp>
        <p:nvSpPr>
          <p:cNvPr name="Freeform 15" id="15"/>
          <p:cNvSpPr/>
          <p:nvPr/>
        </p:nvSpPr>
        <p:spPr>
          <a:xfrm flipH="false" flipV="false" rot="0">
            <a:off x="2387637" y="6284355"/>
            <a:ext cx="5218846" cy="1541932"/>
          </a:xfrm>
          <a:custGeom>
            <a:avLst/>
            <a:gdLst/>
            <a:ahLst/>
            <a:cxnLst/>
            <a:rect r="r" b="b" t="t" l="l"/>
            <a:pathLst>
              <a:path h="1541932" w="5218846">
                <a:moveTo>
                  <a:pt x="0" y="0"/>
                </a:moveTo>
                <a:lnTo>
                  <a:pt x="5218846" y="0"/>
                </a:lnTo>
                <a:lnTo>
                  <a:pt x="5218846" y="1541931"/>
                </a:lnTo>
                <a:lnTo>
                  <a:pt x="0" y="1541931"/>
                </a:lnTo>
                <a:lnTo>
                  <a:pt x="0" y="0"/>
                </a:lnTo>
                <a:close/>
              </a:path>
            </a:pathLst>
          </a:custGeom>
          <a:blipFill>
            <a:blip r:embed="rId6"/>
            <a:stretch>
              <a:fillRect l="0" t="0" r="0" b="0"/>
            </a:stretch>
          </a:blipFill>
        </p:spPr>
      </p:sp>
      <p:sp>
        <p:nvSpPr>
          <p:cNvPr name="TextBox 16" id="16"/>
          <p:cNvSpPr txBox="true"/>
          <p:nvPr/>
        </p:nvSpPr>
        <p:spPr>
          <a:xfrm rot="0">
            <a:off x="9054139" y="2441888"/>
            <a:ext cx="5260448"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Libary</a:t>
            </a:r>
          </a:p>
        </p:txBody>
      </p:sp>
      <p:sp>
        <p:nvSpPr>
          <p:cNvPr name="TextBox 17" id="17"/>
          <p:cNvSpPr txBox="true"/>
          <p:nvPr/>
        </p:nvSpPr>
        <p:spPr>
          <a:xfrm rot="0">
            <a:off x="9054139" y="4411200"/>
            <a:ext cx="7112472" cy="377190"/>
          </a:xfrm>
          <a:prstGeom prst="rect">
            <a:avLst/>
          </a:prstGeom>
        </p:spPr>
        <p:txBody>
          <a:bodyPr anchor="t" rtlCol="false" tIns="0" lIns="0" bIns="0" rIns="0">
            <a:spAutoFit/>
          </a:bodyPr>
          <a:lstStyle/>
          <a:p>
            <a:pPr algn="just">
              <a:lnSpc>
                <a:spcPts val="2970"/>
              </a:lnSpc>
            </a:pPr>
            <a:r>
              <a:rPr lang="en-US" b="true" sz="2700" spc="86">
                <a:solidFill>
                  <a:srgbClr val="000000"/>
                </a:solidFill>
                <a:latin typeface="Open Sauce Medium"/>
                <a:ea typeface="Open Sauce Medium"/>
                <a:cs typeface="Open Sauce Medium"/>
                <a:sym typeface="Open Sauce Medium"/>
              </a:rPr>
              <a:t>Install the libary in conda prompt/ cmd</a:t>
            </a:r>
          </a:p>
        </p:txBody>
      </p:sp>
      <p:sp>
        <p:nvSpPr>
          <p:cNvPr name="TextBox 18" id="18"/>
          <p:cNvSpPr txBox="true"/>
          <p:nvPr/>
        </p:nvSpPr>
        <p:spPr>
          <a:xfrm rot="0">
            <a:off x="9144000" y="3058638"/>
            <a:ext cx="7022611" cy="504444"/>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A Python library is a collection of modules and functions that provides pre-written, reusable code for a specific set of tasks.</a:t>
            </a:r>
          </a:p>
        </p:txBody>
      </p:sp>
      <p:sp>
        <p:nvSpPr>
          <p:cNvPr name="TextBox 19" id="19"/>
          <p:cNvSpPr txBox="true"/>
          <p:nvPr/>
        </p:nvSpPr>
        <p:spPr>
          <a:xfrm rot="0">
            <a:off x="9144000" y="5105400"/>
            <a:ext cx="6986316" cy="247269"/>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Remember to check if you are in the correct environment</a:t>
            </a:r>
          </a:p>
        </p:txBody>
      </p:sp>
      <p:sp>
        <p:nvSpPr>
          <p:cNvPr name="TextBox 20" id="20"/>
          <p:cNvSpPr txBox="true"/>
          <p:nvPr/>
        </p:nvSpPr>
        <p:spPr>
          <a:xfrm rot="0">
            <a:off x="9054139" y="6355762"/>
            <a:ext cx="6749135"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Import numpy in your code</a:t>
            </a:r>
          </a:p>
        </p:txBody>
      </p:sp>
      <p:sp>
        <p:nvSpPr>
          <p:cNvPr name="TextBox 21" id="21"/>
          <p:cNvSpPr txBox="true"/>
          <p:nvPr/>
        </p:nvSpPr>
        <p:spPr>
          <a:xfrm rot="0">
            <a:off x="9144000" y="7017220"/>
            <a:ext cx="7022611" cy="247269"/>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Thoughout the workbook anytime you want to call numpy call np.&lt;function name&gt;</a:t>
            </a:r>
          </a:p>
        </p:txBody>
      </p:sp>
      <p:sp>
        <p:nvSpPr>
          <p:cNvPr name="TextBox 22" id="22"/>
          <p:cNvSpPr txBox="true"/>
          <p:nvPr/>
        </p:nvSpPr>
        <p:spPr>
          <a:xfrm rot="0">
            <a:off x="2432932" y="1614793"/>
            <a:ext cx="13834665" cy="714375"/>
          </a:xfrm>
          <a:prstGeom prst="rect">
            <a:avLst/>
          </a:prstGeom>
        </p:spPr>
        <p:txBody>
          <a:bodyPr anchor="t" rtlCol="false" tIns="0" lIns="0" bIns="0" rIns="0">
            <a:spAutoFit/>
          </a:bodyPr>
          <a:lstStyle/>
          <a:p>
            <a:pPr algn="ctr">
              <a:lnSpc>
                <a:spcPts val="5760"/>
              </a:lnSpc>
            </a:pPr>
            <a:r>
              <a:rPr lang="en-US" sz="4800">
                <a:solidFill>
                  <a:srgbClr val="000000"/>
                </a:solidFill>
                <a:latin typeface="Open Sauce"/>
                <a:ea typeface="Open Sauce"/>
                <a:cs typeface="Open Sauce"/>
                <a:sym typeface="Open Sauce"/>
              </a:rPr>
              <a:t>Functions from libaries</a:t>
            </a:r>
          </a:p>
        </p:txBody>
      </p:sp>
      <p:sp>
        <p:nvSpPr>
          <p:cNvPr name="Freeform 23" id="23"/>
          <p:cNvSpPr/>
          <p:nvPr/>
        </p:nvSpPr>
        <p:spPr>
          <a:xfrm flipH="false" flipV="false" rot="0">
            <a:off x="-341853" y="-684110"/>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7">
              <a:alphaModFix amt="37000"/>
            </a:blip>
            <a:stretch>
              <a:fillRect l="0" t="0" r="0" b="0"/>
            </a:stretch>
          </a:blipFill>
        </p:spPr>
      </p:sp>
    </p:spTree>
  </p:cSld>
  <p:clrMapOvr>
    <a:masterClrMapping/>
  </p:clrMapOvr>
</p:sld>
</file>

<file path=ppt/slides/slide76.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8100000">
            <a:off x="-5281063" y="-2431920"/>
            <a:ext cx="16893429" cy="10074627"/>
          </a:xfrm>
          <a:custGeom>
            <a:avLst/>
            <a:gdLst/>
            <a:ahLst/>
            <a:cxnLst/>
            <a:rect r="r" b="b" t="t" l="l"/>
            <a:pathLst>
              <a:path h="10074627" w="16893429">
                <a:moveTo>
                  <a:pt x="0" y="0"/>
                </a:moveTo>
                <a:lnTo>
                  <a:pt x="16893430" y="0"/>
                </a:lnTo>
                <a:lnTo>
                  <a:pt x="16893430" y="10074627"/>
                </a:lnTo>
                <a:lnTo>
                  <a:pt x="0" y="100746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66398" y="1333975"/>
            <a:ext cx="15433919" cy="7619050"/>
            <a:chOff x="0" y="0"/>
            <a:chExt cx="4064900" cy="2006663"/>
          </a:xfrm>
        </p:grpSpPr>
        <p:sp>
          <p:nvSpPr>
            <p:cNvPr name="Freeform 4" id="4"/>
            <p:cNvSpPr/>
            <p:nvPr/>
          </p:nvSpPr>
          <p:spPr>
            <a:xfrm flipH="false" flipV="false" rot="0">
              <a:off x="0" y="0"/>
              <a:ext cx="4064900" cy="2006663"/>
            </a:xfrm>
            <a:custGeom>
              <a:avLst/>
              <a:gdLst/>
              <a:ahLst/>
              <a:cxnLst/>
              <a:rect r="r" b="b" t="t" l="l"/>
              <a:pathLst>
                <a:path h="2006663" w="4064900">
                  <a:moveTo>
                    <a:pt x="0" y="0"/>
                  </a:moveTo>
                  <a:lnTo>
                    <a:pt x="4064900" y="0"/>
                  </a:lnTo>
                  <a:lnTo>
                    <a:pt x="4064900" y="2006663"/>
                  </a:lnTo>
                  <a:lnTo>
                    <a:pt x="0" y="200666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64900" cy="2035238"/>
            </a:xfrm>
            <a:prstGeom prst="rect">
              <a:avLst/>
            </a:prstGeom>
          </p:spPr>
          <p:txBody>
            <a:bodyPr anchor="ctr" rtlCol="false" tIns="50800" lIns="50800" bIns="50800" rIns="50800"/>
            <a:lstStyle/>
            <a:p>
              <a:pPr algn="ctr">
                <a:lnSpc>
                  <a:spcPts val="1869"/>
                </a:lnSpc>
              </a:pPr>
            </a:p>
          </p:txBody>
        </p:sp>
      </p:grpSp>
      <p:sp>
        <p:nvSpPr>
          <p:cNvPr name="TextBox 6" id="6"/>
          <p:cNvSpPr txBox="true"/>
          <p:nvPr/>
        </p:nvSpPr>
        <p:spPr>
          <a:xfrm rot="0">
            <a:off x="2226667" y="2066527"/>
            <a:ext cx="13834665" cy="2009775"/>
          </a:xfrm>
          <a:prstGeom prst="rect">
            <a:avLst/>
          </a:prstGeom>
        </p:spPr>
        <p:txBody>
          <a:bodyPr anchor="t" rtlCol="false" tIns="0" lIns="0" bIns="0" rIns="0">
            <a:spAutoFit/>
          </a:bodyPr>
          <a:lstStyle/>
          <a:p>
            <a:pPr algn="ctr">
              <a:lnSpc>
                <a:spcPts val="7920"/>
              </a:lnSpc>
            </a:pPr>
            <a:r>
              <a:rPr lang="en-US" sz="6600">
                <a:solidFill>
                  <a:srgbClr val="000000"/>
                </a:solidFill>
                <a:latin typeface="Open Sauce"/>
                <a:ea typeface="Open Sauce"/>
                <a:cs typeface="Open Sauce"/>
                <a:sym typeface="Open Sauce"/>
              </a:rPr>
              <a:t>Use Numpy to take the square root of 25 </a:t>
            </a:r>
          </a:p>
        </p:txBody>
      </p:sp>
      <p:sp>
        <p:nvSpPr>
          <p:cNvPr name="TextBox 7" id="7"/>
          <p:cNvSpPr txBox="true"/>
          <p:nvPr/>
        </p:nvSpPr>
        <p:spPr>
          <a:xfrm rot="0">
            <a:off x="4598526" y="4943368"/>
            <a:ext cx="9090948" cy="9372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Hint: Python is logical and the np.&lt;function&gt; is named logically </a:t>
            </a:r>
          </a:p>
        </p:txBody>
      </p:sp>
      <p:sp>
        <p:nvSpPr>
          <p:cNvPr name="TextBox 8" id="8"/>
          <p:cNvSpPr txBox="true"/>
          <p:nvPr/>
        </p:nvSpPr>
        <p:spPr>
          <a:xfrm rot="0">
            <a:off x="6218208" y="6747403"/>
            <a:ext cx="6130299" cy="9372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Whats the benefit over the function you made?</a:t>
            </a:r>
          </a:p>
        </p:txBody>
      </p:sp>
      <p:sp>
        <p:nvSpPr>
          <p:cNvPr name="Freeform 9" id="9"/>
          <p:cNvSpPr/>
          <p:nvPr/>
        </p:nvSpPr>
        <p:spPr>
          <a:xfrm flipH="false" flipV="false" rot="0">
            <a:off x="14484008" y="-541827"/>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4">
              <a:alphaModFix amt="37000"/>
            </a:blip>
            <a:stretch>
              <a:fillRect l="0" t="0" r="0" b="0"/>
            </a:stretch>
          </a:blipFill>
        </p:spPr>
      </p:sp>
    </p:spTree>
  </p:cSld>
  <p:clrMapOvr>
    <a:masterClrMapping/>
  </p:clrMapOvr>
</p:sld>
</file>

<file path=ppt/slides/slide77.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5015114">
            <a:off x="10319389" y="2343404"/>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427040" y="1072210"/>
            <a:ext cx="15433919" cy="7619050"/>
            <a:chOff x="0" y="0"/>
            <a:chExt cx="4064900" cy="2006663"/>
          </a:xfrm>
        </p:grpSpPr>
        <p:sp>
          <p:nvSpPr>
            <p:cNvPr name="Freeform 4" id="4"/>
            <p:cNvSpPr/>
            <p:nvPr/>
          </p:nvSpPr>
          <p:spPr>
            <a:xfrm flipH="false" flipV="false" rot="0">
              <a:off x="0" y="0"/>
              <a:ext cx="4064900" cy="2006663"/>
            </a:xfrm>
            <a:custGeom>
              <a:avLst/>
              <a:gdLst/>
              <a:ahLst/>
              <a:cxnLst/>
              <a:rect r="r" b="b" t="t" l="l"/>
              <a:pathLst>
                <a:path h="2006663" w="4064900">
                  <a:moveTo>
                    <a:pt x="0" y="0"/>
                  </a:moveTo>
                  <a:lnTo>
                    <a:pt x="4064900" y="0"/>
                  </a:lnTo>
                  <a:lnTo>
                    <a:pt x="4064900" y="2006663"/>
                  </a:lnTo>
                  <a:lnTo>
                    <a:pt x="0" y="200666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64900" cy="2035238"/>
            </a:xfrm>
            <a:prstGeom prst="rect">
              <a:avLst/>
            </a:prstGeom>
          </p:spPr>
          <p:txBody>
            <a:bodyPr anchor="ctr" rtlCol="false" tIns="50800" lIns="50800" bIns="50800" rIns="50800"/>
            <a:lstStyle/>
            <a:p>
              <a:pPr algn="ctr">
                <a:lnSpc>
                  <a:spcPts val="1869"/>
                </a:lnSpc>
              </a:pPr>
            </a:p>
          </p:txBody>
        </p:sp>
      </p:grpSp>
      <p:sp>
        <p:nvSpPr>
          <p:cNvPr name="AutoShape 6" id="6"/>
          <p:cNvSpPr/>
          <p:nvPr/>
        </p:nvSpPr>
        <p:spPr>
          <a:xfrm flipV="true">
            <a:off x="8654651" y="2652442"/>
            <a:ext cx="0" cy="5211720"/>
          </a:xfrm>
          <a:prstGeom prst="line">
            <a:avLst/>
          </a:prstGeom>
          <a:ln cap="flat" w="38100">
            <a:solidFill>
              <a:srgbClr val="192253"/>
            </a:solidFill>
            <a:prstDash val="solid"/>
            <a:headEnd type="none" len="sm" w="sm"/>
            <a:tailEnd type="none" len="sm" w="sm"/>
          </a:ln>
        </p:spPr>
      </p:sp>
      <p:grpSp>
        <p:nvGrpSpPr>
          <p:cNvPr name="Group 7" id="7"/>
          <p:cNvGrpSpPr>
            <a:grpSpLocks noChangeAspect="true"/>
          </p:cNvGrpSpPr>
          <p:nvPr/>
        </p:nvGrpSpPr>
        <p:grpSpPr>
          <a:xfrm rot="0">
            <a:off x="8469692" y="2467483"/>
            <a:ext cx="369918" cy="369918"/>
            <a:chOff x="6705600" y="1371600"/>
            <a:chExt cx="10972800" cy="10972800"/>
          </a:xfrm>
        </p:grpSpPr>
        <p:sp>
          <p:nvSpPr>
            <p:cNvPr name="Freeform 8" id="8"/>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9" id="9"/>
          <p:cNvGrpSpPr>
            <a:grpSpLocks noChangeAspect="true"/>
          </p:cNvGrpSpPr>
          <p:nvPr/>
        </p:nvGrpSpPr>
        <p:grpSpPr>
          <a:xfrm rot="0">
            <a:off x="8488742" y="4104085"/>
            <a:ext cx="369918" cy="369918"/>
            <a:chOff x="6705600" y="1371600"/>
            <a:chExt cx="10972800" cy="10972800"/>
          </a:xfrm>
        </p:grpSpPr>
        <p:sp>
          <p:nvSpPr>
            <p:cNvPr name="Freeform 10" id="10"/>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11" id="11"/>
          <p:cNvGrpSpPr>
            <a:grpSpLocks noChangeAspect="true"/>
          </p:cNvGrpSpPr>
          <p:nvPr/>
        </p:nvGrpSpPr>
        <p:grpSpPr>
          <a:xfrm rot="0">
            <a:off x="8488742" y="6151753"/>
            <a:ext cx="369918" cy="369918"/>
            <a:chOff x="6705600" y="1371600"/>
            <a:chExt cx="10972800" cy="10972800"/>
          </a:xfrm>
        </p:grpSpPr>
        <p:sp>
          <p:nvSpPr>
            <p:cNvPr name="Freeform 12" id="12"/>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sp>
        <p:nvSpPr>
          <p:cNvPr name="Freeform 13" id="13"/>
          <p:cNvSpPr/>
          <p:nvPr/>
        </p:nvSpPr>
        <p:spPr>
          <a:xfrm flipH="false" flipV="false" rot="0">
            <a:off x="2266485" y="3894629"/>
            <a:ext cx="4513711" cy="1845020"/>
          </a:xfrm>
          <a:custGeom>
            <a:avLst/>
            <a:gdLst/>
            <a:ahLst/>
            <a:cxnLst/>
            <a:rect r="r" b="b" t="t" l="l"/>
            <a:pathLst>
              <a:path h="1845020" w="4513711">
                <a:moveTo>
                  <a:pt x="0" y="0"/>
                </a:moveTo>
                <a:lnTo>
                  <a:pt x="4513711" y="0"/>
                </a:lnTo>
                <a:lnTo>
                  <a:pt x="4513711" y="1845020"/>
                </a:lnTo>
                <a:lnTo>
                  <a:pt x="0" y="1845020"/>
                </a:lnTo>
                <a:lnTo>
                  <a:pt x="0" y="0"/>
                </a:lnTo>
                <a:close/>
              </a:path>
            </a:pathLst>
          </a:custGeom>
          <a:blipFill>
            <a:blip r:embed="rId4"/>
            <a:stretch>
              <a:fillRect l="0" t="0" r="0" b="0"/>
            </a:stretch>
          </a:blipFill>
        </p:spPr>
      </p:sp>
      <p:sp>
        <p:nvSpPr>
          <p:cNvPr name="TextBox 14" id="14"/>
          <p:cNvSpPr txBox="true"/>
          <p:nvPr/>
        </p:nvSpPr>
        <p:spPr>
          <a:xfrm rot="0">
            <a:off x="9054139" y="2159221"/>
            <a:ext cx="7669111" cy="1208405"/>
          </a:xfrm>
          <a:prstGeom prst="rect">
            <a:avLst/>
          </a:prstGeom>
        </p:spPr>
        <p:txBody>
          <a:bodyPr anchor="t" rtlCol="false" tIns="0" lIns="0" bIns="0" rIns="0">
            <a:spAutoFit/>
          </a:bodyPr>
          <a:lstStyle/>
          <a:p>
            <a:pPr algn="just">
              <a:lnSpc>
                <a:spcPts val="3190"/>
              </a:lnSpc>
            </a:pPr>
            <a:r>
              <a:rPr lang="en-US" b="true" sz="2900" spc="92">
                <a:solidFill>
                  <a:srgbClr val="000000"/>
                </a:solidFill>
                <a:latin typeface="Open Sauce Medium"/>
                <a:ea typeface="Open Sauce Medium"/>
                <a:cs typeface="Open Sauce Medium"/>
                <a:sym typeface="Open Sauce Medium"/>
              </a:rPr>
              <a:t>What are the advantages of using the numpy libary over writing your own functions?</a:t>
            </a:r>
          </a:p>
        </p:txBody>
      </p:sp>
      <p:sp>
        <p:nvSpPr>
          <p:cNvPr name="TextBox 15" id="15"/>
          <p:cNvSpPr txBox="true"/>
          <p:nvPr/>
        </p:nvSpPr>
        <p:spPr>
          <a:xfrm rot="0">
            <a:off x="9054139" y="6142205"/>
            <a:ext cx="7368028" cy="13944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Can you use hex and id inbuilt python functions to display the memory address?</a:t>
            </a:r>
          </a:p>
        </p:txBody>
      </p:sp>
      <p:sp>
        <p:nvSpPr>
          <p:cNvPr name="TextBox 16" id="16"/>
          <p:cNvSpPr txBox="true"/>
          <p:nvPr/>
        </p:nvSpPr>
        <p:spPr>
          <a:xfrm rot="0">
            <a:off x="9144000" y="7793840"/>
            <a:ext cx="6986316" cy="247269"/>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Answer - print(hex(id(np.sqrt)))</a:t>
            </a:r>
          </a:p>
        </p:txBody>
      </p:sp>
      <p:sp>
        <p:nvSpPr>
          <p:cNvPr name="TextBox 17" id="17"/>
          <p:cNvSpPr txBox="true"/>
          <p:nvPr/>
        </p:nvSpPr>
        <p:spPr>
          <a:xfrm rot="0">
            <a:off x="9054139" y="4065698"/>
            <a:ext cx="7368028" cy="408305"/>
          </a:xfrm>
          <a:prstGeom prst="rect">
            <a:avLst/>
          </a:prstGeom>
        </p:spPr>
        <p:txBody>
          <a:bodyPr anchor="t" rtlCol="false" tIns="0" lIns="0" bIns="0" rIns="0">
            <a:spAutoFit/>
          </a:bodyPr>
          <a:lstStyle/>
          <a:p>
            <a:pPr algn="just">
              <a:lnSpc>
                <a:spcPts val="3190"/>
              </a:lnSpc>
            </a:pPr>
            <a:r>
              <a:rPr lang="en-US" sz="2900" spc="92">
                <a:solidFill>
                  <a:srgbClr val="000000"/>
                </a:solidFill>
                <a:latin typeface="Open Sauce"/>
                <a:ea typeface="Open Sauce"/>
                <a:cs typeface="Open Sauce"/>
                <a:sym typeface="Open Sauce"/>
              </a:rPr>
              <a:t>Whats the output from print(sqrt)?</a:t>
            </a:r>
          </a:p>
        </p:txBody>
      </p:sp>
      <p:sp>
        <p:nvSpPr>
          <p:cNvPr name="TextBox 18" id="18"/>
          <p:cNvSpPr txBox="true"/>
          <p:nvPr/>
        </p:nvSpPr>
        <p:spPr>
          <a:xfrm rot="0">
            <a:off x="9144000" y="4731506"/>
            <a:ext cx="7022611" cy="1015492"/>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Ufuncs are functions that operate element-wise on NumPy arrays, enabling efficient array processing.</a:t>
            </a:r>
          </a:p>
          <a:p>
            <a:pPr algn="l">
              <a:lnSpc>
                <a:spcPts val="2058"/>
              </a:lnSpc>
            </a:pPr>
          </a:p>
          <a:p>
            <a:pPr algn="l">
              <a:lnSpc>
                <a:spcPts val="1959"/>
              </a:lnSpc>
            </a:pPr>
            <a:r>
              <a:rPr lang="en-US" sz="1399">
                <a:solidFill>
                  <a:srgbClr val="000000"/>
                </a:solidFill>
                <a:latin typeface="Open Sauce"/>
                <a:ea typeface="Open Sauce"/>
                <a:cs typeface="Open Sauce"/>
                <a:sym typeface="Open Sauce"/>
              </a:rPr>
              <a:t>More info - https://numpy.org/doc/stable/reference/ufuncs.html</a:t>
            </a:r>
          </a:p>
        </p:txBody>
      </p:sp>
      <p:sp>
        <p:nvSpPr>
          <p:cNvPr name="Freeform 19" id="19"/>
          <p:cNvSpPr/>
          <p:nvPr/>
        </p:nvSpPr>
        <p:spPr>
          <a:xfrm flipH="false" flipV="false" rot="0">
            <a:off x="-341853" y="-684110"/>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5">
              <a:alphaModFix amt="37000"/>
            </a:blip>
            <a:stretch>
              <a:fillRect l="0" t="0" r="0" b="0"/>
            </a:stretch>
          </a:blipFill>
        </p:spPr>
      </p:sp>
    </p:spTree>
  </p:cSld>
  <p:clrMapOvr>
    <a:masterClrMapping/>
  </p:clrMapOvr>
</p:sld>
</file>

<file path=ppt/slides/slide78.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8100000">
            <a:off x="-5281063" y="-2431920"/>
            <a:ext cx="16893429" cy="10074627"/>
          </a:xfrm>
          <a:custGeom>
            <a:avLst/>
            <a:gdLst/>
            <a:ahLst/>
            <a:cxnLst/>
            <a:rect r="r" b="b" t="t" l="l"/>
            <a:pathLst>
              <a:path h="10074627" w="16893429">
                <a:moveTo>
                  <a:pt x="0" y="0"/>
                </a:moveTo>
                <a:lnTo>
                  <a:pt x="16893430" y="0"/>
                </a:lnTo>
                <a:lnTo>
                  <a:pt x="16893430" y="10074627"/>
                </a:lnTo>
                <a:lnTo>
                  <a:pt x="0" y="100746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66398" y="1333975"/>
            <a:ext cx="15433919" cy="7619050"/>
            <a:chOff x="0" y="0"/>
            <a:chExt cx="4064900" cy="2006663"/>
          </a:xfrm>
        </p:grpSpPr>
        <p:sp>
          <p:nvSpPr>
            <p:cNvPr name="Freeform 4" id="4"/>
            <p:cNvSpPr/>
            <p:nvPr/>
          </p:nvSpPr>
          <p:spPr>
            <a:xfrm flipH="false" flipV="false" rot="0">
              <a:off x="0" y="0"/>
              <a:ext cx="4064900" cy="2006663"/>
            </a:xfrm>
            <a:custGeom>
              <a:avLst/>
              <a:gdLst/>
              <a:ahLst/>
              <a:cxnLst/>
              <a:rect r="r" b="b" t="t" l="l"/>
              <a:pathLst>
                <a:path h="2006663" w="4064900">
                  <a:moveTo>
                    <a:pt x="0" y="0"/>
                  </a:moveTo>
                  <a:lnTo>
                    <a:pt x="4064900" y="0"/>
                  </a:lnTo>
                  <a:lnTo>
                    <a:pt x="4064900" y="2006663"/>
                  </a:lnTo>
                  <a:lnTo>
                    <a:pt x="0" y="200666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64900" cy="2035238"/>
            </a:xfrm>
            <a:prstGeom prst="rect">
              <a:avLst/>
            </a:prstGeom>
          </p:spPr>
          <p:txBody>
            <a:bodyPr anchor="ctr" rtlCol="false" tIns="50800" lIns="50800" bIns="50800" rIns="50800"/>
            <a:lstStyle/>
            <a:p>
              <a:pPr algn="ctr">
                <a:lnSpc>
                  <a:spcPts val="1869"/>
                </a:lnSpc>
              </a:pPr>
            </a:p>
          </p:txBody>
        </p:sp>
      </p:grpSp>
      <p:sp>
        <p:nvSpPr>
          <p:cNvPr name="TextBox 6" id="6"/>
          <p:cNvSpPr txBox="true"/>
          <p:nvPr/>
        </p:nvSpPr>
        <p:spPr>
          <a:xfrm rot="0">
            <a:off x="2226667" y="1542138"/>
            <a:ext cx="13834665" cy="4352925"/>
          </a:xfrm>
          <a:prstGeom prst="rect">
            <a:avLst/>
          </a:prstGeom>
        </p:spPr>
        <p:txBody>
          <a:bodyPr anchor="t" rtlCol="false" tIns="0" lIns="0" bIns="0" rIns="0">
            <a:spAutoFit/>
          </a:bodyPr>
          <a:lstStyle/>
          <a:p>
            <a:pPr algn="ctr">
              <a:lnSpc>
                <a:spcPts val="6600"/>
              </a:lnSpc>
            </a:pPr>
            <a:r>
              <a:rPr lang="en-US" sz="5500">
                <a:solidFill>
                  <a:srgbClr val="000000"/>
                </a:solidFill>
                <a:latin typeface="Open Sauce"/>
                <a:ea typeface="Open Sauce"/>
                <a:cs typeface="Open Sauce"/>
                <a:sym typeface="Open Sauce"/>
              </a:rPr>
              <a:t>Can you create a function which takes in molecule_name, carbon_atoms, aromatic and outputs information about this molecule? </a:t>
            </a:r>
          </a:p>
          <a:p>
            <a:pPr algn="ctr">
              <a:lnSpc>
                <a:spcPts val="7920"/>
              </a:lnSpc>
            </a:pPr>
            <a:r>
              <a:rPr lang="en-US" sz="6600">
                <a:solidFill>
                  <a:srgbClr val="000000"/>
                </a:solidFill>
                <a:latin typeface="Open Sauce"/>
                <a:ea typeface="Open Sauce"/>
                <a:cs typeface="Open Sauce"/>
                <a:sym typeface="Open Sauce"/>
              </a:rPr>
              <a:t> </a:t>
            </a:r>
          </a:p>
        </p:txBody>
      </p:sp>
      <p:sp>
        <p:nvSpPr>
          <p:cNvPr name="TextBox 7" id="7"/>
          <p:cNvSpPr txBox="true"/>
          <p:nvPr/>
        </p:nvSpPr>
        <p:spPr>
          <a:xfrm rot="0">
            <a:off x="5492084" y="6159765"/>
            <a:ext cx="7582547" cy="13944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How could this be commented?</a:t>
            </a:r>
          </a:p>
          <a:p>
            <a:pPr algn="just">
              <a:lnSpc>
                <a:spcPts val="3630"/>
              </a:lnSpc>
            </a:pPr>
          </a:p>
          <a:p>
            <a:pPr algn="just">
              <a:lnSpc>
                <a:spcPts val="3630"/>
              </a:lnSpc>
            </a:pPr>
            <a:r>
              <a:rPr lang="en-US" b="true" sz="3300" spc="105">
                <a:solidFill>
                  <a:srgbClr val="000000"/>
                </a:solidFill>
                <a:latin typeface="Open Sauce Medium"/>
                <a:ea typeface="Open Sauce Medium"/>
                <a:cs typeface="Open Sauce Medium"/>
                <a:sym typeface="Open Sauce Medium"/>
              </a:rPr>
              <a:t>Can we pre-assign inputs?</a:t>
            </a:r>
          </a:p>
        </p:txBody>
      </p:sp>
      <p:sp>
        <p:nvSpPr>
          <p:cNvPr name="Freeform 8" id="8"/>
          <p:cNvSpPr/>
          <p:nvPr/>
        </p:nvSpPr>
        <p:spPr>
          <a:xfrm flipH="false" flipV="false" rot="0">
            <a:off x="14498236" y="-570284"/>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4">
              <a:alphaModFix amt="37000"/>
            </a:blip>
            <a:stretch>
              <a:fillRect l="0" t="0" r="0" b="0"/>
            </a:stretch>
          </a:blipFill>
        </p:spPr>
      </p:sp>
    </p:spTree>
  </p:cSld>
  <p:clrMapOvr>
    <a:masterClrMapping/>
  </p:clrMapOvr>
</p:sld>
</file>

<file path=ppt/slides/slide79.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2923865">
            <a:off x="-2984685" y="1184351"/>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5400000">
            <a:off x="8046708" y="385825"/>
            <a:ext cx="11245538" cy="9778557"/>
            <a:chOff x="0" y="0"/>
            <a:chExt cx="2961788" cy="2575423"/>
          </a:xfrm>
        </p:grpSpPr>
        <p:sp>
          <p:nvSpPr>
            <p:cNvPr name="Freeform 4" id="4"/>
            <p:cNvSpPr/>
            <p:nvPr/>
          </p:nvSpPr>
          <p:spPr>
            <a:xfrm flipH="false" flipV="false" rot="0">
              <a:off x="0" y="0"/>
              <a:ext cx="2961788" cy="2575422"/>
            </a:xfrm>
            <a:custGeom>
              <a:avLst/>
              <a:gdLst/>
              <a:ahLst/>
              <a:cxnLst/>
              <a:rect r="r" b="b" t="t" l="l"/>
              <a:pathLst>
                <a:path h="2575422" w="2961788">
                  <a:moveTo>
                    <a:pt x="0" y="0"/>
                  </a:moveTo>
                  <a:lnTo>
                    <a:pt x="2961788" y="0"/>
                  </a:lnTo>
                  <a:lnTo>
                    <a:pt x="2961788" y="2575422"/>
                  </a:lnTo>
                  <a:lnTo>
                    <a:pt x="0" y="2575422"/>
                  </a:lnTo>
                  <a:close/>
                </a:path>
              </a:pathLst>
            </a:custGeom>
            <a:solidFill>
              <a:srgbClr val="192253"/>
            </a:solidFill>
          </p:spPr>
        </p:sp>
        <p:sp>
          <p:nvSpPr>
            <p:cNvPr name="TextBox 5" id="5"/>
            <p:cNvSpPr txBox="true"/>
            <p:nvPr/>
          </p:nvSpPr>
          <p:spPr>
            <a:xfrm>
              <a:off x="0" y="-28575"/>
              <a:ext cx="2961788" cy="2603998"/>
            </a:xfrm>
            <a:prstGeom prst="rect">
              <a:avLst/>
            </a:prstGeom>
          </p:spPr>
          <p:txBody>
            <a:bodyPr anchor="ctr" rtlCol="false" tIns="50800" lIns="50800" bIns="50800" rIns="50800"/>
            <a:lstStyle/>
            <a:p>
              <a:pPr algn="ctr">
                <a:lnSpc>
                  <a:spcPts val="1869"/>
                </a:lnSpc>
              </a:pPr>
            </a:p>
          </p:txBody>
        </p:sp>
      </p:grpSp>
      <p:sp>
        <p:nvSpPr>
          <p:cNvPr name="AutoShape 6" id="6"/>
          <p:cNvSpPr/>
          <p:nvPr/>
        </p:nvSpPr>
        <p:spPr>
          <a:xfrm flipH="true" flipV="true">
            <a:off x="-488525" y="8289279"/>
            <a:ext cx="15156557" cy="0"/>
          </a:xfrm>
          <a:prstGeom prst="line">
            <a:avLst/>
          </a:prstGeom>
          <a:ln cap="flat" w="76200">
            <a:solidFill>
              <a:srgbClr val="C23A97"/>
            </a:solidFill>
            <a:prstDash val="solid"/>
            <a:headEnd type="none" len="sm" w="sm"/>
            <a:tailEnd type="none" len="sm" w="sm"/>
          </a:ln>
        </p:spPr>
      </p:sp>
      <p:sp>
        <p:nvSpPr>
          <p:cNvPr name="AutoShape 7" id="7"/>
          <p:cNvSpPr/>
          <p:nvPr/>
        </p:nvSpPr>
        <p:spPr>
          <a:xfrm flipH="true">
            <a:off x="10559239" y="2561194"/>
            <a:ext cx="8347436" cy="0"/>
          </a:xfrm>
          <a:prstGeom prst="line">
            <a:avLst/>
          </a:prstGeom>
          <a:ln cap="flat" w="76200">
            <a:solidFill>
              <a:srgbClr val="F5F5F5"/>
            </a:solidFill>
            <a:prstDash val="solid"/>
            <a:headEnd type="none" len="sm" w="sm"/>
            <a:tailEnd type="none" len="sm" w="sm"/>
          </a:ln>
        </p:spPr>
      </p:sp>
      <p:sp>
        <p:nvSpPr>
          <p:cNvPr name="TextBox 8" id="8"/>
          <p:cNvSpPr txBox="true"/>
          <p:nvPr/>
        </p:nvSpPr>
        <p:spPr>
          <a:xfrm rot="0">
            <a:off x="13669477" y="3709962"/>
            <a:ext cx="4407894" cy="1486535"/>
          </a:xfrm>
          <a:prstGeom prst="rect">
            <a:avLst/>
          </a:prstGeom>
        </p:spPr>
        <p:txBody>
          <a:bodyPr anchor="t" rtlCol="false" tIns="0" lIns="0" bIns="0" rIns="0">
            <a:spAutoFit/>
          </a:bodyPr>
          <a:lstStyle/>
          <a:p>
            <a:pPr algn="l">
              <a:lnSpc>
                <a:spcPts val="5830"/>
              </a:lnSpc>
            </a:pPr>
            <a:r>
              <a:rPr lang="en-US" sz="5300" spc="169" b="true">
                <a:solidFill>
                  <a:srgbClr val="FFFFFF"/>
                </a:solidFill>
                <a:latin typeface="Open Sauce Bold"/>
                <a:ea typeface="Open Sauce Bold"/>
                <a:cs typeface="Open Sauce Bold"/>
                <a:sym typeface="Open Sauce Bold"/>
              </a:rPr>
              <a:t>Python data model</a:t>
            </a:r>
          </a:p>
        </p:txBody>
      </p:sp>
      <p:sp>
        <p:nvSpPr>
          <p:cNvPr name="Freeform 9" id="9"/>
          <p:cNvSpPr/>
          <p:nvPr/>
        </p:nvSpPr>
        <p:spPr>
          <a:xfrm flipH="false" flipV="false" rot="0">
            <a:off x="14355953" y="-499142"/>
            <a:ext cx="4202802" cy="2362325"/>
          </a:xfrm>
          <a:custGeom>
            <a:avLst/>
            <a:gdLst/>
            <a:ahLst/>
            <a:cxnLst/>
            <a:rect r="r" b="b" t="t" l="l"/>
            <a:pathLst>
              <a:path h="2362325" w="4202802">
                <a:moveTo>
                  <a:pt x="0" y="0"/>
                </a:moveTo>
                <a:lnTo>
                  <a:pt x="4202803" y="0"/>
                </a:lnTo>
                <a:lnTo>
                  <a:pt x="4202803" y="2362325"/>
                </a:lnTo>
                <a:lnTo>
                  <a:pt x="0" y="2362325"/>
                </a:lnTo>
                <a:lnTo>
                  <a:pt x="0" y="0"/>
                </a:lnTo>
                <a:close/>
              </a:path>
            </a:pathLst>
          </a:custGeom>
          <a:blipFill>
            <a:blip r:embed="rId4">
              <a:alphaModFix amt="37000"/>
            </a:blip>
            <a:stretch>
              <a:fillRect l="0" t="0" r="0" b="0"/>
            </a:stretch>
          </a:blipFill>
        </p:spPr>
      </p:sp>
    </p:spTree>
  </p:cSld>
  <p:clrMapOvr>
    <a:masterClrMapping/>
  </p:clrMapOvr>
</p:sld>
</file>

<file path=ppt/slides/slide80.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5015114">
            <a:off x="9740863" y="2343404"/>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266567" y="1028700"/>
            <a:ext cx="15502154" cy="8665317"/>
            <a:chOff x="0" y="0"/>
            <a:chExt cx="4082872" cy="2282224"/>
          </a:xfrm>
        </p:grpSpPr>
        <p:sp>
          <p:nvSpPr>
            <p:cNvPr name="Freeform 4" id="4"/>
            <p:cNvSpPr/>
            <p:nvPr/>
          </p:nvSpPr>
          <p:spPr>
            <a:xfrm flipH="false" flipV="false" rot="0">
              <a:off x="0" y="0"/>
              <a:ext cx="4082872" cy="2282223"/>
            </a:xfrm>
            <a:custGeom>
              <a:avLst/>
              <a:gdLst/>
              <a:ahLst/>
              <a:cxnLst/>
              <a:rect r="r" b="b" t="t" l="l"/>
              <a:pathLst>
                <a:path h="2282223" w="4082872">
                  <a:moveTo>
                    <a:pt x="0" y="0"/>
                  </a:moveTo>
                  <a:lnTo>
                    <a:pt x="4082872" y="0"/>
                  </a:lnTo>
                  <a:lnTo>
                    <a:pt x="4082872" y="2282223"/>
                  </a:lnTo>
                  <a:lnTo>
                    <a:pt x="0" y="228222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82872" cy="2310799"/>
            </a:xfrm>
            <a:prstGeom prst="rect">
              <a:avLst/>
            </a:prstGeom>
          </p:spPr>
          <p:txBody>
            <a:bodyPr anchor="ctr" rtlCol="false" tIns="50800" lIns="50800" bIns="50800" rIns="50800"/>
            <a:lstStyle/>
            <a:p>
              <a:pPr algn="ctr">
                <a:lnSpc>
                  <a:spcPts val="1869"/>
                </a:lnSpc>
              </a:pPr>
            </a:p>
          </p:txBody>
        </p:sp>
      </p:grpSp>
      <p:sp>
        <p:nvSpPr>
          <p:cNvPr name="TextBox 6" id="6"/>
          <p:cNvSpPr txBox="true"/>
          <p:nvPr/>
        </p:nvSpPr>
        <p:spPr>
          <a:xfrm rot="0">
            <a:off x="4898315" y="1721235"/>
            <a:ext cx="8491369" cy="480060"/>
          </a:xfrm>
          <a:prstGeom prst="rect">
            <a:avLst/>
          </a:prstGeom>
        </p:spPr>
        <p:txBody>
          <a:bodyPr anchor="t" rtlCol="false" tIns="0" lIns="0" bIns="0" rIns="0">
            <a:spAutoFit/>
          </a:bodyPr>
          <a:lstStyle/>
          <a:p>
            <a:pPr algn="ctr">
              <a:lnSpc>
                <a:spcPts val="3630"/>
              </a:lnSpc>
            </a:pPr>
            <a:r>
              <a:rPr lang="en-US" b="true" sz="3300" spc="105">
                <a:solidFill>
                  <a:srgbClr val="000000"/>
                </a:solidFill>
                <a:latin typeface="Open Sauce Bold"/>
                <a:ea typeface="Open Sauce Bold"/>
                <a:cs typeface="Open Sauce Bold"/>
                <a:sym typeface="Open Sauce Bold"/>
              </a:rPr>
              <a:t>What have we been building towards?</a:t>
            </a:r>
          </a:p>
        </p:txBody>
      </p:sp>
      <p:grpSp>
        <p:nvGrpSpPr>
          <p:cNvPr name="Group 7" id="7"/>
          <p:cNvGrpSpPr/>
          <p:nvPr/>
        </p:nvGrpSpPr>
        <p:grpSpPr>
          <a:xfrm rot="0">
            <a:off x="1838796" y="4266849"/>
            <a:ext cx="14610409" cy="2840447"/>
            <a:chOff x="0" y="0"/>
            <a:chExt cx="19480545" cy="3787263"/>
          </a:xfrm>
        </p:grpSpPr>
        <p:sp>
          <p:nvSpPr>
            <p:cNvPr name="AutoShape 8" id="8"/>
            <p:cNvSpPr/>
            <p:nvPr/>
          </p:nvSpPr>
          <p:spPr>
            <a:xfrm flipV="true">
              <a:off x="1721320" y="262190"/>
              <a:ext cx="15286324" cy="48006"/>
            </a:xfrm>
            <a:prstGeom prst="line">
              <a:avLst/>
            </a:prstGeom>
            <a:ln cap="flat" w="50800">
              <a:solidFill>
                <a:srgbClr val="192253"/>
              </a:solidFill>
              <a:prstDash val="solid"/>
              <a:headEnd type="none" len="sm" w="sm"/>
              <a:tailEnd type="none" len="sm" w="sm"/>
            </a:ln>
          </p:spPr>
        </p:sp>
        <p:grpSp>
          <p:nvGrpSpPr>
            <p:cNvPr name="Group 9" id="9"/>
            <p:cNvGrpSpPr>
              <a:grpSpLocks noChangeAspect="true"/>
            </p:cNvGrpSpPr>
            <p:nvPr/>
          </p:nvGrpSpPr>
          <p:grpSpPr>
            <a:xfrm rot="5400000">
              <a:off x="17007643" y="0"/>
              <a:ext cx="522737" cy="522737"/>
              <a:chOff x="6705600" y="1371600"/>
              <a:chExt cx="10972800" cy="10972800"/>
            </a:xfrm>
          </p:grpSpPr>
          <p:sp>
            <p:nvSpPr>
              <p:cNvPr name="Freeform 10" id="10"/>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11" id="11"/>
            <p:cNvGrpSpPr>
              <a:grpSpLocks noChangeAspect="true"/>
            </p:cNvGrpSpPr>
            <p:nvPr/>
          </p:nvGrpSpPr>
          <p:grpSpPr>
            <a:xfrm rot="5400000">
              <a:off x="9572320" y="0"/>
              <a:ext cx="620391" cy="620391"/>
              <a:chOff x="6705600" y="1371600"/>
              <a:chExt cx="10972800" cy="10972800"/>
            </a:xfrm>
          </p:grpSpPr>
          <p:sp>
            <p:nvSpPr>
              <p:cNvPr name="Freeform 12" id="12"/>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13" id="13"/>
            <p:cNvGrpSpPr>
              <a:grpSpLocks noChangeAspect="true"/>
            </p:cNvGrpSpPr>
            <p:nvPr/>
          </p:nvGrpSpPr>
          <p:grpSpPr>
            <a:xfrm rot="5400000">
              <a:off x="1721320" y="48827"/>
              <a:ext cx="522737" cy="522737"/>
              <a:chOff x="6705600" y="1371600"/>
              <a:chExt cx="10972800" cy="10972800"/>
            </a:xfrm>
          </p:grpSpPr>
          <p:sp>
            <p:nvSpPr>
              <p:cNvPr name="Freeform 14" id="14"/>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sp>
          <p:nvSpPr>
            <p:cNvPr name="TextBox 15" id="15"/>
            <p:cNvSpPr txBox="true"/>
            <p:nvPr/>
          </p:nvSpPr>
          <p:spPr>
            <a:xfrm rot="0">
              <a:off x="8036688" y="1158702"/>
              <a:ext cx="5356646" cy="1256030"/>
            </a:xfrm>
            <a:prstGeom prst="rect">
              <a:avLst/>
            </a:prstGeom>
          </p:spPr>
          <p:txBody>
            <a:bodyPr anchor="t" rtlCol="false" tIns="0" lIns="0" bIns="0" rIns="0">
              <a:spAutoFit/>
            </a:bodyPr>
            <a:lstStyle/>
            <a:p>
              <a:pPr algn="l">
                <a:lnSpc>
                  <a:spcPts val="3630"/>
                </a:lnSpc>
              </a:pPr>
              <a:r>
                <a:rPr lang="en-US" sz="3300" spc="105" b="true">
                  <a:solidFill>
                    <a:srgbClr val="000000"/>
                  </a:solidFill>
                  <a:latin typeface="Open Sauce Bold"/>
                  <a:ea typeface="Open Sauce Bold"/>
                  <a:cs typeface="Open Sauce Bold"/>
                  <a:sym typeface="Open Sauce Bold"/>
                </a:rPr>
                <a:t>Python Object Model</a:t>
              </a:r>
            </a:p>
          </p:txBody>
        </p:sp>
        <p:sp>
          <p:nvSpPr>
            <p:cNvPr name="TextBox 16" id="16"/>
            <p:cNvSpPr txBox="true"/>
            <p:nvPr/>
          </p:nvSpPr>
          <p:spPr>
            <a:xfrm rot="0">
              <a:off x="0" y="3470271"/>
              <a:ext cx="6549308" cy="316992"/>
            </a:xfrm>
            <a:prstGeom prst="rect">
              <a:avLst/>
            </a:prstGeom>
          </p:spPr>
          <p:txBody>
            <a:bodyPr anchor="t" rtlCol="false" tIns="0" lIns="0" bIns="0" rIns="0">
              <a:spAutoFit/>
            </a:bodyPr>
            <a:lstStyle/>
            <a:p>
              <a:pPr algn="l">
                <a:lnSpc>
                  <a:spcPts val="2058"/>
                </a:lnSpc>
              </a:pPr>
            </a:p>
          </p:txBody>
        </p:sp>
        <p:sp>
          <p:nvSpPr>
            <p:cNvPr name="TextBox 17" id="17"/>
            <p:cNvSpPr txBox="true"/>
            <p:nvPr/>
          </p:nvSpPr>
          <p:spPr>
            <a:xfrm rot="0">
              <a:off x="0" y="1249041"/>
              <a:ext cx="6114810" cy="646430"/>
            </a:xfrm>
            <a:prstGeom prst="rect">
              <a:avLst/>
            </a:prstGeom>
          </p:spPr>
          <p:txBody>
            <a:bodyPr anchor="t" rtlCol="false" tIns="0" lIns="0" bIns="0" rIns="0">
              <a:spAutoFit/>
            </a:bodyPr>
            <a:lstStyle/>
            <a:p>
              <a:pPr algn="l">
                <a:lnSpc>
                  <a:spcPts val="3630"/>
                </a:lnSpc>
              </a:pPr>
              <a:r>
                <a:rPr lang="en-US" sz="3300" spc="105" b="true">
                  <a:solidFill>
                    <a:srgbClr val="000000"/>
                  </a:solidFill>
                  <a:latin typeface="Open Sauce Bold"/>
                  <a:ea typeface="Open Sauce Bold"/>
                  <a:cs typeface="Open Sauce Bold"/>
                  <a:sym typeface="Open Sauce Bold"/>
                </a:rPr>
                <a:t>Python Data Model</a:t>
              </a:r>
            </a:p>
          </p:txBody>
        </p:sp>
        <p:sp>
          <p:nvSpPr>
            <p:cNvPr name="TextBox 18" id="18"/>
            <p:cNvSpPr txBox="true"/>
            <p:nvPr/>
          </p:nvSpPr>
          <p:spPr>
            <a:xfrm rot="0">
              <a:off x="14852058" y="1158702"/>
              <a:ext cx="4628487" cy="1256030"/>
            </a:xfrm>
            <a:prstGeom prst="rect">
              <a:avLst/>
            </a:prstGeom>
          </p:spPr>
          <p:txBody>
            <a:bodyPr anchor="t" rtlCol="false" tIns="0" lIns="0" bIns="0" rIns="0">
              <a:spAutoFit/>
            </a:bodyPr>
            <a:lstStyle/>
            <a:p>
              <a:pPr algn="l">
                <a:lnSpc>
                  <a:spcPts val="3630"/>
                </a:lnSpc>
              </a:pPr>
              <a:r>
                <a:rPr lang="en-US" sz="3300" spc="105" b="true">
                  <a:solidFill>
                    <a:srgbClr val="000000"/>
                  </a:solidFill>
                  <a:latin typeface="Open Sauce Bold"/>
                  <a:ea typeface="Open Sauce Bold"/>
                  <a:cs typeface="Open Sauce Bold"/>
                  <a:sym typeface="Open Sauce Bold"/>
                </a:rPr>
                <a:t>These are sets of conventions</a:t>
              </a:r>
            </a:p>
          </p:txBody>
        </p:sp>
      </p:grpSp>
      <p:sp>
        <p:nvSpPr>
          <p:cNvPr name="TextBox 19" id="19"/>
          <p:cNvSpPr txBox="true"/>
          <p:nvPr/>
        </p:nvSpPr>
        <p:spPr>
          <a:xfrm rot="0">
            <a:off x="4837439" y="2726719"/>
            <a:ext cx="8552246" cy="804796"/>
          </a:xfrm>
          <a:prstGeom prst="rect">
            <a:avLst/>
          </a:prstGeom>
        </p:spPr>
        <p:txBody>
          <a:bodyPr anchor="t" rtlCol="false" tIns="0" lIns="0" bIns="0" rIns="0">
            <a:spAutoFit/>
          </a:bodyPr>
          <a:lstStyle/>
          <a:p>
            <a:pPr algn="ctr">
              <a:lnSpc>
                <a:spcPts val="3235"/>
              </a:lnSpc>
            </a:pPr>
            <a:r>
              <a:rPr lang="en-US" sz="2311">
                <a:solidFill>
                  <a:srgbClr val="000000"/>
                </a:solidFill>
                <a:latin typeface="Canva Sans"/>
                <a:ea typeface="Canva Sans"/>
                <a:cs typeface="Canva Sans"/>
                <a:sym typeface="Canva Sans"/>
              </a:rPr>
              <a:t>A set of conventions that Python uses to define and interact with objects and data types. </a:t>
            </a:r>
          </a:p>
        </p:txBody>
      </p:sp>
      <p:sp>
        <p:nvSpPr>
          <p:cNvPr name="Freeform 20" id="20"/>
          <p:cNvSpPr/>
          <p:nvPr/>
        </p:nvSpPr>
        <p:spPr>
          <a:xfrm flipH="false" flipV="false" rot="0">
            <a:off x="-262605" y="-556056"/>
            <a:ext cx="4202802" cy="2362325"/>
          </a:xfrm>
          <a:custGeom>
            <a:avLst/>
            <a:gdLst/>
            <a:ahLst/>
            <a:cxnLst/>
            <a:rect r="r" b="b" t="t" l="l"/>
            <a:pathLst>
              <a:path h="2362325" w="4202802">
                <a:moveTo>
                  <a:pt x="0" y="0"/>
                </a:moveTo>
                <a:lnTo>
                  <a:pt x="4202802" y="0"/>
                </a:lnTo>
                <a:lnTo>
                  <a:pt x="4202802" y="2362326"/>
                </a:lnTo>
                <a:lnTo>
                  <a:pt x="0" y="2362326"/>
                </a:lnTo>
                <a:lnTo>
                  <a:pt x="0" y="0"/>
                </a:lnTo>
                <a:close/>
              </a:path>
            </a:pathLst>
          </a:custGeom>
          <a:blipFill>
            <a:blip r:embed="rId4">
              <a:alphaModFix amt="37000"/>
            </a:blip>
            <a:stretch>
              <a:fillRect l="0" t="0" r="0" b="0"/>
            </a:stretch>
          </a:blipFill>
        </p:spPr>
      </p:sp>
    </p:spTree>
  </p:cSld>
  <p:clrMapOvr>
    <a:masterClrMapping/>
  </p:clrMapOvr>
</p:sld>
</file>

<file path=ppt/slides/slide81.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5015114">
            <a:off x="9740863" y="2343404"/>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266567" y="1028700"/>
            <a:ext cx="15502154" cy="8665317"/>
            <a:chOff x="0" y="0"/>
            <a:chExt cx="4082872" cy="2282224"/>
          </a:xfrm>
        </p:grpSpPr>
        <p:sp>
          <p:nvSpPr>
            <p:cNvPr name="Freeform 4" id="4"/>
            <p:cNvSpPr/>
            <p:nvPr/>
          </p:nvSpPr>
          <p:spPr>
            <a:xfrm flipH="false" flipV="false" rot="0">
              <a:off x="0" y="0"/>
              <a:ext cx="4082872" cy="2282223"/>
            </a:xfrm>
            <a:custGeom>
              <a:avLst/>
              <a:gdLst/>
              <a:ahLst/>
              <a:cxnLst/>
              <a:rect r="r" b="b" t="t" l="l"/>
              <a:pathLst>
                <a:path h="2282223" w="4082872">
                  <a:moveTo>
                    <a:pt x="0" y="0"/>
                  </a:moveTo>
                  <a:lnTo>
                    <a:pt x="4082872" y="0"/>
                  </a:lnTo>
                  <a:lnTo>
                    <a:pt x="4082872" y="2282223"/>
                  </a:lnTo>
                  <a:lnTo>
                    <a:pt x="0" y="228222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82872" cy="2310799"/>
            </a:xfrm>
            <a:prstGeom prst="rect">
              <a:avLst/>
            </a:prstGeom>
          </p:spPr>
          <p:txBody>
            <a:bodyPr anchor="ctr" rtlCol="false" tIns="50800" lIns="50800" bIns="50800" rIns="50800"/>
            <a:lstStyle/>
            <a:p>
              <a:pPr algn="ctr">
                <a:lnSpc>
                  <a:spcPts val="1869"/>
                </a:lnSpc>
              </a:pPr>
            </a:p>
          </p:txBody>
        </p:sp>
      </p:grpSp>
      <p:sp>
        <p:nvSpPr>
          <p:cNvPr name="TextBox 6" id="6"/>
          <p:cNvSpPr txBox="true"/>
          <p:nvPr/>
        </p:nvSpPr>
        <p:spPr>
          <a:xfrm rot="0">
            <a:off x="4898315" y="1721235"/>
            <a:ext cx="8491369" cy="937260"/>
          </a:xfrm>
          <a:prstGeom prst="rect">
            <a:avLst/>
          </a:prstGeom>
        </p:spPr>
        <p:txBody>
          <a:bodyPr anchor="t" rtlCol="false" tIns="0" lIns="0" bIns="0" rIns="0">
            <a:spAutoFit/>
          </a:bodyPr>
          <a:lstStyle/>
          <a:p>
            <a:pPr algn="ctr">
              <a:lnSpc>
                <a:spcPts val="3630"/>
              </a:lnSpc>
            </a:pPr>
            <a:r>
              <a:rPr lang="en-US" b="true" sz="3300" spc="105">
                <a:solidFill>
                  <a:srgbClr val="000000"/>
                </a:solidFill>
                <a:latin typeface="Open Sauce Bold"/>
                <a:ea typeface="Open Sauce Bold"/>
                <a:cs typeface="Open Sauce Bold"/>
                <a:sym typeface="Open Sauce Bold"/>
              </a:rPr>
              <a:t>The fundamental building blocks of  the Python data model</a:t>
            </a:r>
          </a:p>
        </p:txBody>
      </p:sp>
      <p:grpSp>
        <p:nvGrpSpPr>
          <p:cNvPr name="Group 7" id="7"/>
          <p:cNvGrpSpPr/>
          <p:nvPr/>
        </p:nvGrpSpPr>
        <p:grpSpPr>
          <a:xfrm rot="0">
            <a:off x="2459346" y="4970431"/>
            <a:ext cx="12398494" cy="486549"/>
            <a:chOff x="0" y="0"/>
            <a:chExt cx="16531325" cy="648732"/>
          </a:xfrm>
        </p:grpSpPr>
        <p:sp>
          <p:nvSpPr>
            <p:cNvPr name="AutoShape 8" id="8"/>
            <p:cNvSpPr/>
            <p:nvPr/>
          </p:nvSpPr>
          <p:spPr>
            <a:xfrm flipV="true">
              <a:off x="83" y="274167"/>
              <a:ext cx="15984626" cy="50199"/>
            </a:xfrm>
            <a:prstGeom prst="line">
              <a:avLst/>
            </a:prstGeom>
            <a:ln cap="flat" w="53121">
              <a:solidFill>
                <a:srgbClr val="192253"/>
              </a:solidFill>
              <a:prstDash val="solid"/>
              <a:headEnd type="none" len="sm" w="sm"/>
              <a:tailEnd type="none" len="sm" w="sm"/>
            </a:ln>
          </p:spPr>
        </p:sp>
        <p:grpSp>
          <p:nvGrpSpPr>
            <p:cNvPr name="Group 9" id="9"/>
            <p:cNvGrpSpPr>
              <a:grpSpLocks noChangeAspect="true"/>
            </p:cNvGrpSpPr>
            <p:nvPr/>
          </p:nvGrpSpPr>
          <p:grpSpPr>
            <a:xfrm rot="5400000">
              <a:off x="15984708" y="0"/>
              <a:ext cx="546617" cy="546617"/>
              <a:chOff x="6705600" y="1371600"/>
              <a:chExt cx="10972800" cy="10972800"/>
            </a:xfrm>
          </p:grpSpPr>
          <p:sp>
            <p:nvSpPr>
              <p:cNvPr name="Freeform 10" id="10"/>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11" id="11"/>
            <p:cNvGrpSpPr>
              <a:grpSpLocks noChangeAspect="true"/>
            </p:cNvGrpSpPr>
            <p:nvPr/>
          </p:nvGrpSpPr>
          <p:grpSpPr>
            <a:xfrm rot="5400000">
              <a:off x="8209729" y="0"/>
              <a:ext cx="648732" cy="648732"/>
              <a:chOff x="6705600" y="1371600"/>
              <a:chExt cx="10972800" cy="10972800"/>
            </a:xfrm>
          </p:grpSpPr>
          <p:sp>
            <p:nvSpPr>
              <p:cNvPr name="Freeform 12" id="12"/>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13" id="13"/>
            <p:cNvGrpSpPr>
              <a:grpSpLocks noChangeAspect="true"/>
            </p:cNvGrpSpPr>
            <p:nvPr/>
          </p:nvGrpSpPr>
          <p:grpSpPr>
            <a:xfrm rot="5400000">
              <a:off x="83" y="51057"/>
              <a:ext cx="546617" cy="546617"/>
              <a:chOff x="6705600" y="1371600"/>
              <a:chExt cx="10972800" cy="10972800"/>
            </a:xfrm>
          </p:grpSpPr>
          <p:sp>
            <p:nvSpPr>
              <p:cNvPr name="Freeform 14" id="14"/>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sp>
        <p:nvSpPr>
          <p:cNvPr name="TextBox 15" id="15"/>
          <p:cNvSpPr txBox="true"/>
          <p:nvPr/>
        </p:nvSpPr>
        <p:spPr>
          <a:xfrm rot="0">
            <a:off x="1838796" y="7736678"/>
            <a:ext cx="4911981" cy="247269"/>
          </a:xfrm>
          <a:prstGeom prst="rect">
            <a:avLst/>
          </a:prstGeom>
        </p:spPr>
        <p:txBody>
          <a:bodyPr anchor="t" rtlCol="false" tIns="0" lIns="0" bIns="0" rIns="0">
            <a:spAutoFit/>
          </a:bodyPr>
          <a:lstStyle/>
          <a:p>
            <a:pPr algn="l">
              <a:lnSpc>
                <a:spcPts val="2058"/>
              </a:lnSpc>
            </a:pPr>
          </a:p>
        </p:txBody>
      </p:sp>
      <p:grpSp>
        <p:nvGrpSpPr>
          <p:cNvPr name="Group 16" id="16"/>
          <p:cNvGrpSpPr/>
          <p:nvPr/>
        </p:nvGrpSpPr>
        <p:grpSpPr>
          <a:xfrm rot="0">
            <a:off x="1838796" y="5885604"/>
            <a:ext cx="14610409" cy="956310"/>
            <a:chOff x="0" y="0"/>
            <a:chExt cx="19480545" cy="1275080"/>
          </a:xfrm>
        </p:grpSpPr>
        <p:sp>
          <p:nvSpPr>
            <p:cNvPr name="TextBox 17" id="17"/>
            <p:cNvSpPr txBox="true"/>
            <p:nvPr/>
          </p:nvSpPr>
          <p:spPr>
            <a:xfrm rot="0">
              <a:off x="8036688" y="19050"/>
              <a:ext cx="5356646" cy="646430"/>
            </a:xfrm>
            <a:prstGeom prst="rect">
              <a:avLst/>
            </a:prstGeom>
          </p:spPr>
          <p:txBody>
            <a:bodyPr anchor="t" rtlCol="false" tIns="0" lIns="0" bIns="0" rIns="0">
              <a:spAutoFit/>
            </a:bodyPr>
            <a:lstStyle/>
            <a:p>
              <a:pPr algn="l">
                <a:lnSpc>
                  <a:spcPts val="3630"/>
                </a:lnSpc>
              </a:pPr>
              <a:r>
                <a:rPr lang="en-US" sz="3300" spc="105" b="true">
                  <a:solidFill>
                    <a:srgbClr val="000000"/>
                  </a:solidFill>
                  <a:latin typeface="Open Sauce Bold"/>
                  <a:ea typeface="Open Sauce Bold"/>
                  <a:cs typeface="Open Sauce Bold"/>
                  <a:sym typeface="Open Sauce Bold"/>
                </a:rPr>
                <a:t>Types</a:t>
              </a:r>
            </a:p>
          </p:txBody>
        </p:sp>
        <p:sp>
          <p:nvSpPr>
            <p:cNvPr name="TextBox 18" id="18"/>
            <p:cNvSpPr txBox="true"/>
            <p:nvPr/>
          </p:nvSpPr>
          <p:spPr>
            <a:xfrm rot="0">
              <a:off x="0" y="109389"/>
              <a:ext cx="6114810" cy="646430"/>
            </a:xfrm>
            <a:prstGeom prst="rect">
              <a:avLst/>
            </a:prstGeom>
          </p:spPr>
          <p:txBody>
            <a:bodyPr anchor="t" rtlCol="false" tIns="0" lIns="0" bIns="0" rIns="0">
              <a:spAutoFit/>
            </a:bodyPr>
            <a:lstStyle/>
            <a:p>
              <a:pPr algn="l">
                <a:lnSpc>
                  <a:spcPts val="3630"/>
                </a:lnSpc>
              </a:pPr>
              <a:r>
                <a:rPr lang="en-US" sz="3300" spc="105" b="true">
                  <a:solidFill>
                    <a:srgbClr val="000000"/>
                  </a:solidFill>
                  <a:latin typeface="Open Sauce Bold"/>
                  <a:ea typeface="Open Sauce Bold"/>
                  <a:cs typeface="Open Sauce Bold"/>
                  <a:sym typeface="Open Sauce Bold"/>
                </a:rPr>
                <a:t>Objects</a:t>
              </a:r>
            </a:p>
          </p:txBody>
        </p:sp>
        <p:sp>
          <p:nvSpPr>
            <p:cNvPr name="TextBox 19" id="19"/>
            <p:cNvSpPr txBox="true"/>
            <p:nvPr/>
          </p:nvSpPr>
          <p:spPr>
            <a:xfrm rot="0">
              <a:off x="14852058" y="19050"/>
              <a:ext cx="4628487" cy="1256030"/>
            </a:xfrm>
            <a:prstGeom prst="rect">
              <a:avLst/>
            </a:prstGeom>
          </p:spPr>
          <p:txBody>
            <a:bodyPr anchor="t" rtlCol="false" tIns="0" lIns="0" bIns="0" rIns="0">
              <a:spAutoFit/>
            </a:bodyPr>
            <a:lstStyle/>
            <a:p>
              <a:pPr algn="l">
                <a:lnSpc>
                  <a:spcPts val="3630"/>
                </a:lnSpc>
              </a:pPr>
              <a:r>
                <a:rPr lang="en-US" sz="3300" spc="105" b="true">
                  <a:solidFill>
                    <a:srgbClr val="000000"/>
                  </a:solidFill>
                  <a:latin typeface="Open Sauce Bold"/>
                  <a:ea typeface="Open Sauce Bold"/>
                  <a:cs typeface="Open Sauce Bold"/>
                  <a:sym typeface="Open Sauce Bold"/>
                </a:rPr>
                <a:t>Identity, Value and Type</a:t>
              </a:r>
            </a:p>
          </p:txBody>
        </p:sp>
      </p:grpSp>
      <p:sp>
        <p:nvSpPr>
          <p:cNvPr name="TextBox 20" id="20"/>
          <p:cNvSpPr txBox="true"/>
          <p:nvPr/>
        </p:nvSpPr>
        <p:spPr>
          <a:xfrm rot="0">
            <a:off x="4837439" y="3036462"/>
            <a:ext cx="8552246" cy="804796"/>
          </a:xfrm>
          <a:prstGeom prst="rect">
            <a:avLst/>
          </a:prstGeom>
        </p:spPr>
        <p:txBody>
          <a:bodyPr anchor="t" rtlCol="false" tIns="0" lIns="0" bIns="0" rIns="0">
            <a:spAutoFit/>
          </a:bodyPr>
          <a:lstStyle/>
          <a:p>
            <a:pPr algn="ctr">
              <a:lnSpc>
                <a:spcPts val="3235"/>
              </a:lnSpc>
            </a:pPr>
            <a:r>
              <a:rPr lang="en-US" sz="2311">
                <a:solidFill>
                  <a:srgbClr val="000000"/>
                </a:solidFill>
                <a:latin typeface="Canva Sans"/>
                <a:ea typeface="Canva Sans"/>
                <a:cs typeface="Canva Sans"/>
                <a:sym typeface="Canva Sans"/>
              </a:rPr>
              <a:t>The data model defines how much of all we have spoken about so far</a:t>
            </a:r>
          </a:p>
        </p:txBody>
      </p:sp>
      <p:grpSp>
        <p:nvGrpSpPr>
          <p:cNvPr name="Group 21" id="21"/>
          <p:cNvGrpSpPr/>
          <p:nvPr/>
        </p:nvGrpSpPr>
        <p:grpSpPr>
          <a:xfrm rot="0">
            <a:off x="1523984" y="7270539"/>
            <a:ext cx="14987320" cy="980694"/>
            <a:chOff x="0" y="0"/>
            <a:chExt cx="19983093" cy="1307592"/>
          </a:xfrm>
        </p:grpSpPr>
        <p:sp>
          <p:nvSpPr>
            <p:cNvPr name="TextBox 22" id="22"/>
            <p:cNvSpPr txBox="true"/>
            <p:nvPr/>
          </p:nvSpPr>
          <p:spPr>
            <a:xfrm rot="0">
              <a:off x="0" y="-38100"/>
              <a:ext cx="6549308" cy="659892"/>
            </a:xfrm>
            <a:prstGeom prst="rect">
              <a:avLst/>
            </a:prstGeom>
          </p:spPr>
          <p:txBody>
            <a:bodyPr anchor="t" rtlCol="false" tIns="0" lIns="0" bIns="0" rIns="0">
              <a:spAutoFit/>
            </a:bodyPr>
            <a:lstStyle/>
            <a:p>
              <a:pPr algn="l">
                <a:lnSpc>
                  <a:spcPts val="2058"/>
                </a:lnSpc>
              </a:pPr>
              <a:r>
                <a:rPr lang="en-US" sz="1400">
                  <a:solidFill>
                    <a:srgbClr val="000000"/>
                  </a:solidFill>
                  <a:latin typeface="Open Sauce"/>
                  <a:ea typeface="Open Sauce"/>
                  <a:cs typeface="Open Sauce"/>
                  <a:sym typeface="Open Sauce"/>
                </a:rPr>
                <a:t>Everything is an object - including data types</a:t>
              </a:r>
            </a:p>
            <a:p>
              <a:pPr algn="l">
                <a:lnSpc>
                  <a:spcPts val="2058"/>
                </a:lnSpc>
              </a:pPr>
              <a:r>
                <a:rPr lang="en-US" sz="1400">
                  <a:solidFill>
                    <a:srgbClr val="000000"/>
                  </a:solidFill>
                  <a:latin typeface="Open Sauce"/>
                  <a:ea typeface="Open Sauce"/>
                  <a:cs typeface="Open Sauce"/>
                  <a:sym typeface="Open Sauce"/>
                </a:rPr>
                <a:t>collections, classes, modules </a:t>
              </a:r>
            </a:p>
          </p:txBody>
        </p:sp>
        <p:sp>
          <p:nvSpPr>
            <p:cNvPr name="TextBox 23" id="23"/>
            <p:cNvSpPr txBox="true"/>
            <p:nvPr/>
          </p:nvSpPr>
          <p:spPr>
            <a:xfrm rot="0">
              <a:off x="6792609" y="-38100"/>
              <a:ext cx="5964874" cy="1002792"/>
            </a:xfrm>
            <a:prstGeom prst="rect">
              <a:avLst/>
            </a:prstGeom>
          </p:spPr>
          <p:txBody>
            <a:bodyPr anchor="t" rtlCol="false" tIns="0" lIns="0" bIns="0" rIns="0">
              <a:spAutoFit/>
            </a:bodyPr>
            <a:lstStyle/>
            <a:p>
              <a:pPr algn="l">
                <a:lnSpc>
                  <a:spcPts val="2058"/>
                </a:lnSpc>
              </a:pPr>
              <a:r>
                <a:rPr lang="en-US" sz="1400">
                  <a:solidFill>
                    <a:srgbClr val="000000"/>
                  </a:solidFill>
                  <a:latin typeface="Open Sauce"/>
                  <a:ea typeface="Open Sauce"/>
                  <a:cs typeface="Open Sauce"/>
                  <a:sym typeface="Open Sauce"/>
                </a:rPr>
                <a:t>Every object has type (like ’int’ etc) which determines what kind of operations can be performed on the object </a:t>
              </a:r>
            </a:p>
          </p:txBody>
        </p:sp>
        <p:sp>
          <p:nvSpPr>
            <p:cNvPr name="TextBox 24" id="24"/>
            <p:cNvSpPr txBox="true"/>
            <p:nvPr/>
          </p:nvSpPr>
          <p:spPr>
            <a:xfrm rot="0">
              <a:off x="14018219" y="-38100"/>
              <a:ext cx="5964874" cy="1345692"/>
            </a:xfrm>
            <a:prstGeom prst="rect">
              <a:avLst/>
            </a:prstGeom>
          </p:spPr>
          <p:txBody>
            <a:bodyPr anchor="t" rtlCol="false" tIns="0" lIns="0" bIns="0" rIns="0">
              <a:spAutoFit/>
            </a:bodyPr>
            <a:lstStyle/>
            <a:p>
              <a:pPr algn="l">
                <a:lnSpc>
                  <a:spcPts val="2058"/>
                </a:lnSpc>
              </a:pPr>
              <a:r>
                <a:rPr lang="en-US" sz="1400">
                  <a:solidFill>
                    <a:srgbClr val="000000"/>
                  </a:solidFill>
                  <a:latin typeface="Open Sauce"/>
                  <a:ea typeface="Open Sauce"/>
                  <a:cs typeface="Open Sauce"/>
                  <a:sym typeface="Open Sauce"/>
                </a:rPr>
                <a:t>Every object has an identity (which never changes after creation), a type (which also never changes), and a value (which can change for mutable objects)</a:t>
              </a:r>
            </a:p>
          </p:txBody>
        </p:sp>
      </p:grpSp>
      <p:sp>
        <p:nvSpPr>
          <p:cNvPr name="Freeform 25" id="25"/>
          <p:cNvSpPr/>
          <p:nvPr/>
        </p:nvSpPr>
        <p:spPr>
          <a:xfrm flipH="false" flipV="false" rot="0">
            <a:off x="-262605" y="-556056"/>
            <a:ext cx="4202802" cy="2362325"/>
          </a:xfrm>
          <a:custGeom>
            <a:avLst/>
            <a:gdLst/>
            <a:ahLst/>
            <a:cxnLst/>
            <a:rect r="r" b="b" t="t" l="l"/>
            <a:pathLst>
              <a:path h="2362325" w="4202802">
                <a:moveTo>
                  <a:pt x="0" y="0"/>
                </a:moveTo>
                <a:lnTo>
                  <a:pt x="4202802" y="0"/>
                </a:lnTo>
                <a:lnTo>
                  <a:pt x="4202802" y="2362326"/>
                </a:lnTo>
                <a:lnTo>
                  <a:pt x="0" y="2362326"/>
                </a:lnTo>
                <a:lnTo>
                  <a:pt x="0" y="0"/>
                </a:lnTo>
                <a:close/>
              </a:path>
            </a:pathLst>
          </a:custGeom>
          <a:blipFill>
            <a:blip r:embed="rId4">
              <a:alphaModFix amt="37000"/>
            </a:blip>
            <a:stretch>
              <a:fillRect l="0" t="0" r="0" b="0"/>
            </a:stretch>
          </a:blipFill>
        </p:spPr>
      </p:sp>
    </p:spTree>
  </p:cSld>
  <p:clrMapOvr>
    <a:masterClrMapping/>
  </p:clrMapOvr>
</p:sld>
</file>

<file path=ppt/slides/slide82.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5015114">
            <a:off x="9740863" y="2343404"/>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266567" y="1028700"/>
            <a:ext cx="15502154" cy="8665317"/>
            <a:chOff x="0" y="0"/>
            <a:chExt cx="4082872" cy="2282224"/>
          </a:xfrm>
        </p:grpSpPr>
        <p:sp>
          <p:nvSpPr>
            <p:cNvPr name="Freeform 4" id="4"/>
            <p:cNvSpPr/>
            <p:nvPr/>
          </p:nvSpPr>
          <p:spPr>
            <a:xfrm flipH="false" flipV="false" rot="0">
              <a:off x="0" y="0"/>
              <a:ext cx="4082872" cy="2282223"/>
            </a:xfrm>
            <a:custGeom>
              <a:avLst/>
              <a:gdLst/>
              <a:ahLst/>
              <a:cxnLst/>
              <a:rect r="r" b="b" t="t" l="l"/>
              <a:pathLst>
                <a:path h="2282223" w="4082872">
                  <a:moveTo>
                    <a:pt x="0" y="0"/>
                  </a:moveTo>
                  <a:lnTo>
                    <a:pt x="4082872" y="0"/>
                  </a:lnTo>
                  <a:lnTo>
                    <a:pt x="4082872" y="2282223"/>
                  </a:lnTo>
                  <a:lnTo>
                    <a:pt x="0" y="228222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82872" cy="2310799"/>
            </a:xfrm>
            <a:prstGeom prst="rect">
              <a:avLst/>
            </a:prstGeom>
          </p:spPr>
          <p:txBody>
            <a:bodyPr anchor="ctr" rtlCol="false" tIns="50800" lIns="50800" bIns="50800" rIns="50800"/>
            <a:lstStyle/>
            <a:p>
              <a:pPr algn="ctr">
                <a:lnSpc>
                  <a:spcPts val="1869"/>
                </a:lnSpc>
              </a:pPr>
            </a:p>
          </p:txBody>
        </p:sp>
      </p:grpSp>
      <p:sp>
        <p:nvSpPr>
          <p:cNvPr name="TextBox 6" id="6"/>
          <p:cNvSpPr txBox="true"/>
          <p:nvPr/>
        </p:nvSpPr>
        <p:spPr>
          <a:xfrm rot="0">
            <a:off x="4898315" y="1721235"/>
            <a:ext cx="8491369" cy="937260"/>
          </a:xfrm>
          <a:prstGeom prst="rect">
            <a:avLst/>
          </a:prstGeom>
        </p:spPr>
        <p:txBody>
          <a:bodyPr anchor="t" rtlCol="false" tIns="0" lIns="0" bIns="0" rIns="0">
            <a:spAutoFit/>
          </a:bodyPr>
          <a:lstStyle/>
          <a:p>
            <a:pPr algn="ctr">
              <a:lnSpc>
                <a:spcPts val="3630"/>
              </a:lnSpc>
            </a:pPr>
            <a:r>
              <a:rPr lang="en-US" b="true" sz="3300" spc="105">
                <a:solidFill>
                  <a:srgbClr val="000000"/>
                </a:solidFill>
                <a:latin typeface="Open Sauce Bold"/>
                <a:ea typeface="Open Sauce Bold"/>
                <a:cs typeface="Open Sauce Bold"/>
                <a:sym typeface="Open Sauce Bold"/>
              </a:rPr>
              <a:t>The fundamental building blocks of  the Python data model</a:t>
            </a:r>
          </a:p>
        </p:txBody>
      </p:sp>
      <p:grpSp>
        <p:nvGrpSpPr>
          <p:cNvPr name="Group 7" id="7"/>
          <p:cNvGrpSpPr/>
          <p:nvPr/>
        </p:nvGrpSpPr>
        <p:grpSpPr>
          <a:xfrm rot="0">
            <a:off x="2562481" y="5191173"/>
            <a:ext cx="12398494" cy="486549"/>
            <a:chOff x="0" y="0"/>
            <a:chExt cx="16531325" cy="648732"/>
          </a:xfrm>
        </p:grpSpPr>
        <p:sp>
          <p:nvSpPr>
            <p:cNvPr name="AutoShape 8" id="8"/>
            <p:cNvSpPr/>
            <p:nvPr/>
          </p:nvSpPr>
          <p:spPr>
            <a:xfrm flipV="true">
              <a:off x="83" y="274167"/>
              <a:ext cx="15984626" cy="50199"/>
            </a:xfrm>
            <a:prstGeom prst="line">
              <a:avLst/>
            </a:prstGeom>
            <a:ln cap="flat" w="53121">
              <a:solidFill>
                <a:srgbClr val="192253"/>
              </a:solidFill>
              <a:prstDash val="solid"/>
              <a:headEnd type="none" len="sm" w="sm"/>
              <a:tailEnd type="none" len="sm" w="sm"/>
            </a:ln>
          </p:spPr>
        </p:sp>
        <p:grpSp>
          <p:nvGrpSpPr>
            <p:cNvPr name="Group 9" id="9"/>
            <p:cNvGrpSpPr>
              <a:grpSpLocks noChangeAspect="true"/>
            </p:cNvGrpSpPr>
            <p:nvPr/>
          </p:nvGrpSpPr>
          <p:grpSpPr>
            <a:xfrm rot="5400000">
              <a:off x="15984708" y="0"/>
              <a:ext cx="546617" cy="546617"/>
              <a:chOff x="6705600" y="1371600"/>
              <a:chExt cx="10972800" cy="10972800"/>
            </a:xfrm>
          </p:grpSpPr>
          <p:sp>
            <p:nvSpPr>
              <p:cNvPr name="Freeform 10" id="10"/>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11" id="11"/>
            <p:cNvGrpSpPr>
              <a:grpSpLocks noChangeAspect="true"/>
            </p:cNvGrpSpPr>
            <p:nvPr/>
          </p:nvGrpSpPr>
          <p:grpSpPr>
            <a:xfrm rot="5400000">
              <a:off x="8209729" y="0"/>
              <a:ext cx="648732" cy="648732"/>
              <a:chOff x="6705600" y="1371600"/>
              <a:chExt cx="10972800" cy="10972800"/>
            </a:xfrm>
          </p:grpSpPr>
          <p:sp>
            <p:nvSpPr>
              <p:cNvPr name="Freeform 12" id="12"/>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13" id="13"/>
            <p:cNvGrpSpPr>
              <a:grpSpLocks noChangeAspect="true"/>
            </p:cNvGrpSpPr>
            <p:nvPr/>
          </p:nvGrpSpPr>
          <p:grpSpPr>
            <a:xfrm rot="5400000">
              <a:off x="83" y="51057"/>
              <a:ext cx="546617" cy="546617"/>
              <a:chOff x="6705600" y="1371600"/>
              <a:chExt cx="10972800" cy="10972800"/>
            </a:xfrm>
          </p:grpSpPr>
          <p:sp>
            <p:nvSpPr>
              <p:cNvPr name="Freeform 14" id="14"/>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sp>
        <p:nvSpPr>
          <p:cNvPr name="TextBox 15" id="15"/>
          <p:cNvSpPr txBox="true"/>
          <p:nvPr/>
        </p:nvSpPr>
        <p:spPr>
          <a:xfrm rot="0">
            <a:off x="1838796" y="7736678"/>
            <a:ext cx="4911981" cy="247269"/>
          </a:xfrm>
          <a:prstGeom prst="rect">
            <a:avLst/>
          </a:prstGeom>
        </p:spPr>
        <p:txBody>
          <a:bodyPr anchor="t" rtlCol="false" tIns="0" lIns="0" bIns="0" rIns="0">
            <a:spAutoFit/>
          </a:bodyPr>
          <a:lstStyle/>
          <a:p>
            <a:pPr algn="l">
              <a:lnSpc>
                <a:spcPts val="2058"/>
              </a:lnSpc>
            </a:pPr>
          </a:p>
        </p:txBody>
      </p:sp>
      <p:sp>
        <p:nvSpPr>
          <p:cNvPr name="TextBox 16" id="16"/>
          <p:cNvSpPr txBox="true"/>
          <p:nvPr/>
        </p:nvSpPr>
        <p:spPr>
          <a:xfrm rot="0">
            <a:off x="4837439" y="3036462"/>
            <a:ext cx="8552246" cy="804796"/>
          </a:xfrm>
          <a:prstGeom prst="rect">
            <a:avLst/>
          </a:prstGeom>
        </p:spPr>
        <p:txBody>
          <a:bodyPr anchor="t" rtlCol="false" tIns="0" lIns="0" bIns="0" rIns="0">
            <a:spAutoFit/>
          </a:bodyPr>
          <a:lstStyle/>
          <a:p>
            <a:pPr algn="ctr">
              <a:lnSpc>
                <a:spcPts val="3235"/>
              </a:lnSpc>
            </a:pPr>
            <a:r>
              <a:rPr lang="en-US" sz="2311">
                <a:solidFill>
                  <a:srgbClr val="000000"/>
                </a:solidFill>
                <a:latin typeface="Canva Sans"/>
                <a:ea typeface="Canva Sans"/>
                <a:cs typeface="Canva Sans"/>
                <a:sym typeface="Canva Sans"/>
              </a:rPr>
              <a:t>The data model defines how much of all we have spoken about so far</a:t>
            </a:r>
          </a:p>
        </p:txBody>
      </p:sp>
      <p:grpSp>
        <p:nvGrpSpPr>
          <p:cNvPr name="Group 17" id="17"/>
          <p:cNvGrpSpPr/>
          <p:nvPr/>
        </p:nvGrpSpPr>
        <p:grpSpPr>
          <a:xfrm rot="0">
            <a:off x="1838796" y="6018368"/>
            <a:ext cx="15255005" cy="956310"/>
            <a:chOff x="0" y="0"/>
            <a:chExt cx="20340006" cy="1275080"/>
          </a:xfrm>
        </p:grpSpPr>
        <p:sp>
          <p:nvSpPr>
            <p:cNvPr name="TextBox 18" id="18"/>
            <p:cNvSpPr txBox="true"/>
            <p:nvPr/>
          </p:nvSpPr>
          <p:spPr>
            <a:xfrm rot="0">
              <a:off x="8391259" y="19050"/>
              <a:ext cx="5592975" cy="646430"/>
            </a:xfrm>
            <a:prstGeom prst="rect">
              <a:avLst/>
            </a:prstGeom>
          </p:spPr>
          <p:txBody>
            <a:bodyPr anchor="t" rtlCol="false" tIns="0" lIns="0" bIns="0" rIns="0">
              <a:spAutoFit/>
            </a:bodyPr>
            <a:lstStyle/>
            <a:p>
              <a:pPr algn="l">
                <a:lnSpc>
                  <a:spcPts val="3630"/>
                </a:lnSpc>
              </a:pPr>
              <a:r>
                <a:rPr lang="en-US" sz="3300" spc="105" b="true">
                  <a:solidFill>
                    <a:srgbClr val="000000"/>
                  </a:solidFill>
                  <a:latin typeface="Open Sauce Bold"/>
                  <a:ea typeface="Open Sauce Bold"/>
                  <a:cs typeface="Open Sauce Bold"/>
                  <a:sym typeface="Open Sauce Bold"/>
                </a:rPr>
                <a:t>Methods</a:t>
              </a:r>
            </a:p>
          </p:txBody>
        </p:sp>
        <p:sp>
          <p:nvSpPr>
            <p:cNvPr name="TextBox 19" id="19"/>
            <p:cNvSpPr txBox="true"/>
            <p:nvPr/>
          </p:nvSpPr>
          <p:spPr>
            <a:xfrm rot="0">
              <a:off x="0" y="109389"/>
              <a:ext cx="6384590" cy="646430"/>
            </a:xfrm>
            <a:prstGeom prst="rect">
              <a:avLst/>
            </a:prstGeom>
          </p:spPr>
          <p:txBody>
            <a:bodyPr anchor="t" rtlCol="false" tIns="0" lIns="0" bIns="0" rIns="0">
              <a:spAutoFit/>
            </a:bodyPr>
            <a:lstStyle/>
            <a:p>
              <a:pPr algn="l">
                <a:lnSpc>
                  <a:spcPts val="3630"/>
                </a:lnSpc>
              </a:pPr>
              <a:r>
                <a:rPr lang="en-US" sz="3300" spc="105" b="true">
                  <a:solidFill>
                    <a:srgbClr val="000000"/>
                  </a:solidFill>
                  <a:latin typeface="Open Sauce Bold"/>
                  <a:ea typeface="Open Sauce Bold"/>
                  <a:cs typeface="Open Sauce Bold"/>
                  <a:sym typeface="Open Sauce Bold"/>
                </a:rPr>
                <a:t>Attribute Access</a:t>
              </a:r>
            </a:p>
          </p:txBody>
        </p:sp>
        <p:sp>
          <p:nvSpPr>
            <p:cNvPr name="TextBox 20" id="20"/>
            <p:cNvSpPr txBox="true"/>
            <p:nvPr/>
          </p:nvSpPr>
          <p:spPr>
            <a:xfrm rot="0">
              <a:off x="15507315" y="19050"/>
              <a:ext cx="4832691" cy="1256030"/>
            </a:xfrm>
            <a:prstGeom prst="rect">
              <a:avLst/>
            </a:prstGeom>
          </p:spPr>
          <p:txBody>
            <a:bodyPr anchor="t" rtlCol="false" tIns="0" lIns="0" bIns="0" rIns="0">
              <a:spAutoFit/>
            </a:bodyPr>
            <a:lstStyle/>
            <a:p>
              <a:pPr algn="l">
                <a:lnSpc>
                  <a:spcPts val="3630"/>
                </a:lnSpc>
              </a:pPr>
              <a:r>
                <a:rPr lang="en-US" sz="3300" spc="105" b="true">
                  <a:solidFill>
                    <a:srgbClr val="000000"/>
                  </a:solidFill>
                  <a:latin typeface="Open Sauce Bold"/>
                  <a:ea typeface="Open Sauce Bold"/>
                  <a:cs typeface="Open Sauce Bold"/>
                  <a:sym typeface="Open Sauce Bold"/>
                </a:rPr>
                <a:t>Special Methods</a:t>
              </a:r>
            </a:p>
          </p:txBody>
        </p:sp>
      </p:grpSp>
      <p:sp>
        <p:nvSpPr>
          <p:cNvPr name="TextBox 21" id="21"/>
          <p:cNvSpPr txBox="true"/>
          <p:nvPr/>
        </p:nvSpPr>
        <p:spPr>
          <a:xfrm rot="0">
            <a:off x="1838796" y="7103457"/>
            <a:ext cx="4911981" cy="504444"/>
          </a:xfrm>
          <a:prstGeom prst="rect">
            <a:avLst/>
          </a:prstGeom>
        </p:spPr>
        <p:txBody>
          <a:bodyPr anchor="t" rtlCol="false" tIns="0" lIns="0" bIns="0" rIns="0">
            <a:spAutoFit/>
          </a:bodyPr>
          <a:lstStyle/>
          <a:p>
            <a:pPr algn="l">
              <a:lnSpc>
                <a:spcPts val="2058"/>
              </a:lnSpc>
            </a:pPr>
            <a:r>
              <a:rPr lang="en-US" sz="1400">
                <a:solidFill>
                  <a:srgbClr val="000000"/>
                </a:solidFill>
                <a:latin typeface="Open Sauce"/>
                <a:ea typeface="Open Sauce"/>
                <a:cs typeface="Open Sauce"/>
                <a:sym typeface="Open Sauce"/>
              </a:rPr>
              <a:t>Objects can have attributes which you access using</a:t>
            </a:r>
          </a:p>
          <a:p>
            <a:pPr algn="l">
              <a:lnSpc>
                <a:spcPts val="2058"/>
              </a:lnSpc>
            </a:pPr>
            <a:r>
              <a:rPr lang="en-US" sz="1400">
                <a:solidFill>
                  <a:srgbClr val="000000"/>
                </a:solidFill>
                <a:latin typeface="Open Sauce"/>
                <a:ea typeface="Open Sauce"/>
                <a:cs typeface="Open Sauce"/>
                <a:sym typeface="Open Sauce"/>
              </a:rPr>
              <a:t>the dot operation (so object.attribute)</a:t>
            </a:r>
          </a:p>
        </p:txBody>
      </p:sp>
      <p:sp>
        <p:nvSpPr>
          <p:cNvPr name="TextBox 22" id="22"/>
          <p:cNvSpPr txBox="true"/>
          <p:nvPr/>
        </p:nvSpPr>
        <p:spPr>
          <a:xfrm rot="0">
            <a:off x="7164799" y="7103457"/>
            <a:ext cx="4911981" cy="761619"/>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Objects can have methods which are functions that are associated with the object and can access its internal data  </a:t>
            </a:r>
          </a:p>
        </p:txBody>
      </p:sp>
      <p:sp>
        <p:nvSpPr>
          <p:cNvPr name="TextBox 23" id="23"/>
          <p:cNvSpPr txBox="true"/>
          <p:nvPr/>
        </p:nvSpPr>
        <p:spPr>
          <a:xfrm rot="0">
            <a:off x="12347319" y="7117744"/>
            <a:ext cx="4009546" cy="761619"/>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These methods with special names that start and end with double underscores (__) like __init__ etc </a:t>
            </a:r>
          </a:p>
        </p:txBody>
      </p:sp>
      <p:sp>
        <p:nvSpPr>
          <p:cNvPr name="Freeform 24" id="24"/>
          <p:cNvSpPr/>
          <p:nvPr/>
        </p:nvSpPr>
        <p:spPr>
          <a:xfrm flipH="false" flipV="false" rot="0">
            <a:off x="-262605" y="-556056"/>
            <a:ext cx="4202802" cy="2362325"/>
          </a:xfrm>
          <a:custGeom>
            <a:avLst/>
            <a:gdLst/>
            <a:ahLst/>
            <a:cxnLst/>
            <a:rect r="r" b="b" t="t" l="l"/>
            <a:pathLst>
              <a:path h="2362325" w="4202802">
                <a:moveTo>
                  <a:pt x="0" y="0"/>
                </a:moveTo>
                <a:lnTo>
                  <a:pt x="4202802" y="0"/>
                </a:lnTo>
                <a:lnTo>
                  <a:pt x="4202802" y="2362326"/>
                </a:lnTo>
                <a:lnTo>
                  <a:pt x="0" y="2362326"/>
                </a:lnTo>
                <a:lnTo>
                  <a:pt x="0" y="0"/>
                </a:lnTo>
                <a:close/>
              </a:path>
            </a:pathLst>
          </a:custGeom>
          <a:blipFill>
            <a:blip r:embed="rId4">
              <a:alphaModFix amt="37000"/>
            </a:blip>
            <a:stretch>
              <a:fillRect l="0" t="0" r="0" b="0"/>
            </a:stretch>
          </a:blipFill>
        </p:spPr>
      </p:sp>
    </p:spTree>
  </p:cSld>
  <p:clrMapOvr>
    <a:masterClrMapping/>
  </p:clrMapOvr>
</p:sld>
</file>

<file path=ppt/slides/slide83.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5015114">
            <a:off x="9740863" y="2343404"/>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266567" y="1028700"/>
            <a:ext cx="15502154" cy="8665317"/>
            <a:chOff x="0" y="0"/>
            <a:chExt cx="4082872" cy="2282224"/>
          </a:xfrm>
        </p:grpSpPr>
        <p:sp>
          <p:nvSpPr>
            <p:cNvPr name="Freeform 4" id="4"/>
            <p:cNvSpPr/>
            <p:nvPr/>
          </p:nvSpPr>
          <p:spPr>
            <a:xfrm flipH="false" flipV="false" rot="0">
              <a:off x="0" y="0"/>
              <a:ext cx="4082872" cy="2282223"/>
            </a:xfrm>
            <a:custGeom>
              <a:avLst/>
              <a:gdLst/>
              <a:ahLst/>
              <a:cxnLst/>
              <a:rect r="r" b="b" t="t" l="l"/>
              <a:pathLst>
                <a:path h="2282223" w="4082872">
                  <a:moveTo>
                    <a:pt x="0" y="0"/>
                  </a:moveTo>
                  <a:lnTo>
                    <a:pt x="4082872" y="0"/>
                  </a:lnTo>
                  <a:lnTo>
                    <a:pt x="4082872" y="2282223"/>
                  </a:lnTo>
                  <a:lnTo>
                    <a:pt x="0" y="228222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82872" cy="2310799"/>
            </a:xfrm>
            <a:prstGeom prst="rect">
              <a:avLst/>
            </a:prstGeom>
          </p:spPr>
          <p:txBody>
            <a:bodyPr anchor="ctr" rtlCol="false" tIns="50800" lIns="50800" bIns="50800" rIns="50800"/>
            <a:lstStyle/>
            <a:p>
              <a:pPr algn="ctr">
                <a:lnSpc>
                  <a:spcPts val="1869"/>
                </a:lnSpc>
              </a:pPr>
            </a:p>
          </p:txBody>
        </p:sp>
      </p:grpSp>
      <p:sp>
        <p:nvSpPr>
          <p:cNvPr name="Freeform 6" id="6"/>
          <p:cNvSpPr/>
          <p:nvPr/>
        </p:nvSpPr>
        <p:spPr>
          <a:xfrm flipH="false" flipV="false" rot="0">
            <a:off x="6262748" y="2606463"/>
            <a:ext cx="5509791" cy="5509791"/>
          </a:xfrm>
          <a:custGeom>
            <a:avLst/>
            <a:gdLst/>
            <a:ahLst/>
            <a:cxnLst/>
            <a:rect r="r" b="b" t="t" l="l"/>
            <a:pathLst>
              <a:path h="5509791" w="5509791">
                <a:moveTo>
                  <a:pt x="0" y="0"/>
                </a:moveTo>
                <a:lnTo>
                  <a:pt x="5509791" y="0"/>
                </a:lnTo>
                <a:lnTo>
                  <a:pt x="5509791" y="5509791"/>
                </a:lnTo>
                <a:lnTo>
                  <a:pt x="0" y="5509791"/>
                </a:lnTo>
                <a:lnTo>
                  <a:pt x="0" y="0"/>
                </a:lnTo>
                <a:close/>
              </a:path>
            </a:pathLst>
          </a:custGeom>
          <a:blipFill>
            <a:blip r:embed="rId4"/>
            <a:stretch>
              <a:fillRect l="0" t="0" r="0" b="0"/>
            </a:stretch>
          </a:blipFill>
        </p:spPr>
      </p:sp>
      <p:sp>
        <p:nvSpPr>
          <p:cNvPr name="Freeform 7" id="7"/>
          <p:cNvSpPr/>
          <p:nvPr/>
        </p:nvSpPr>
        <p:spPr>
          <a:xfrm flipH="false" flipV="false" rot="0">
            <a:off x="8320383" y="2215997"/>
            <a:ext cx="697261" cy="390466"/>
          </a:xfrm>
          <a:custGeom>
            <a:avLst/>
            <a:gdLst/>
            <a:ahLst/>
            <a:cxnLst/>
            <a:rect r="r" b="b" t="t" l="l"/>
            <a:pathLst>
              <a:path h="390466" w="697261">
                <a:moveTo>
                  <a:pt x="0" y="0"/>
                </a:moveTo>
                <a:lnTo>
                  <a:pt x="697261" y="0"/>
                </a:lnTo>
                <a:lnTo>
                  <a:pt x="697261" y="390466"/>
                </a:lnTo>
                <a:lnTo>
                  <a:pt x="0" y="390466"/>
                </a:lnTo>
                <a:lnTo>
                  <a:pt x="0" y="0"/>
                </a:lnTo>
                <a:close/>
              </a:path>
            </a:pathLst>
          </a:custGeom>
          <a:blipFill>
            <a:blip r:embed="rId5"/>
            <a:stretch>
              <a:fillRect l="0" t="0" r="0" b="0"/>
            </a:stretch>
          </a:blipFill>
        </p:spPr>
      </p:sp>
      <p:pic>
        <p:nvPicPr>
          <p:cNvPr name="Picture 8" id="8">
            <a:hlinkClick action="ppaction://media"/>
          </p:cNvPr>
          <p:cNvPicPr>
            <a:picLocks noChangeAspect="true"/>
          </p:cNvPicPr>
          <p:nvPr>
            <a:videoFile r:link="rId7"/>
            <p:extLst>
              <p:ext uri="{DAA4B4D4-6D71-4841-9C94-3DE7FCFB9230}">
                <p14:media xmlns:p14="http://schemas.microsoft.com/office/powerpoint/2010/main" r:embed="rId8"/>
              </p:ext>
            </p:extLst>
          </p:nvPr>
        </p:nvPicPr>
        <p:blipFill>
          <a:blip r:embed="rId6"/>
          <a:srcRect l="0" t="0" r="0" b="0"/>
          <a:stretch>
            <a:fillRect/>
          </a:stretch>
        </p:blipFill>
        <p:spPr>
          <a:xfrm flipH="false" flipV="false" rot="0">
            <a:off x="2529567" y="1618238"/>
            <a:ext cx="12976153" cy="7486242"/>
          </a:xfrm>
          <a:prstGeom prst="rect">
            <a:avLst/>
          </a:prstGeom>
        </p:spPr>
      </p:pic>
      <p:sp>
        <p:nvSpPr>
          <p:cNvPr name="TextBox 9" id="9"/>
          <p:cNvSpPr txBox="true"/>
          <p:nvPr/>
        </p:nvSpPr>
        <p:spPr>
          <a:xfrm rot="0">
            <a:off x="1838796" y="7736678"/>
            <a:ext cx="4911981" cy="247269"/>
          </a:xfrm>
          <a:prstGeom prst="rect">
            <a:avLst/>
          </a:prstGeom>
        </p:spPr>
        <p:txBody>
          <a:bodyPr anchor="t" rtlCol="false" tIns="0" lIns="0" bIns="0" rIns="0">
            <a:spAutoFit/>
          </a:bodyPr>
          <a:lstStyle/>
          <a:p>
            <a:pPr algn="l">
              <a:lnSpc>
                <a:spcPts val="2058"/>
              </a:lnSpc>
            </a:pPr>
          </a:p>
        </p:txBody>
      </p:sp>
      <p:sp>
        <p:nvSpPr>
          <p:cNvPr name="Freeform 10" id="10"/>
          <p:cNvSpPr/>
          <p:nvPr/>
        </p:nvSpPr>
        <p:spPr>
          <a:xfrm flipH="false" flipV="false" rot="0">
            <a:off x="6912349" y="7055320"/>
            <a:ext cx="3999020" cy="824042"/>
          </a:xfrm>
          <a:custGeom>
            <a:avLst/>
            <a:gdLst/>
            <a:ahLst/>
            <a:cxnLst/>
            <a:rect r="r" b="b" t="t" l="l"/>
            <a:pathLst>
              <a:path h="824042" w="3999020">
                <a:moveTo>
                  <a:pt x="0" y="0"/>
                </a:moveTo>
                <a:lnTo>
                  <a:pt x="3999021" y="0"/>
                </a:lnTo>
                <a:lnTo>
                  <a:pt x="3999021" y="824043"/>
                </a:lnTo>
                <a:lnTo>
                  <a:pt x="0" y="824043"/>
                </a:lnTo>
                <a:lnTo>
                  <a:pt x="0" y="0"/>
                </a:lnTo>
                <a:close/>
              </a:path>
            </a:pathLst>
          </a:custGeom>
          <a:blipFill>
            <a:blip r:embed="rId5"/>
            <a:stretch>
              <a:fillRect l="-3674" t="-190277" r="-3674" b="-1460"/>
            </a:stretch>
          </a:blipFill>
        </p:spPr>
      </p:sp>
      <p:sp>
        <p:nvSpPr>
          <p:cNvPr name="Freeform 11" id="11"/>
          <p:cNvSpPr/>
          <p:nvPr/>
        </p:nvSpPr>
        <p:spPr>
          <a:xfrm flipH="false" flipV="false" rot="0">
            <a:off x="-262605" y="-556056"/>
            <a:ext cx="4202802" cy="2362325"/>
          </a:xfrm>
          <a:custGeom>
            <a:avLst/>
            <a:gdLst/>
            <a:ahLst/>
            <a:cxnLst/>
            <a:rect r="r" b="b" t="t" l="l"/>
            <a:pathLst>
              <a:path h="2362325" w="4202802">
                <a:moveTo>
                  <a:pt x="0" y="0"/>
                </a:moveTo>
                <a:lnTo>
                  <a:pt x="4202802" y="0"/>
                </a:lnTo>
                <a:lnTo>
                  <a:pt x="4202802" y="2362326"/>
                </a:lnTo>
                <a:lnTo>
                  <a:pt x="0" y="2362326"/>
                </a:lnTo>
                <a:lnTo>
                  <a:pt x="0" y="0"/>
                </a:lnTo>
                <a:close/>
              </a:path>
            </a:pathLst>
          </a:custGeom>
          <a:blipFill>
            <a:blip r:embed="rId9">
              <a:alphaModFix amt="37000"/>
            </a:blip>
            <a:stretch>
              <a:fillRect l="0" t="0" r="0" b="0"/>
            </a:stretch>
          </a:blipFill>
        </p:spPr>
      </p:sp>
    </p:spTree>
  </p:cSld>
  <p:clrMapOvr>
    <a:masterClrMapping/>
  </p:clrMapOvr>
  <p:timing>
    <p:tnLst>
      <p:par>
        <p:cTn dur="indefinite" restart="never" nodeType="tmRoot">
          <p:childTnLst>
            <p:video>
              <p:cMediaNode vol="0">
                <p:cTn fill="hold" display="false">
                  <p:stCondLst>
                    <p:cond delay="indefinite"/>
                  </p:stCondLst>
                </p:cTn>
                <p:tgtEl>
                  <p:spTgt spid="8"/>
                </p:tgtEl>
              </p:cMediaNode>
            </p:video>
          </p:childTnLst>
        </p:cTn>
      </p:par>
    </p:tnLst>
  </p:timing>
</p:sld>
</file>

<file path=ppt/slides/slide84.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2923865">
            <a:off x="-2984685" y="1184351"/>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5400000">
            <a:off x="8046708" y="385825"/>
            <a:ext cx="11245538" cy="9778557"/>
            <a:chOff x="0" y="0"/>
            <a:chExt cx="2961788" cy="2575423"/>
          </a:xfrm>
        </p:grpSpPr>
        <p:sp>
          <p:nvSpPr>
            <p:cNvPr name="Freeform 4" id="4"/>
            <p:cNvSpPr/>
            <p:nvPr/>
          </p:nvSpPr>
          <p:spPr>
            <a:xfrm flipH="false" flipV="false" rot="0">
              <a:off x="0" y="0"/>
              <a:ext cx="2961788" cy="2575422"/>
            </a:xfrm>
            <a:custGeom>
              <a:avLst/>
              <a:gdLst/>
              <a:ahLst/>
              <a:cxnLst/>
              <a:rect r="r" b="b" t="t" l="l"/>
              <a:pathLst>
                <a:path h="2575422" w="2961788">
                  <a:moveTo>
                    <a:pt x="0" y="0"/>
                  </a:moveTo>
                  <a:lnTo>
                    <a:pt x="2961788" y="0"/>
                  </a:lnTo>
                  <a:lnTo>
                    <a:pt x="2961788" y="2575422"/>
                  </a:lnTo>
                  <a:lnTo>
                    <a:pt x="0" y="2575422"/>
                  </a:lnTo>
                  <a:close/>
                </a:path>
              </a:pathLst>
            </a:custGeom>
            <a:solidFill>
              <a:srgbClr val="192253"/>
            </a:solidFill>
          </p:spPr>
        </p:sp>
        <p:sp>
          <p:nvSpPr>
            <p:cNvPr name="TextBox 5" id="5"/>
            <p:cNvSpPr txBox="true"/>
            <p:nvPr/>
          </p:nvSpPr>
          <p:spPr>
            <a:xfrm>
              <a:off x="0" y="-28575"/>
              <a:ext cx="2961788" cy="2603998"/>
            </a:xfrm>
            <a:prstGeom prst="rect">
              <a:avLst/>
            </a:prstGeom>
          </p:spPr>
          <p:txBody>
            <a:bodyPr anchor="ctr" rtlCol="false" tIns="50800" lIns="50800" bIns="50800" rIns="50800"/>
            <a:lstStyle/>
            <a:p>
              <a:pPr algn="ctr">
                <a:lnSpc>
                  <a:spcPts val="1869"/>
                </a:lnSpc>
              </a:pPr>
            </a:p>
          </p:txBody>
        </p:sp>
      </p:grpSp>
      <p:sp>
        <p:nvSpPr>
          <p:cNvPr name="AutoShape 6" id="6"/>
          <p:cNvSpPr/>
          <p:nvPr/>
        </p:nvSpPr>
        <p:spPr>
          <a:xfrm flipH="true" flipV="true">
            <a:off x="-488525" y="8289279"/>
            <a:ext cx="15156557" cy="0"/>
          </a:xfrm>
          <a:prstGeom prst="line">
            <a:avLst/>
          </a:prstGeom>
          <a:ln cap="flat" w="76200">
            <a:solidFill>
              <a:srgbClr val="C23A97"/>
            </a:solidFill>
            <a:prstDash val="solid"/>
            <a:headEnd type="none" len="sm" w="sm"/>
            <a:tailEnd type="none" len="sm" w="sm"/>
          </a:ln>
        </p:spPr>
      </p:sp>
      <p:sp>
        <p:nvSpPr>
          <p:cNvPr name="AutoShape 7" id="7"/>
          <p:cNvSpPr/>
          <p:nvPr/>
        </p:nvSpPr>
        <p:spPr>
          <a:xfrm flipH="true">
            <a:off x="10559239" y="2561194"/>
            <a:ext cx="8347436" cy="0"/>
          </a:xfrm>
          <a:prstGeom prst="line">
            <a:avLst/>
          </a:prstGeom>
          <a:ln cap="flat" w="76200">
            <a:solidFill>
              <a:srgbClr val="F5F5F5"/>
            </a:solidFill>
            <a:prstDash val="solid"/>
            <a:headEnd type="none" len="sm" w="sm"/>
            <a:tailEnd type="none" len="sm" w="sm"/>
          </a:ln>
        </p:spPr>
      </p:sp>
      <p:sp>
        <p:nvSpPr>
          <p:cNvPr name="TextBox 8" id="8"/>
          <p:cNvSpPr txBox="true"/>
          <p:nvPr/>
        </p:nvSpPr>
        <p:spPr>
          <a:xfrm rot="0">
            <a:off x="10970788" y="3709962"/>
            <a:ext cx="7106583" cy="2953385"/>
          </a:xfrm>
          <a:prstGeom prst="rect">
            <a:avLst/>
          </a:prstGeom>
        </p:spPr>
        <p:txBody>
          <a:bodyPr anchor="t" rtlCol="false" tIns="0" lIns="0" bIns="0" rIns="0">
            <a:spAutoFit/>
          </a:bodyPr>
          <a:lstStyle/>
          <a:p>
            <a:pPr algn="l">
              <a:lnSpc>
                <a:spcPts val="5830"/>
              </a:lnSpc>
            </a:pPr>
            <a:r>
              <a:rPr lang="en-US" sz="5300" spc="169" b="true">
                <a:solidFill>
                  <a:srgbClr val="FFFFFF"/>
                </a:solidFill>
                <a:latin typeface="Open Sauce Bold"/>
                <a:ea typeface="Open Sauce Bold"/>
                <a:cs typeface="Open Sauce Bold"/>
                <a:sym typeface="Open Sauce Bold"/>
              </a:rPr>
              <a:t>Python Cheminformatics - An End to End Project</a:t>
            </a:r>
          </a:p>
        </p:txBody>
      </p:sp>
      <p:sp>
        <p:nvSpPr>
          <p:cNvPr name="Freeform 9" id="9"/>
          <p:cNvSpPr/>
          <p:nvPr/>
        </p:nvSpPr>
        <p:spPr>
          <a:xfrm flipH="false" flipV="false" rot="0">
            <a:off x="14459673" y="-556056"/>
            <a:ext cx="4202802" cy="2362325"/>
          </a:xfrm>
          <a:custGeom>
            <a:avLst/>
            <a:gdLst/>
            <a:ahLst/>
            <a:cxnLst/>
            <a:rect r="r" b="b" t="t" l="l"/>
            <a:pathLst>
              <a:path h="2362325" w="4202802">
                <a:moveTo>
                  <a:pt x="0" y="0"/>
                </a:moveTo>
                <a:lnTo>
                  <a:pt x="4202803" y="0"/>
                </a:lnTo>
                <a:lnTo>
                  <a:pt x="4202803" y="2362326"/>
                </a:lnTo>
                <a:lnTo>
                  <a:pt x="0" y="2362326"/>
                </a:lnTo>
                <a:lnTo>
                  <a:pt x="0" y="0"/>
                </a:lnTo>
                <a:close/>
              </a:path>
            </a:pathLst>
          </a:custGeom>
          <a:blipFill>
            <a:blip r:embed="rId4">
              <a:alphaModFix amt="37000"/>
            </a:blip>
            <a:stretch>
              <a:fillRect l="0" t="0" r="0" b="0"/>
            </a:stretch>
          </a:blipFill>
        </p:spPr>
      </p:sp>
    </p:spTree>
  </p:cSld>
  <p:clrMapOvr>
    <a:masterClrMapping/>
  </p:clrMapOvr>
</p:sld>
</file>

<file path=ppt/slides/slide85.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8100000">
            <a:off x="-5281063" y="-2431920"/>
            <a:ext cx="16893429" cy="10074627"/>
          </a:xfrm>
          <a:custGeom>
            <a:avLst/>
            <a:gdLst/>
            <a:ahLst/>
            <a:cxnLst/>
            <a:rect r="r" b="b" t="t" l="l"/>
            <a:pathLst>
              <a:path h="10074627" w="16893429">
                <a:moveTo>
                  <a:pt x="0" y="0"/>
                </a:moveTo>
                <a:lnTo>
                  <a:pt x="16893430" y="0"/>
                </a:lnTo>
                <a:lnTo>
                  <a:pt x="16893430" y="10074627"/>
                </a:lnTo>
                <a:lnTo>
                  <a:pt x="0" y="100746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66398" y="1333975"/>
            <a:ext cx="15433919" cy="7619050"/>
            <a:chOff x="0" y="0"/>
            <a:chExt cx="4064900" cy="2006663"/>
          </a:xfrm>
        </p:grpSpPr>
        <p:sp>
          <p:nvSpPr>
            <p:cNvPr name="Freeform 4" id="4"/>
            <p:cNvSpPr/>
            <p:nvPr/>
          </p:nvSpPr>
          <p:spPr>
            <a:xfrm flipH="false" flipV="false" rot="0">
              <a:off x="0" y="0"/>
              <a:ext cx="4064900" cy="2006663"/>
            </a:xfrm>
            <a:custGeom>
              <a:avLst/>
              <a:gdLst/>
              <a:ahLst/>
              <a:cxnLst/>
              <a:rect r="r" b="b" t="t" l="l"/>
              <a:pathLst>
                <a:path h="2006663" w="4064900">
                  <a:moveTo>
                    <a:pt x="0" y="0"/>
                  </a:moveTo>
                  <a:lnTo>
                    <a:pt x="4064900" y="0"/>
                  </a:lnTo>
                  <a:lnTo>
                    <a:pt x="4064900" y="2006663"/>
                  </a:lnTo>
                  <a:lnTo>
                    <a:pt x="0" y="200666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64900" cy="2035238"/>
            </a:xfrm>
            <a:prstGeom prst="rect">
              <a:avLst/>
            </a:prstGeom>
          </p:spPr>
          <p:txBody>
            <a:bodyPr anchor="ctr" rtlCol="false" tIns="50800" lIns="50800" bIns="50800" rIns="50800"/>
            <a:lstStyle/>
            <a:p>
              <a:pPr algn="ctr">
                <a:lnSpc>
                  <a:spcPts val="1869"/>
                </a:lnSpc>
              </a:pPr>
            </a:p>
          </p:txBody>
        </p:sp>
      </p:grpSp>
      <p:sp>
        <p:nvSpPr>
          <p:cNvPr name="TextBox 6" id="6"/>
          <p:cNvSpPr txBox="true"/>
          <p:nvPr/>
        </p:nvSpPr>
        <p:spPr>
          <a:xfrm rot="0">
            <a:off x="4691519" y="6717683"/>
            <a:ext cx="4873500" cy="438786"/>
          </a:xfrm>
          <a:prstGeom prst="rect">
            <a:avLst/>
          </a:prstGeom>
        </p:spPr>
        <p:txBody>
          <a:bodyPr anchor="t" rtlCol="false" tIns="0" lIns="0" bIns="0" rIns="0">
            <a:spAutoFit/>
          </a:bodyPr>
          <a:lstStyle/>
          <a:p>
            <a:pPr algn="l">
              <a:lnSpc>
                <a:spcPts val="3639"/>
              </a:lnSpc>
              <a:spcBef>
                <a:spcPct val="0"/>
              </a:spcBef>
            </a:pPr>
            <a:r>
              <a:rPr lang="en-US" sz="2599">
                <a:solidFill>
                  <a:srgbClr val="000000"/>
                </a:solidFill>
                <a:latin typeface="Open Sauce"/>
                <a:ea typeface="Open Sauce"/>
                <a:cs typeface="Open Sauce"/>
                <a:sym typeface="Open Sauce"/>
              </a:rPr>
              <a:t>ML in Drug Discovery</a:t>
            </a:r>
          </a:p>
        </p:txBody>
      </p:sp>
      <p:grpSp>
        <p:nvGrpSpPr>
          <p:cNvPr name="Group 7" id="7"/>
          <p:cNvGrpSpPr/>
          <p:nvPr/>
        </p:nvGrpSpPr>
        <p:grpSpPr>
          <a:xfrm rot="0">
            <a:off x="3417346" y="4493536"/>
            <a:ext cx="898829" cy="939201"/>
            <a:chOff x="0" y="0"/>
            <a:chExt cx="1198439" cy="1252268"/>
          </a:xfrm>
        </p:grpSpPr>
        <p:grpSp>
          <p:nvGrpSpPr>
            <p:cNvPr name="Group 8" id="8"/>
            <p:cNvGrpSpPr/>
            <p:nvPr/>
          </p:nvGrpSpPr>
          <p:grpSpPr>
            <a:xfrm rot="0">
              <a:off x="0" y="0"/>
              <a:ext cx="1198439" cy="1252268"/>
              <a:chOff x="0" y="0"/>
              <a:chExt cx="354711" cy="370643"/>
            </a:xfrm>
          </p:grpSpPr>
          <p:sp>
            <p:nvSpPr>
              <p:cNvPr name="Freeform 9" id="9"/>
              <p:cNvSpPr/>
              <p:nvPr/>
            </p:nvSpPr>
            <p:spPr>
              <a:xfrm flipH="false" flipV="false" rot="0">
                <a:off x="0" y="0"/>
                <a:ext cx="354711" cy="370643"/>
              </a:xfrm>
              <a:custGeom>
                <a:avLst/>
                <a:gdLst/>
                <a:ahLst/>
                <a:cxnLst/>
                <a:rect r="r" b="b" t="t" l="l"/>
                <a:pathLst>
                  <a:path h="370643" w="354711">
                    <a:moveTo>
                      <a:pt x="0" y="0"/>
                    </a:moveTo>
                    <a:lnTo>
                      <a:pt x="354711" y="0"/>
                    </a:lnTo>
                    <a:lnTo>
                      <a:pt x="354711" y="370643"/>
                    </a:lnTo>
                    <a:lnTo>
                      <a:pt x="0" y="370643"/>
                    </a:lnTo>
                    <a:close/>
                  </a:path>
                </a:pathLst>
              </a:custGeom>
              <a:gradFill rotWithShape="true">
                <a:gsLst>
                  <a:gs pos="0">
                    <a:srgbClr val="B34593">
                      <a:alpha val="100000"/>
                    </a:srgbClr>
                  </a:gs>
                  <a:gs pos="100000">
                    <a:srgbClr val="151F52">
                      <a:alpha val="100000"/>
                    </a:srgbClr>
                  </a:gs>
                </a:gsLst>
                <a:lin ang="5400000"/>
              </a:gradFill>
            </p:spPr>
          </p:sp>
          <p:sp>
            <p:nvSpPr>
              <p:cNvPr name="TextBox 10" id="10"/>
              <p:cNvSpPr txBox="true"/>
              <p:nvPr/>
            </p:nvSpPr>
            <p:spPr>
              <a:xfrm>
                <a:off x="0" y="-38100"/>
                <a:ext cx="354711" cy="408743"/>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0" y="82960"/>
              <a:ext cx="1198439" cy="1000622"/>
            </a:xfrm>
            <a:prstGeom prst="rect">
              <a:avLst/>
            </a:prstGeom>
          </p:spPr>
          <p:txBody>
            <a:bodyPr anchor="t" rtlCol="false" tIns="0" lIns="0" bIns="0" rIns="0">
              <a:spAutoFit/>
            </a:bodyPr>
            <a:lstStyle/>
            <a:p>
              <a:pPr algn="ctr">
                <a:lnSpc>
                  <a:spcPts val="6369"/>
                </a:lnSpc>
                <a:spcBef>
                  <a:spcPct val="0"/>
                </a:spcBef>
              </a:pPr>
              <a:r>
                <a:rPr lang="en-US" b="true" sz="4549">
                  <a:solidFill>
                    <a:srgbClr val="FFFFFF"/>
                  </a:solidFill>
                  <a:latin typeface="Open Sauce Medium"/>
                  <a:ea typeface="Open Sauce Medium"/>
                  <a:cs typeface="Open Sauce Medium"/>
                  <a:sym typeface="Open Sauce Medium"/>
                </a:rPr>
                <a:t>01</a:t>
              </a:r>
            </a:p>
          </p:txBody>
        </p:sp>
      </p:grpSp>
      <p:sp>
        <p:nvSpPr>
          <p:cNvPr name="TextBox 12" id="12"/>
          <p:cNvSpPr txBox="true"/>
          <p:nvPr/>
        </p:nvSpPr>
        <p:spPr>
          <a:xfrm rot="0">
            <a:off x="4691519" y="4509458"/>
            <a:ext cx="3736180" cy="895986"/>
          </a:xfrm>
          <a:prstGeom prst="rect">
            <a:avLst/>
          </a:prstGeom>
        </p:spPr>
        <p:txBody>
          <a:bodyPr anchor="t" rtlCol="false" tIns="0" lIns="0" bIns="0" rIns="0">
            <a:spAutoFit/>
          </a:bodyPr>
          <a:lstStyle/>
          <a:p>
            <a:pPr algn="l">
              <a:lnSpc>
                <a:spcPts val="3639"/>
              </a:lnSpc>
              <a:spcBef>
                <a:spcPct val="0"/>
              </a:spcBef>
            </a:pPr>
            <a:r>
              <a:rPr lang="en-US" sz="2599">
                <a:solidFill>
                  <a:srgbClr val="000000"/>
                </a:solidFill>
                <a:latin typeface="Open Sauce"/>
                <a:ea typeface="Open Sauce"/>
                <a:cs typeface="Open Sauce"/>
                <a:sym typeface="Open Sauce"/>
              </a:rPr>
              <a:t>Chemical Structure Analysis Fundamentals</a:t>
            </a:r>
          </a:p>
        </p:txBody>
      </p:sp>
      <p:sp>
        <p:nvSpPr>
          <p:cNvPr name="TextBox 13" id="13"/>
          <p:cNvSpPr txBox="true"/>
          <p:nvPr/>
        </p:nvSpPr>
        <p:spPr>
          <a:xfrm rot="0">
            <a:off x="10835323" y="4704714"/>
            <a:ext cx="6064822" cy="438786"/>
          </a:xfrm>
          <a:prstGeom prst="rect">
            <a:avLst/>
          </a:prstGeom>
        </p:spPr>
        <p:txBody>
          <a:bodyPr anchor="t" rtlCol="false" tIns="0" lIns="0" bIns="0" rIns="0">
            <a:spAutoFit/>
          </a:bodyPr>
          <a:lstStyle/>
          <a:p>
            <a:pPr algn="l">
              <a:lnSpc>
                <a:spcPts val="3639"/>
              </a:lnSpc>
              <a:spcBef>
                <a:spcPct val="0"/>
              </a:spcBef>
            </a:pPr>
            <a:r>
              <a:rPr lang="en-US" sz="2599">
                <a:solidFill>
                  <a:srgbClr val="000000"/>
                </a:solidFill>
                <a:latin typeface="Open Sauce"/>
                <a:ea typeface="Open Sauce"/>
                <a:cs typeface="Open Sauce"/>
                <a:sym typeface="Open Sauce"/>
              </a:rPr>
              <a:t>RDKit Workflow</a:t>
            </a:r>
          </a:p>
        </p:txBody>
      </p:sp>
      <p:sp>
        <p:nvSpPr>
          <p:cNvPr name="TextBox 14" id="14"/>
          <p:cNvSpPr txBox="true"/>
          <p:nvPr/>
        </p:nvSpPr>
        <p:spPr>
          <a:xfrm rot="0">
            <a:off x="3423303" y="3011793"/>
            <a:ext cx="11442900" cy="1009650"/>
          </a:xfrm>
          <a:prstGeom prst="rect">
            <a:avLst/>
          </a:prstGeom>
        </p:spPr>
        <p:txBody>
          <a:bodyPr anchor="t" rtlCol="false" tIns="0" lIns="0" bIns="0" rIns="0">
            <a:spAutoFit/>
          </a:bodyPr>
          <a:lstStyle/>
          <a:p>
            <a:pPr algn="ctr">
              <a:lnSpc>
                <a:spcPts val="7920"/>
              </a:lnSpc>
            </a:pPr>
            <a:r>
              <a:rPr lang="en-US" sz="6600" b="true">
                <a:solidFill>
                  <a:srgbClr val="000000"/>
                </a:solidFill>
                <a:latin typeface="Open Sauce Medium"/>
                <a:ea typeface="Open Sauce Medium"/>
                <a:cs typeface="Open Sauce Medium"/>
                <a:sym typeface="Open Sauce Medium"/>
              </a:rPr>
              <a:t>Learning Outcomes </a:t>
            </a:r>
          </a:p>
        </p:txBody>
      </p:sp>
      <p:grpSp>
        <p:nvGrpSpPr>
          <p:cNvPr name="Group 15" id="15"/>
          <p:cNvGrpSpPr/>
          <p:nvPr/>
        </p:nvGrpSpPr>
        <p:grpSpPr>
          <a:xfrm rot="0">
            <a:off x="9565018" y="4478643"/>
            <a:ext cx="898829" cy="939201"/>
            <a:chOff x="0" y="0"/>
            <a:chExt cx="1198439" cy="1252268"/>
          </a:xfrm>
        </p:grpSpPr>
        <p:grpSp>
          <p:nvGrpSpPr>
            <p:cNvPr name="Group 16" id="16"/>
            <p:cNvGrpSpPr/>
            <p:nvPr/>
          </p:nvGrpSpPr>
          <p:grpSpPr>
            <a:xfrm rot="0">
              <a:off x="0" y="0"/>
              <a:ext cx="1198439" cy="1252268"/>
              <a:chOff x="0" y="0"/>
              <a:chExt cx="354711" cy="370643"/>
            </a:xfrm>
          </p:grpSpPr>
          <p:sp>
            <p:nvSpPr>
              <p:cNvPr name="Freeform 17" id="17"/>
              <p:cNvSpPr/>
              <p:nvPr/>
            </p:nvSpPr>
            <p:spPr>
              <a:xfrm flipH="false" flipV="false" rot="0">
                <a:off x="0" y="0"/>
                <a:ext cx="354711" cy="370643"/>
              </a:xfrm>
              <a:custGeom>
                <a:avLst/>
                <a:gdLst/>
                <a:ahLst/>
                <a:cxnLst/>
                <a:rect r="r" b="b" t="t" l="l"/>
                <a:pathLst>
                  <a:path h="370643" w="354711">
                    <a:moveTo>
                      <a:pt x="0" y="0"/>
                    </a:moveTo>
                    <a:lnTo>
                      <a:pt x="354711" y="0"/>
                    </a:lnTo>
                    <a:lnTo>
                      <a:pt x="354711" y="370643"/>
                    </a:lnTo>
                    <a:lnTo>
                      <a:pt x="0" y="370643"/>
                    </a:lnTo>
                    <a:close/>
                  </a:path>
                </a:pathLst>
              </a:custGeom>
              <a:gradFill rotWithShape="true">
                <a:gsLst>
                  <a:gs pos="0">
                    <a:srgbClr val="B34593">
                      <a:alpha val="100000"/>
                    </a:srgbClr>
                  </a:gs>
                  <a:gs pos="100000">
                    <a:srgbClr val="151F52">
                      <a:alpha val="100000"/>
                    </a:srgbClr>
                  </a:gs>
                </a:gsLst>
                <a:lin ang="5400000"/>
              </a:gradFill>
            </p:spPr>
          </p:sp>
          <p:sp>
            <p:nvSpPr>
              <p:cNvPr name="TextBox 18" id="18"/>
              <p:cNvSpPr txBox="true"/>
              <p:nvPr/>
            </p:nvSpPr>
            <p:spPr>
              <a:xfrm>
                <a:off x="0" y="-38100"/>
                <a:ext cx="354711" cy="408743"/>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0" y="82960"/>
              <a:ext cx="1198439" cy="1000622"/>
            </a:xfrm>
            <a:prstGeom prst="rect">
              <a:avLst/>
            </a:prstGeom>
          </p:spPr>
          <p:txBody>
            <a:bodyPr anchor="t" rtlCol="false" tIns="0" lIns="0" bIns="0" rIns="0">
              <a:spAutoFit/>
            </a:bodyPr>
            <a:lstStyle/>
            <a:p>
              <a:pPr algn="ctr">
                <a:lnSpc>
                  <a:spcPts val="6369"/>
                </a:lnSpc>
                <a:spcBef>
                  <a:spcPct val="0"/>
                </a:spcBef>
              </a:pPr>
              <a:r>
                <a:rPr lang="en-US" b="true" sz="4549">
                  <a:solidFill>
                    <a:srgbClr val="FFFFFF"/>
                  </a:solidFill>
                  <a:latin typeface="Open Sauce Medium"/>
                  <a:ea typeface="Open Sauce Medium"/>
                  <a:cs typeface="Open Sauce Medium"/>
                  <a:sym typeface="Open Sauce Medium"/>
                </a:rPr>
                <a:t>02</a:t>
              </a:r>
            </a:p>
          </p:txBody>
        </p:sp>
      </p:grpSp>
      <p:grpSp>
        <p:nvGrpSpPr>
          <p:cNvPr name="Group 20" id="20"/>
          <p:cNvGrpSpPr/>
          <p:nvPr/>
        </p:nvGrpSpPr>
        <p:grpSpPr>
          <a:xfrm rot="0">
            <a:off x="3417346" y="6491288"/>
            <a:ext cx="898829" cy="939201"/>
            <a:chOff x="0" y="0"/>
            <a:chExt cx="1198439" cy="1252268"/>
          </a:xfrm>
        </p:grpSpPr>
        <p:grpSp>
          <p:nvGrpSpPr>
            <p:cNvPr name="Group 21" id="21"/>
            <p:cNvGrpSpPr/>
            <p:nvPr/>
          </p:nvGrpSpPr>
          <p:grpSpPr>
            <a:xfrm rot="0">
              <a:off x="0" y="0"/>
              <a:ext cx="1198439" cy="1252268"/>
              <a:chOff x="0" y="0"/>
              <a:chExt cx="354711" cy="370643"/>
            </a:xfrm>
          </p:grpSpPr>
          <p:sp>
            <p:nvSpPr>
              <p:cNvPr name="Freeform 22" id="22"/>
              <p:cNvSpPr/>
              <p:nvPr/>
            </p:nvSpPr>
            <p:spPr>
              <a:xfrm flipH="false" flipV="false" rot="0">
                <a:off x="0" y="0"/>
                <a:ext cx="354711" cy="370643"/>
              </a:xfrm>
              <a:custGeom>
                <a:avLst/>
                <a:gdLst/>
                <a:ahLst/>
                <a:cxnLst/>
                <a:rect r="r" b="b" t="t" l="l"/>
                <a:pathLst>
                  <a:path h="370643" w="354711">
                    <a:moveTo>
                      <a:pt x="0" y="0"/>
                    </a:moveTo>
                    <a:lnTo>
                      <a:pt x="354711" y="0"/>
                    </a:lnTo>
                    <a:lnTo>
                      <a:pt x="354711" y="370643"/>
                    </a:lnTo>
                    <a:lnTo>
                      <a:pt x="0" y="370643"/>
                    </a:lnTo>
                    <a:close/>
                  </a:path>
                </a:pathLst>
              </a:custGeom>
              <a:gradFill rotWithShape="true">
                <a:gsLst>
                  <a:gs pos="0">
                    <a:srgbClr val="B34593">
                      <a:alpha val="100000"/>
                    </a:srgbClr>
                  </a:gs>
                  <a:gs pos="100000">
                    <a:srgbClr val="151F52">
                      <a:alpha val="100000"/>
                    </a:srgbClr>
                  </a:gs>
                </a:gsLst>
                <a:lin ang="5400000"/>
              </a:gradFill>
            </p:spPr>
          </p:sp>
          <p:sp>
            <p:nvSpPr>
              <p:cNvPr name="TextBox 23" id="23"/>
              <p:cNvSpPr txBox="true"/>
              <p:nvPr/>
            </p:nvSpPr>
            <p:spPr>
              <a:xfrm>
                <a:off x="0" y="-38100"/>
                <a:ext cx="354711" cy="408743"/>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0" y="82960"/>
              <a:ext cx="1198439" cy="1000622"/>
            </a:xfrm>
            <a:prstGeom prst="rect">
              <a:avLst/>
            </a:prstGeom>
          </p:spPr>
          <p:txBody>
            <a:bodyPr anchor="t" rtlCol="false" tIns="0" lIns="0" bIns="0" rIns="0">
              <a:spAutoFit/>
            </a:bodyPr>
            <a:lstStyle/>
            <a:p>
              <a:pPr algn="ctr">
                <a:lnSpc>
                  <a:spcPts val="6369"/>
                </a:lnSpc>
                <a:spcBef>
                  <a:spcPct val="0"/>
                </a:spcBef>
              </a:pPr>
              <a:r>
                <a:rPr lang="en-US" b="true" sz="4549">
                  <a:solidFill>
                    <a:srgbClr val="FFFFFF"/>
                  </a:solidFill>
                  <a:latin typeface="Open Sauce Medium"/>
                  <a:ea typeface="Open Sauce Medium"/>
                  <a:cs typeface="Open Sauce Medium"/>
                  <a:sym typeface="Open Sauce Medium"/>
                </a:rPr>
                <a:t>03</a:t>
              </a:r>
            </a:p>
          </p:txBody>
        </p:sp>
      </p:grpSp>
      <p:sp>
        <p:nvSpPr>
          <p:cNvPr name="TextBox 25" id="25"/>
          <p:cNvSpPr txBox="true"/>
          <p:nvPr/>
        </p:nvSpPr>
        <p:spPr>
          <a:xfrm rot="0">
            <a:off x="10900637" y="6717683"/>
            <a:ext cx="4873500" cy="438786"/>
          </a:xfrm>
          <a:prstGeom prst="rect">
            <a:avLst/>
          </a:prstGeom>
        </p:spPr>
        <p:txBody>
          <a:bodyPr anchor="t" rtlCol="false" tIns="0" lIns="0" bIns="0" rIns="0">
            <a:spAutoFit/>
          </a:bodyPr>
          <a:lstStyle/>
          <a:p>
            <a:pPr algn="l">
              <a:lnSpc>
                <a:spcPts val="3639"/>
              </a:lnSpc>
              <a:spcBef>
                <a:spcPct val="0"/>
              </a:spcBef>
            </a:pPr>
            <a:r>
              <a:rPr lang="en-US" sz="2599">
                <a:solidFill>
                  <a:srgbClr val="000000"/>
                </a:solidFill>
                <a:latin typeface="Open Sauce"/>
                <a:ea typeface="Open Sauce"/>
                <a:cs typeface="Open Sauce"/>
                <a:sym typeface="Open Sauce"/>
              </a:rPr>
              <a:t>Best Practices</a:t>
            </a:r>
          </a:p>
        </p:txBody>
      </p:sp>
      <p:grpSp>
        <p:nvGrpSpPr>
          <p:cNvPr name="Group 26" id="26"/>
          <p:cNvGrpSpPr/>
          <p:nvPr/>
        </p:nvGrpSpPr>
        <p:grpSpPr>
          <a:xfrm rot="0">
            <a:off x="9626463" y="6491288"/>
            <a:ext cx="898829" cy="939201"/>
            <a:chOff x="0" y="0"/>
            <a:chExt cx="1198439" cy="1252268"/>
          </a:xfrm>
        </p:grpSpPr>
        <p:grpSp>
          <p:nvGrpSpPr>
            <p:cNvPr name="Group 27" id="27"/>
            <p:cNvGrpSpPr/>
            <p:nvPr/>
          </p:nvGrpSpPr>
          <p:grpSpPr>
            <a:xfrm rot="0">
              <a:off x="0" y="0"/>
              <a:ext cx="1198439" cy="1252268"/>
              <a:chOff x="0" y="0"/>
              <a:chExt cx="354711" cy="370643"/>
            </a:xfrm>
          </p:grpSpPr>
          <p:sp>
            <p:nvSpPr>
              <p:cNvPr name="Freeform 28" id="28"/>
              <p:cNvSpPr/>
              <p:nvPr/>
            </p:nvSpPr>
            <p:spPr>
              <a:xfrm flipH="false" flipV="false" rot="0">
                <a:off x="0" y="0"/>
                <a:ext cx="354711" cy="370643"/>
              </a:xfrm>
              <a:custGeom>
                <a:avLst/>
                <a:gdLst/>
                <a:ahLst/>
                <a:cxnLst/>
                <a:rect r="r" b="b" t="t" l="l"/>
                <a:pathLst>
                  <a:path h="370643" w="354711">
                    <a:moveTo>
                      <a:pt x="0" y="0"/>
                    </a:moveTo>
                    <a:lnTo>
                      <a:pt x="354711" y="0"/>
                    </a:lnTo>
                    <a:lnTo>
                      <a:pt x="354711" y="370643"/>
                    </a:lnTo>
                    <a:lnTo>
                      <a:pt x="0" y="370643"/>
                    </a:lnTo>
                    <a:close/>
                  </a:path>
                </a:pathLst>
              </a:custGeom>
              <a:gradFill rotWithShape="true">
                <a:gsLst>
                  <a:gs pos="0">
                    <a:srgbClr val="B34593">
                      <a:alpha val="100000"/>
                    </a:srgbClr>
                  </a:gs>
                  <a:gs pos="100000">
                    <a:srgbClr val="151F52">
                      <a:alpha val="100000"/>
                    </a:srgbClr>
                  </a:gs>
                </a:gsLst>
                <a:lin ang="5400000"/>
              </a:gradFill>
            </p:spPr>
          </p:sp>
          <p:sp>
            <p:nvSpPr>
              <p:cNvPr name="TextBox 29" id="29"/>
              <p:cNvSpPr txBox="true"/>
              <p:nvPr/>
            </p:nvSpPr>
            <p:spPr>
              <a:xfrm>
                <a:off x="0" y="-38100"/>
                <a:ext cx="354711" cy="408743"/>
              </a:xfrm>
              <a:prstGeom prst="rect">
                <a:avLst/>
              </a:prstGeom>
            </p:spPr>
            <p:txBody>
              <a:bodyPr anchor="ctr" rtlCol="false" tIns="50800" lIns="50800" bIns="50800" rIns="50800"/>
              <a:lstStyle/>
              <a:p>
                <a:pPr algn="ctr">
                  <a:lnSpc>
                    <a:spcPts val="2659"/>
                  </a:lnSpc>
                </a:pPr>
              </a:p>
            </p:txBody>
          </p:sp>
        </p:grpSp>
        <p:sp>
          <p:nvSpPr>
            <p:cNvPr name="TextBox 30" id="30"/>
            <p:cNvSpPr txBox="true"/>
            <p:nvPr/>
          </p:nvSpPr>
          <p:spPr>
            <a:xfrm rot="0">
              <a:off x="0" y="82960"/>
              <a:ext cx="1198439" cy="1000622"/>
            </a:xfrm>
            <a:prstGeom prst="rect">
              <a:avLst/>
            </a:prstGeom>
          </p:spPr>
          <p:txBody>
            <a:bodyPr anchor="t" rtlCol="false" tIns="0" lIns="0" bIns="0" rIns="0">
              <a:spAutoFit/>
            </a:bodyPr>
            <a:lstStyle/>
            <a:p>
              <a:pPr algn="ctr">
                <a:lnSpc>
                  <a:spcPts val="6369"/>
                </a:lnSpc>
                <a:spcBef>
                  <a:spcPct val="0"/>
                </a:spcBef>
              </a:pPr>
              <a:r>
                <a:rPr lang="en-US" b="true" sz="4549">
                  <a:solidFill>
                    <a:srgbClr val="FFFFFF"/>
                  </a:solidFill>
                  <a:latin typeface="Open Sauce Medium"/>
                  <a:ea typeface="Open Sauce Medium"/>
                  <a:cs typeface="Open Sauce Medium"/>
                  <a:sym typeface="Open Sauce Medium"/>
                </a:rPr>
                <a:t>04</a:t>
              </a:r>
            </a:p>
          </p:txBody>
        </p:sp>
      </p:grpSp>
      <p:sp>
        <p:nvSpPr>
          <p:cNvPr name="Freeform 31" id="31"/>
          <p:cNvSpPr/>
          <p:nvPr/>
        </p:nvSpPr>
        <p:spPr>
          <a:xfrm flipH="false" flipV="false" rot="0">
            <a:off x="14459673" y="-556056"/>
            <a:ext cx="4202802" cy="2362325"/>
          </a:xfrm>
          <a:custGeom>
            <a:avLst/>
            <a:gdLst/>
            <a:ahLst/>
            <a:cxnLst/>
            <a:rect r="r" b="b" t="t" l="l"/>
            <a:pathLst>
              <a:path h="2362325" w="4202802">
                <a:moveTo>
                  <a:pt x="0" y="0"/>
                </a:moveTo>
                <a:lnTo>
                  <a:pt x="4202803" y="0"/>
                </a:lnTo>
                <a:lnTo>
                  <a:pt x="4202803" y="2362326"/>
                </a:lnTo>
                <a:lnTo>
                  <a:pt x="0" y="2362326"/>
                </a:lnTo>
                <a:lnTo>
                  <a:pt x="0" y="0"/>
                </a:lnTo>
                <a:close/>
              </a:path>
            </a:pathLst>
          </a:custGeom>
          <a:blipFill>
            <a:blip r:embed="rId4">
              <a:alphaModFix amt="37000"/>
            </a:blip>
            <a:stretch>
              <a:fillRect l="0" t="0" r="0" b="0"/>
            </a:stretch>
          </a:blipFill>
        </p:spPr>
      </p:sp>
    </p:spTree>
  </p:cSld>
  <p:clrMapOvr>
    <a:masterClrMapping/>
  </p:clrMapOvr>
</p:sld>
</file>

<file path=ppt/slides/slide86.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5015114">
            <a:off x="9740863" y="2343404"/>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427040" y="1543144"/>
            <a:ext cx="15433919" cy="7619050"/>
            <a:chOff x="0" y="0"/>
            <a:chExt cx="4064900" cy="2006663"/>
          </a:xfrm>
        </p:grpSpPr>
        <p:sp>
          <p:nvSpPr>
            <p:cNvPr name="Freeform 4" id="4"/>
            <p:cNvSpPr/>
            <p:nvPr/>
          </p:nvSpPr>
          <p:spPr>
            <a:xfrm flipH="false" flipV="false" rot="0">
              <a:off x="0" y="0"/>
              <a:ext cx="4064900" cy="2006663"/>
            </a:xfrm>
            <a:custGeom>
              <a:avLst/>
              <a:gdLst/>
              <a:ahLst/>
              <a:cxnLst/>
              <a:rect r="r" b="b" t="t" l="l"/>
              <a:pathLst>
                <a:path h="2006663" w="4064900">
                  <a:moveTo>
                    <a:pt x="0" y="0"/>
                  </a:moveTo>
                  <a:lnTo>
                    <a:pt x="4064900" y="0"/>
                  </a:lnTo>
                  <a:lnTo>
                    <a:pt x="4064900" y="2006663"/>
                  </a:lnTo>
                  <a:lnTo>
                    <a:pt x="0" y="200666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64900" cy="2035238"/>
            </a:xfrm>
            <a:prstGeom prst="rect">
              <a:avLst/>
            </a:prstGeom>
          </p:spPr>
          <p:txBody>
            <a:bodyPr anchor="ctr" rtlCol="false" tIns="50800" lIns="50800" bIns="50800" rIns="50800"/>
            <a:lstStyle/>
            <a:p>
              <a:pPr algn="ctr">
                <a:lnSpc>
                  <a:spcPts val="1869"/>
                </a:lnSpc>
              </a:pPr>
            </a:p>
          </p:txBody>
        </p:sp>
      </p:grpSp>
      <p:sp>
        <p:nvSpPr>
          <p:cNvPr name="AutoShape 6" id="6"/>
          <p:cNvSpPr/>
          <p:nvPr/>
        </p:nvSpPr>
        <p:spPr>
          <a:xfrm flipV="true">
            <a:off x="8654651" y="2652442"/>
            <a:ext cx="0" cy="5211720"/>
          </a:xfrm>
          <a:prstGeom prst="line">
            <a:avLst/>
          </a:prstGeom>
          <a:ln cap="flat" w="38100">
            <a:solidFill>
              <a:srgbClr val="192253"/>
            </a:solidFill>
            <a:prstDash val="solid"/>
            <a:headEnd type="none" len="sm" w="sm"/>
            <a:tailEnd type="none" len="sm" w="sm"/>
          </a:ln>
        </p:spPr>
      </p:sp>
      <p:grpSp>
        <p:nvGrpSpPr>
          <p:cNvPr name="Group 7" id="7"/>
          <p:cNvGrpSpPr>
            <a:grpSpLocks noChangeAspect="true"/>
          </p:cNvGrpSpPr>
          <p:nvPr/>
        </p:nvGrpSpPr>
        <p:grpSpPr>
          <a:xfrm rot="0">
            <a:off x="8469692" y="2467483"/>
            <a:ext cx="369918" cy="369918"/>
            <a:chOff x="6705600" y="1371600"/>
            <a:chExt cx="10972800" cy="10972800"/>
          </a:xfrm>
        </p:grpSpPr>
        <p:sp>
          <p:nvSpPr>
            <p:cNvPr name="Freeform 8" id="8"/>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9" id="9"/>
          <p:cNvGrpSpPr>
            <a:grpSpLocks noChangeAspect="true"/>
          </p:cNvGrpSpPr>
          <p:nvPr/>
        </p:nvGrpSpPr>
        <p:grpSpPr>
          <a:xfrm rot="0">
            <a:off x="8469692" y="4958541"/>
            <a:ext cx="369918" cy="369918"/>
            <a:chOff x="6705600" y="1371600"/>
            <a:chExt cx="10972800" cy="10972800"/>
          </a:xfrm>
        </p:grpSpPr>
        <p:sp>
          <p:nvSpPr>
            <p:cNvPr name="Freeform 10" id="10"/>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11" id="11"/>
          <p:cNvGrpSpPr>
            <a:grpSpLocks noChangeAspect="true"/>
          </p:cNvGrpSpPr>
          <p:nvPr/>
        </p:nvGrpSpPr>
        <p:grpSpPr>
          <a:xfrm rot="0">
            <a:off x="8469692" y="7679203"/>
            <a:ext cx="369918" cy="369918"/>
            <a:chOff x="6705600" y="1371600"/>
            <a:chExt cx="10972800" cy="10972800"/>
          </a:xfrm>
        </p:grpSpPr>
        <p:sp>
          <p:nvSpPr>
            <p:cNvPr name="Freeform 12" id="12"/>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sp>
        <p:nvSpPr>
          <p:cNvPr name="Freeform 13" id="13"/>
          <p:cNvSpPr/>
          <p:nvPr/>
        </p:nvSpPr>
        <p:spPr>
          <a:xfrm flipH="false" flipV="false" rot="0">
            <a:off x="1915057" y="3411712"/>
            <a:ext cx="6087909" cy="3932460"/>
          </a:xfrm>
          <a:custGeom>
            <a:avLst/>
            <a:gdLst/>
            <a:ahLst/>
            <a:cxnLst/>
            <a:rect r="r" b="b" t="t" l="l"/>
            <a:pathLst>
              <a:path h="3932460" w="6087909">
                <a:moveTo>
                  <a:pt x="0" y="0"/>
                </a:moveTo>
                <a:lnTo>
                  <a:pt x="6087910" y="0"/>
                </a:lnTo>
                <a:lnTo>
                  <a:pt x="6087910" y="3932460"/>
                </a:lnTo>
                <a:lnTo>
                  <a:pt x="0" y="3932460"/>
                </a:lnTo>
                <a:lnTo>
                  <a:pt x="0" y="0"/>
                </a:lnTo>
                <a:close/>
              </a:path>
            </a:pathLst>
          </a:custGeom>
          <a:blipFill>
            <a:blip r:embed="rId4"/>
            <a:stretch>
              <a:fillRect l="0" t="0" r="0" b="0"/>
            </a:stretch>
          </a:blipFill>
        </p:spPr>
      </p:sp>
      <p:sp>
        <p:nvSpPr>
          <p:cNvPr name="TextBox 14" id="14"/>
          <p:cNvSpPr txBox="true"/>
          <p:nvPr/>
        </p:nvSpPr>
        <p:spPr>
          <a:xfrm rot="0">
            <a:off x="9054139" y="2441888"/>
            <a:ext cx="5260448"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RDKit</a:t>
            </a:r>
          </a:p>
        </p:txBody>
      </p:sp>
      <p:sp>
        <p:nvSpPr>
          <p:cNvPr name="TextBox 15" id="15"/>
          <p:cNvSpPr txBox="true"/>
          <p:nvPr/>
        </p:nvSpPr>
        <p:spPr>
          <a:xfrm rot="0">
            <a:off x="9054139" y="4677528"/>
            <a:ext cx="6071459"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Bold"/>
                <a:ea typeface="Open Sauce Bold"/>
                <a:cs typeface="Open Sauce Bold"/>
                <a:sym typeface="Open Sauce Bold"/>
              </a:rPr>
              <a:t>Chem/Draw module</a:t>
            </a:r>
          </a:p>
        </p:txBody>
      </p:sp>
      <p:sp>
        <p:nvSpPr>
          <p:cNvPr name="TextBox 16" id="16"/>
          <p:cNvSpPr txBox="true"/>
          <p:nvPr/>
        </p:nvSpPr>
        <p:spPr>
          <a:xfrm rot="0">
            <a:off x="9054139" y="3164444"/>
            <a:ext cx="7022611" cy="504444"/>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Cheminforamtics library that is widely used in industry. You can think of it like the swiss army knofe for cheminformatics </a:t>
            </a:r>
          </a:p>
        </p:txBody>
      </p:sp>
      <p:sp>
        <p:nvSpPr>
          <p:cNvPr name="TextBox 17" id="17"/>
          <p:cNvSpPr txBox="true"/>
          <p:nvPr/>
        </p:nvSpPr>
        <p:spPr>
          <a:xfrm rot="0">
            <a:off x="9054139" y="5376663"/>
            <a:ext cx="6986316" cy="761619"/>
          </a:xfrm>
          <a:prstGeom prst="rect">
            <a:avLst/>
          </a:prstGeom>
        </p:spPr>
        <p:txBody>
          <a:bodyPr anchor="t" rtlCol="false" tIns="0" lIns="0" bIns="0" rIns="0">
            <a:spAutoFit/>
          </a:bodyPr>
          <a:lstStyle/>
          <a:p>
            <a:pPr algn="l">
              <a:lnSpc>
                <a:spcPts val="2058"/>
              </a:lnSpc>
            </a:pPr>
            <a:r>
              <a:rPr lang="en-US" sz="1400">
                <a:solidFill>
                  <a:srgbClr val="000000"/>
                </a:solidFill>
                <a:latin typeface="Open Sauce"/>
                <a:ea typeface="Open Sauce"/>
                <a:cs typeface="Open Sauce"/>
                <a:sym typeface="Open Sauce"/>
              </a:rPr>
              <a:t>These modules contain all the functionality for doing molecular operations and visualising molecules. Descriptions module contains different mathematical descriptors for understanding molecular properties</a:t>
            </a:r>
          </a:p>
        </p:txBody>
      </p:sp>
      <p:sp>
        <p:nvSpPr>
          <p:cNvPr name="TextBox 18" id="18"/>
          <p:cNvSpPr txBox="true"/>
          <p:nvPr/>
        </p:nvSpPr>
        <p:spPr>
          <a:xfrm rot="0">
            <a:off x="9054139" y="7587167"/>
            <a:ext cx="6398710"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numpy/pandas/sklearn/etc</a:t>
            </a:r>
          </a:p>
        </p:txBody>
      </p:sp>
      <p:sp>
        <p:nvSpPr>
          <p:cNvPr name="TextBox 19" id="19"/>
          <p:cNvSpPr txBox="true"/>
          <p:nvPr/>
        </p:nvSpPr>
        <p:spPr>
          <a:xfrm rot="0">
            <a:off x="9054139" y="8286302"/>
            <a:ext cx="6986316" cy="247269"/>
          </a:xfrm>
          <a:prstGeom prst="rect">
            <a:avLst/>
          </a:prstGeom>
        </p:spPr>
        <p:txBody>
          <a:bodyPr anchor="t" rtlCol="false" tIns="0" lIns="0" bIns="0" rIns="0">
            <a:spAutoFit/>
          </a:bodyPr>
          <a:lstStyle/>
          <a:p>
            <a:pPr algn="l">
              <a:lnSpc>
                <a:spcPts val="2058"/>
              </a:lnSpc>
            </a:pPr>
            <a:r>
              <a:rPr lang="en-US" sz="1400">
                <a:solidFill>
                  <a:srgbClr val="000000"/>
                </a:solidFill>
                <a:latin typeface="Open Sauce"/>
                <a:ea typeface="Open Sauce"/>
                <a:cs typeface="Open Sauce"/>
                <a:sym typeface="Open Sauce"/>
              </a:rPr>
              <a:t>Standard data science/machine learning modules in Python</a:t>
            </a:r>
          </a:p>
        </p:txBody>
      </p:sp>
      <p:sp>
        <p:nvSpPr>
          <p:cNvPr name="Freeform 20" id="20"/>
          <p:cNvSpPr/>
          <p:nvPr/>
        </p:nvSpPr>
        <p:spPr>
          <a:xfrm flipH="false" flipV="false" rot="0">
            <a:off x="-246768" y="-584512"/>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5">
              <a:alphaModFix amt="37000"/>
            </a:blip>
            <a:stretch>
              <a:fillRect l="0" t="0" r="0" b="0"/>
            </a:stretch>
          </a:blipFill>
        </p:spPr>
      </p:sp>
    </p:spTree>
  </p:cSld>
  <p:clrMapOvr>
    <a:masterClrMapping/>
  </p:clrMapOvr>
</p:sld>
</file>

<file path=ppt/slides/slide87.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5015114">
            <a:off x="9740863" y="2343404"/>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266567" y="1028700"/>
            <a:ext cx="15502154" cy="8665317"/>
            <a:chOff x="0" y="0"/>
            <a:chExt cx="4082872" cy="2282224"/>
          </a:xfrm>
        </p:grpSpPr>
        <p:sp>
          <p:nvSpPr>
            <p:cNvPr name="Freeform 4" id="4"/>
            <p:cNvSpPr/>
            <p:nvPr/>
          </p:nvSpPr>
          <p:spPr>
            <a:xfrm flipH="false" flipV="false" rot="0">
              <a:off x="0" y="0"/>
              <a:ext cx="4082872" cy="2282223"/>
            </a:xfrm>
            <a:custGeom>
              <a:avLst/>
              <a:gdLst/>
              <a:ahLst/>
              <a:cxnLst/>
              <a:rect r="r" b="b" t="t" l="l"/>
              <a:pathLst>
                <a:path h="2282223" w="4082872">
                  <a:moveTo>
                    <a:pt x="0" y="0"/>
                  </a:moveTo>
                  <a:lnTo>
                    <a:pt x="4082872" y="0"/>
                  </a:lnTo>
                  <a:lnTo>
                    <a:pt x="4082872" y="2282223"/>
                  </a:lnTo>
                  <a:lnTo>
                    <a:pt x="0" y="228222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82872" cy="2310799"/>
            </a:xfrm>
            <a:prstGeom prst="rect">
              <a:avLst/>
            </a:prstGeom>
          </p:spPr>
          <p:txBody>
            <a:bodyPr anchor="ctr" rtlCol="false" tIns="50800" lIns="50800" bIns="50800" rIns="50800"/>
            <a:lstStyle/>
            <a:p>
              <a:pPr algn="l">
                <a:lnSpc>
                  <a:spcPts val="1869"/>
                </a:lnSpc>
              </a:pPr>
            </a:p>
            <a:p>
              <a:pPr algn="l">
                <a:lnSpc>
                  <a:spcPts val="1869"/>
                </a:lnSpc>
              </a:pPr>
            </a:p>
          </p:txBody>
        </p:sp>
      </p:grpSp>
      <p:grpSp>
        <p:nvGrpSpPr>
          <p:cNvPr name="Group 6" id="6"/>
          <p:cNvGrpSpPr/>
          <p:nvPr/>
        </p:nvGrpSpPr>
        <p:grpSpPr>
          <a:xfrm rot="0">
            <a:off x="1703339" y="2704069"/>
            <a:ext cx="4750808" cy="5871274"/>
            <a:chOff x="0" y="0"/>
            <a:chExt cx="1251242" cy="1546344"/>
          </a:xfrm>
        </p:grpSpPr>
        <p:sp>
          <p:nvSpPr>
            <p:cNvPr name="Freeform 7" id="7"/>
            <p:cNvSpPr/>
            <p:nvPr/>
          </p:nvSpPr>
          <p:spPr>
            <a:xfrm flipH="false" flipV="false" rot="0">
              <a:off x="0" y="0"/>
              <a:ext cx="1251242" cy="1546344"/>
            </a:xfrm>
            <a:custGeom>
              <a:avLst/>
              <a:gdLst/>
              <a:ahLst/>
              <a:cxnLst/>
              <a:rect r="r" b="b" t="t" l="l"/>
              <a:pathLst>
                <a:path h="1546344" w="1251242">
                  <a:moveTo>
                    <a:pt x="83110" y="0"/>
                  </a:moveTo>
                  <a:lnTo>
                    <a:pt x="1168132" y="0"/>
                  </a:lnTo>
                  <a:cubicBezTo>
                    <a:pt x="1190174" y="0"/>
                    <a:pt x="1211313" y="8756"/>
                    <a:pt x="1226899" y="24342"/>
                  </a:cubicBezTo>
                  <a:cubicBezTo>
                    <a:pt x="1242485" y="39928"/>
                    <a:pt x="1251242" y="61068"/>
                    <a:pt x="1251242" y="83110"/>
                  </a:cubicBezTo>
                  <a:lnTo>
                    <a:pt x="1251242" y="1463234"/>
                  </a:lnTo>
                  <a:cubicBezTo>
                    <a:pt x="1251242" y="1485276"/>
                    <a:pt x="1242485" y="1506416"/>
                    <a:pt x="1226899" y="1522002"/>
                  </a:cubicBezTo>
                  <a:cubicBezTo>
                    <a:pt x="1211313" y="1537588"/>
                    <a:pt x="1190174" y="1546344"/>
                    <a:pt x="1168132" y="1546344"/>
                  </a:cubicBezTo>
                  <a:lnTo>
                    <a:pt x="83110" y="1546344"/>
                  </a:lnTo>
                  <a:cubicBezTo>
                    <a:pt x="37209" y="1546344"/>
                    <a:pt x="0" y="1509134"/>
                    <a:pt x="0" y="1463234"/>
                  </a:cubicBezTo>
                  <a:lnTo>
                    <a:pt x="0" y="83110"/>
                  </a:lnTo>
                  <a:cubicBezTo>
                    <a:pt x="0" y="61068"/>
                    <a:pt x="8756" y="39928"/>
                    <a:pt x="24342" y="24342"/>
                  </a:cubicBezTo>
                  <a:cubicBezTo>
                    <a:pt x="39928" y="8756"/>
                    <a:pt x="61068" y="0"/>
                    <a:pt x="83110" y="0"/>
                  </a:cubicBezTo>
                  <a:close/>
                </a:path>
              </a:pathLst>
            </a:custGeom>
            <a:ln w="38100" cap="rnd">
              <a:solidFill>
                <a:srgbClr val="000000"/>
              </a:solidFill>
              <a:prstDash val="solid"/>
              <a:round/>
            </a:ln>
          </p:spPr>
        </p:sp>
        <p:sp>
          <p:nvSpPr>
            <p:cNvPr name="TextBox 8" id="8"/>
            <p:cNvSpPr txBox="true"/>
            <p:nvPr/>
          </p:nvSpPr>
          <p:spPr>
            <a:xfrm>
              <a:off x="0" y="-28575"/>
              <a:ext cx="1251242" cy="1574919"/>
            </a:xfrm>
            <a:prstGeom prst="rect">
              <a:avLst/>
            </a:prstGeom>
          </p:spPr>
          <p:txBody>
            <a:bodyPr anchor="ctr" rtlCol="false" tIns="50800" lIns="50800" bIns="50800" rIns="50800"/>
            <a:lstStyle/>
            <a:p>
              <a:pPr algn="ctr">
                <a:lnSpc>
                  <a:spcPts val="1869"/>
                </a:lnSpc>
              </a:pPr>
            </a:p>
          </p:txBody>
        </p:sp>
      </p:grpSp>
      <p:sp>
        <p:nvSpPr>
          <p:cNvPr name="TextBox 9" id="9"/>
          <p:cNvSpPr txBox="true"/>
          <p:nvPr/>
        </p:nvSpPr>
        <p:spPr>
          <a:xfrm rot="0">
            <a:off x="1854633" y="1547308"/>
            <a:ext cx="10026919"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Bold"/>
                <a:ea typeface="Open Sauce Bold"/>
                <a:cs typeface="Open Sauce Bold"/>
                <a:sym typeface="Open Sauce Bold"/>
              </a:rPr>
              <a:t>Molecular Representation &amp; SMILES Basics</a:t>
            </a:r>
          </a:p>
        </p:txBody>
      </p:sp>
      <p:sp>
        <p:nvSpPr>
          <p:cNvPr name="TextBox 10" id="10"/>
          <p:cNvSpPr txBox="true"/>
          <p:nvPr/>
        </p:nvSpPr>
        <p:spPr>
          <a:xfrm rot="0">
            <a:off x="1854633" y="2890176"/>
            <a:ext cx="4034165" cy="3620770"/>
          </a:xfrm>
          <a:prstGeom prst="rect">
            <a:avLst/>
          </a:prstGeom>
        </p:spPr>
        <p:txBody>
          <a:bodyPr anchor="t" rtlCol="false" tIns="0" lIns="0" bIns="0" rIns="0">
            <a:spAutoFit/>
          </a:bodyPr>
          <a:lstStyle/>
          <a:p>
            <a:pPr algn="just">
              <a:lnSpc>
                <a:spcPts val="3500"/>
              </a:lnSpc>
            </a:pPr>
            <a:r>
              <a:rPr lang="en-US" b="true" sz="2500" spc="100">
                <a:solidFill>
                  <a:srgbClr val="000000"/>
                </a:solidFill>
                <a:latin typeface="Canva Sans Bold"/>
                <a:ea typeface="Canva Sans Bold"/>
                <a:cs typeface="Canva Sans Bold"/>
                <a:sym typeface="Canva Sans Bold"/>
              </a:rPr>
              <a:t>Basic SMILES Elements</a:t>
            </a:r>
          </a:p>
          <a:p>
            <a:pPr algn="just">
              <a:lnSpc>
                <a:spcPts val="2940"/>
              </a:lnSpc>
            </a:pPr>
          </a:p>
          <a:p>
            <a:pPr algn="just">
              <a:lnSpc>
                <a:spcPts val="2940"/>
              </a:lnSpc>
            </a:pPr>
            <a:r>
              <a:rPr lang="en-US" sz="2100" spc="84">
                <a:solidFill>
                  <a:srgbClr val="000000"/>
                </a:solidFill>
                <a:latin typeface="Canva Sans"/>
                <a:ea typeface="Canva Sans"/>
                <a:cs typeface="Canva Sans"/>
                <a:sym typeface="Canva Sans"/>
              </a:rPr>
              <a:t>C = Carbon</a:t>
            </a:r>
          </a:p>
          <a:p>
            <a:pPr algn="just">
              <a:lnSpc>
                <a:spcPts val="2940"/>
              </a:lnSpc>
            </a:pPr>
            <a:r>
              <a:rPr lang="en-US" sz="2100" spc="84">
                <a:solidFill>
                  <a:srgbClr val="000000"/>
                </a:solidFill>
                <a:latin typeface="Canva Sans"/>
                <a:ea typeface="Canva Sans"/>
                <a:cs typeface="Canva Sans"/>
                <a:sym typeface="Canva Sans"/>
              </a:rPr>
              <a:t>O = Oxygen</a:t>
            </a:r>
          </a:p>
          <a:p>
            <a:pPr algn="just">
              <a:lnSpc>
                <a:spcPts val="2940"/>
              </a:lnSpc>
            </a:pPr>
            <a:r>
              <a:rPr lang="en-US" sz="2100" spc="84">
                <a:solidFill>
                  <a:srgbClr val="000000"/>
                </a:solidFill>
                <a:latin typeface="Canva Sans"/>
                <a:ea typeface="Canva Sans"/>
                <a:cs typeface="Canva Sans"/>
                <a:sym typeface="Canva Sans"/>
              </a:rPr>
              <a:t>N = Nitrogen</a:t>
            </a:r>
          </a:p>
          <a:p>
            <a:pPr algn="just">
              <a:lnSpc>
                <a:spcPts val="2940"/>
              </a:lnSpc>
            </a:pPr>
            <a:r>
              <a:rPr lang="en-US" sz="2100" spc="84">
                <a:solidFill>
                  <a:srgbClr val="000000"/>
                </a:solidFill>
                <a:latin typeface="Canva Sans"/>
                <a:ea typeface="Canva Sans"/>
                <a:cs typeface="Canva Sans"/>
                <a:sym typeface="Canva Sans"/>
              </a:rPr>
              <a:t>No symbol = single bond</a:t>
            </a:r>
          </a:p>
          <a:p>
            <a:pPr algn="just">
              <a:lnSpc>
                <a:spcPts val="2940"/>
              </a:lnSpc>
            </a:pPr>
            <a:r>
              <a:rPr lang="en-US" sz="2100" spc="84">
                <a:solidFill>
                  <a:srgbClr val="000000"/>
                </a:solidFill>
                <a:latin typeface="Canva Sans"/>
                <a:ea typeface="Canva Sans"/>
                <a:cs typeface="Canva Sans"/>
                <a:sym typeface="Canva Sans"/>
              </a:rPr>
              <a:t>= means double bond</a:t>
            </a:r>
          </a:p>
          <a:p>
            <a:pPr algn="just">
              <a:lnSpc>
                <a:spcPts val="2940"/>
              </a:lnSpc>
            </a:pPr>
            <a:r>
              <a:rPr lang="en-US" sz="2100" spc="84">
                <a:solidFill>
                  <a:srgbClr val="000000"/>
                </a:solidFill>
                <a:latin typeface="Canva Sans"/>
                <a:ea typeface="Canva Sans"/>
                <a:cs typeface="Canva Sans"/>
                <a:sym typeface="Canva Sans"/>
              </a:rPr>
              <a:t># means triple bond</a:t>
            </a:r>
          </a:p>
          <a:p>
            <a:pPr algn="just">
              <a:lnSpc>
                <a:spcPts val="4759"/>
              </a:lnSpc>
            </a:pPr>
          </a:p>
        </p:txBody>
      </p:sp>
      <p:sp>
        <p:nvSpPr>
          <p:cNvPr name="TextBox 11" id="11"/>
          <p:cNvSpPr txBox="true"/>
          <p:nvPr/>
        </p:nvSpPr>
        <p:spPr>
          <a:xfrm rot="0">
            <a:off x="1854633" y="6441350"/>
            <a:ext cx="3124795" cy="1781838"/>
          </a:xfrm>
          <a:prstGeom prst="rect">
            <a:avLst/>
          </a:prstGeom>
        </p:spPr>
        <p:txBody>
          <a:bodyPr anchor="t" rtlCol="false" tIns="0" lIns="0" bIns="0" rIns="0">
            <a:spAutoFit/>
          </a:bodyPr>
          <a:lstStyle/>
          <a:p>
            <a:pPr algn="l">
              <a:lnSpc>
                <a:spcPts val="2752"/>
              </a:lnSpc>
              <a:spcBef>
                <a:spcPct val="0"/>
              </a:spcBef>
            </a:pPr>
            <a:r>
              <a:rPr lang="en-US" b="true" sz="2502" spc="100">
                <a:solidFill>
                  <a:srgbClr val="000000"/>
                </a:solidFill>
                <a:latin typeface="Canva Sans Bold"/>
                <a:ea typeface="Canva Sans Bold"/>
                <a:cs typeface="Canva Sans Bold"/>
                <a:sym typeface="Canva Sans Bold"/>
              </a:rPr>
              <a:t>Simple Examples</a:t>
            </a:r>
          </a:p>
          <a:p>
            <a:pPr algn="l">
              <a:lnSpc>
                <a:spcPts val="2311"/>
              </a:lnSpc>
              <a:spcBef>
                <a:spcPct val="0"/>
              </a:spcBef>
            </a:pPr>
          </a:p>
          <a:p>
            <a:pPr algn="l">
              <a:lnSpc>
                <a:spcPts val="2311"/>
              </a:lnSpc>
              <a:spcBef>
                <a:spcPct val="0"/>
              </a:spcBef>
            </a:pPr>
            <a:r>
              <a:rPr lang="en-US" sz="2101" spc="84">
                <a:solidFill>
                  <a:srgbClr val="000000"/>
                </a:solidFill>
                <a:latin typeface="Canva Sans"/>
                <a:ea typeface="Canva Sans"/>
                <a:cs typeface="Canva Sans"/>
                <a:sym typeface="Canva Sans"/>
              </a:rPr>
              <a:t>CC → ethane (C-C)</a:t>
            </a:r>
          </a:p>
          <a:p>
            <a:pPr algn="l">
              <a:lnSpc>
                <a:spcPts val="2311"/>
              </a:lnSpc>
              <a:spcBef>
                <a:spcPct val="0"/>
              </a:spcBef>
            </a:pPr>
            <a:r>
              <a:rPr lang="en-US" sz="2101" spc="84">
                <a:solidFill>
                  <a:srgbClr val="000000"/>
                </a:solidFill>
                <a:latin typeface="Canva Sans"/>
                <a:ea typeface="Canva Sans"/>
                <a:cs typeface="Canva Sans"/>
                <a:sym typeface="Canva Sans"/>
              </a:rPr>
              <a:t>C=C → ethene (C=C)</a:t>
            </a:r>
          </a:p>
          <a:p>
            <a:pPr algn="l">
              <a:lnSpc>
                <a:spcPts val="2311"/>
              </a:lnSpc>
              <a:spcBef>
                <a:spcPct val="0"/>
              </a:spcBef>
            </a:pPr>
            <a:r>
              <a:rPr lang="en-US" sz="2101" spc="84">
                <a:solidFill>
                  <a:srgbClr val="000000"/>
                </a:solidFill>
                <a:latin typeface="Canva Sans"/>
                <a:ea typeface="Canva Sans"/>
                <a:cs typeface="Canva Sans"/>
                <a:sym typeface="Canva Sans"/>
              </a:rPr>
              <a:t>CO → methanol (C-O)</a:t>
            </a:r>
          </a:p>
          <a:p>
            <a:pPr algn="l">
              <a:lnSpc>
                <a:spcPts val="2311"/>
              </a:lnSpc>
              <a:spcBef>
                <a:spcPct val="0"/>
              </a:spcBef>
            </a:pPr>
            <a:r>
              <a:rPr lang="en-US" sz="2101" spc="84">
                <a:solidFill>
                  <a:srgbClr val="000000"/>
                </a:solidFill>
                <a:latin typeface="Canva Sans"/>
                <a:ea typeface="Canva Sans"/>
                <a:cs typeface="Canva Sans"/>
                <a:sym typeface="Canva Sans"/>
              </a:rPr>
              <a:t>CCO → ethanol (C-C-O)</a:t>
            </a:r>
          </a:p>
        </p:txBody>
      </p:sp>
      <p:sp>
        <p:nvSpPr>
          <p:cNvPr name="TextBox 12" id="12"/>
          <p:cNvSpPr txBox="true"/>
          <p:nvPr/>
        </p:nvSpPr>
        <p:spPr>
          <a:xfrm rot="0">
            <a:off x="8329064" y="2871511"/>
            <a:ext cx="7104977" cy="1838960"/>
          </a:xfrm>
          <a:prstGeom prst="rect">
            <a:avLst/>
          </a:prstGeom>
        </p:spPr>
        <p:txBody>
          <a:bodyPr anchor="t" rtlCol="false" tIns="0" lIns="0" bIns="0" rIns="0">
            <a:spAutoFit/>
          </a:bodyPr>
          <a:lstStyle/>
          <a:p>
            <a:pPr algn="l">
              <a:lnSpc>
                <a:spcPts val="2749"/>
              </a:lnSpc>
              <a:spcBef>
                <a:spcPct val="0"/>
              </a:spcBef>
            </a:pPr>
            <a:r>
              <a:rPr lang="en-US" b="true" sz="2499" spc="99">
                <a:solidFill>
                  <a:srgbClr val="000000"/>
                </a:solidFill>
                <a:latin typeface="Canva Sans Bold"/>
                <a:ea typeface="Canva Sans Bold"/>
                <a:cs typeface="Canva Sans Bold"/>
                <a:sym typeface="Canva Sans Bold"/>
              </a:rPr>
              <a:t>Ring Numbering</a:t>
            </a:r>
          </a:p>
          <a:p>
            <a:pPr algn="l">
              <a:lnSpc>
                <a:spcPts val="2749"/>
              </a:lnSpc>
              <a:spcBef>
                <a:spcPct val="0"/>
              </a:spcBef>
            </a:pPr>
          </a:p>
          <a:p>
            <a:pPr algn="l">
              <a:lnSpc>
                <a:spcPts val="2309"/>
              </a:lnSpc>
              <a:spcBef>
                <a:spcPct val="0"/>
              </a:spcBef>
            </a:pPr>
            <a:r>
              <a:rPr lang="en-US" sz="2099" spc="83">
                <a:solidFill>
                  <a:srgbClr val="000000"/>
                </a:solidFill>
                <a:latin typeface="Canva Sans"/>
                <a:ea typeface="Canva Sans"/>
                <a:cs typeface="Canva Sans"/>
                <a:sym typeface="Canva Sans"/>
              </a:rPr>
              <a:t>Numbers show ring connections</a:t>
            </a:r>
          </a:p>
          <a:p>
            <a:pPr algn="l">
              <a:lnSpc>
                <a:spcPts val="2309"/>
              </a:lnSpc>
              <a:spcBef>
                <a:spcPct val="0"/>
              </a:spcBef>
            </a:pPr>
            <a:r>
              <a:rPr lang="en-US" sz="2099" spc="83">
                <a:solidFill>
                  <a:srgbClr val="000000"/>
                </a:solidFill>
                <a:latin typeface="Canva Sans"/>
                <a:ea typeface="Canva Sans"/>
                <a:cs typeface="Canva Sans"/>
                <a:sym typeface="Canva Sans"/>
              </a:rPr>
              <a:t>Same number = atoms connected</a:t>
            </a:r>
          </a:p>
          <a:p>
            <a:pPr algn="l">
              <a:lnSpc>
                <a:spcPts val="2309"/>
              </a:lnSpc>
              <a:spcBef>
                <a:spcPct val="0"/>
              </a:spcBef>
            </a:pPr>
            <a:r>
              <a:rPr lang="en-US" sz="2099" spc="83">
                <a:solidFill>
                  <a:srgbClr val="000000"/>
                </a:solidFill>
                <a:latin typeface="Canva Sans"/>
                <a:ea typeface="Canva Sans"/>
                <a:cs typeface="Canva Sans"/>
                <a:sym typeface="Canva Sans"/>
              </a:rPr>
              <a:t>C1CCCCC1 = cyclohexane</a:t>
            </a:r>
          </a:p>
          <a:p>
            <a:pPr algn="l">
              <a:lnSpc>
                <a:spcPts val="2309"/>
              </a:lnSpc>
              <a:spcBef>
                <a:spcPct val="0"/>
              </a:spcBef>
            </a:pPr>
            <a:r>
              <a:rPr lang="en-US" sz="2099" spc="83">
                <a:solidFill>
                  <a:srgbClr val="000000"/>
                </a:solidFill>
                <a:latin typeface="Canva Sans"/>
                <a:ea typeface="Canva Sans"/>
                <a:cs typeface="Canva Sans"/>
                <a:sym typeface="Canva Sans"/>
              </a:rPr>
              <a:t>c1ccccc1 = benzene (lowercase = aromatic)</a:t>
            </a:r>
          </a:p>
        </p:txBody>
      </p:sp>
      <p:sp>
        <p:nvSpPr>
          <p:cNvPr name="TextBox 13" id="13"/>
          <p:cNvSpPr txBox="true"/>
          <p:nvPr/>
        </p:nvSpPr>
        <p:spPr>
          <a:xfrm rot="0">
            <a:off x="8329064" y="5380409"/>
            <a:ext cx="4167039" cy="1724660"/>
          </a:xfrm>
          <a:prstGeom prst="rect">
            <a:avLst/>
          </a:prstGeom>
        </p:spPr>
        <p:txBody>
          <a:bodyPr anchor="t" rtlCol="false" tIns="0" lIns="0" bIns="0" rIns="0">
            <a:spAutoFit/>
          </a:bodyPr>
          <a:lstStyle/>
          <a:p>
            <a:pPr algn="l">
              <a:lnSpc>
                <a:spcPts val="2749"/>
              </a:lnSpc>
              <a:spcBef>
                <a:spcPct val="0"/>
              </a:spcBef>
            </a:pPr>
            <a:r>
              <a:rPr lang="en-US" b="true" sz="2499" spc="99">
                <a:solidFill>
                  <a:srgbClr val="000000"/>
                </a:solidFill>
                <a:latin typeface="Canva Sans Bold"/>
                <a:ea typeface="Canva Sans Bold"/>
                <a:cs typeface="Canva Sans Bold"/>
                <a:sym typeface="Canva Sans Bold"/>
              </a:rPr>
              <a:t>Common Ring Structures</a:t>
            </a:r>
          </a:p>
          <a:p>
            <a:pPr algn="l">
              <a:lnSpc>
                <a:spcPts val="1869"/>
              </a:lnSpc>
              <a:spcBef>
                <a:spcPct val="0"/>
              </a:spcBef>
            </a:pPr>
          </a:p>
          <a:p>
            <a:pPr algn="l">
              <a:lnSpc>
                <a:spcPts val="2309"/>
              </a:lnSpc>
              <a:spcBef>
                <a:spcPct val="0"/>
              </a:spcBef>
            </a:pPr>
            <a:r>
              <a:rPr lang="en-US" sz="2099" spc="83">
                <a:solidFill>
                  <a:srgbClr val="000000"/>
                </a:solidFill>
                <a:latin typeface="Canva Sans"/>
                <a:ea typeface="Canva Sans"/>
                <a:cs typeface="Canva Sans"/>
                <a:sym typeface="Canva Sans"/>
              </a:rPr>
              <a:t>    C1CCCCC1    # cyclohexane</a:t>
            </a:r>
          </a:p>
          <a:p>
            <a:pPr algn="l">
              <a:lnSpc>
                <a:spcPts val="2309"/>
              </a:lnSpc>
              <a:spcBef>
                <a:spcPct val="0"/>
              </a:spcBef>
            </a:pPr>
            <a:r>
              <a:rPr lang="en-US" sz="2099" spc="83">
                <a:solidFill>
                  <a:srgbClr val="000000"/>
                </a:solidFill>
                <a:latin typeface="Canva Sans"/>
                <a:ea typeface="Canva Sans"/>
                <a:cs typeface="Canva Sans"/>
                <a:sym typeface="Canva Sans"/>
              </a:rPr>
              <a:t>    c1ccccc1    # benzene</a:t>
            </a:r>
          </a:p>
          <a:p>
            <a:pPr algn="l">
              <a:lnSpc>
                <a:spcPts val="2309"/>
              </a:lnSpc>
              <a:spcBef>
                <a:spcPct val="0"/>
              </a:spcBef>
            </a:pPr>
            <a:r>
              <a:rPr lang="en-US" sz="2099" spc="83">
                <a:solidFill>
                  <a:srgbClr val="000000"/>
                </a:solidFill>
                <a:latin typeface="Canva Sans"/>
                <a:ea typeface="Canva Sans"/>
                <a:cs typeface="Canva Sans"/>
                <a:sym typeface="Canva Sans"/>
              </a:rPr>
              <a:t>    C1CCCC1     # cyclopentane</a:t>
            </a:r>
          </a:p>
          <a:p>
            <a:pPr algn="l">
              <a:lnSpc>
                <a:spcPts val="2309"/>
              </a:lnSpc>
              <a:spcBef>
                <a:spcPct val="0"/>
              </a:spcBef>
            </a:pPr>
            <a:r>
              <a:rPr lang="en-US" sz="2099" spc="83">
                <a:solidFill>
                  <a:srgbClr val="000000"/>
                </a:solidFill>
                <a:latin typeface="Canva Sans"/>
                <a:ea typeface="Canva Sans"/>
                <a:cs typeface="Canva Sans"/>
                <a:sym typeface="Canva Sans"/>
              </a:rPr>
              <a:t>    C1CCC1      # cyclobutane</a:t>
            </a:r>
          </a:p>
        </p:txBody>
      </p:sp>
      <p:grpSp>
        <p:nvGrpSpPr>
          <p:cNvPr name="Group 14" id="14"/>
          <p:cNvGrpSpPr/>
          <p:nvPr/>
        </p:nvGrpSpPr>
        <p:grpSpPr>
          <a:xfrm rot="0">
            <a:off x="8037179" y="2614588"/>
            <a:ext cx="6330146" cy="5871274"/>
            <a:chOff x="0" y="0"/>
            <a:chExt cx="1667199" cy="1546344"/>
          </a:xfrm>
        </p:grpSpPr>
        <p:sp>
          <p:nvSpPr>
            <p:cNvPr name="Freeform 15" id="15"/>
            <p:cNvSpPr/>
            <p:nvPr/>
          </p:nvSpPr>
          <p:spPr>
            <a:xfrm flipH="false" flipV="false" rot="0">
              <a:off x="0" y="0"/>
              <a:ext cx="1667199" cy="1546344"/>
            </a:xfrm>
            <a:custGeom>
              <a:avLst/>
              <a:gdLst/>
              <a:ahLst/>
              <a:cxnLst/>
              <a:rect r="r" b="b" t="t" l="l"/>
              <a:pathLst>
                <a:path h="1546344" w="1667199">
                  <a:moveTo>
                    <a:pt x="62374" y="0"/>
                  </a:moveTo>
                  <a:lnTo>
                    <a:pt x="1604825" y="0"/>
                  </a:lnTo>
                  <a:cubicBezTo>
                    <a:pt x="1621368" y="0"/>
                    <a:pt x="1637233" y="6572"/>
                    <a:pt x="1648930" y="18269"/>
                  </a:cubicBezTo>
                  <a:cubicBezTo>
                    <a:pt x="1660628" y="29966"/>
                    <a:pt x="1667199" y="45832"/>
                    <a:pt x="1667199" y="62374"/>
                  </a:cubicBezTo>
                  <a:lnTo>
                    <a:pt x="1667199" y="1483970"/>
                  </a:lnTo>
                  <a:cubicBezTo>
                    <a:pt x="1667199" y="1500512"/>
                    <a:pt x="1660628" y="1516377"/>
                    <a:pt x="1648930" y="1528075"/>
                  </a:cubicBezTo>
                  <a:cubicBezTo>
                    <a:pt x="1637233" y="1539772"/>
                    <a:pt x="1621368" y="1546344"/>
                    <a:pt x="1604825" y="1546344"/>
                  </a:cubicBezTo>
                  <a:lnTo>
                    <a:pt x="62374" y="1546344"/>
                  </a:lnTo>
                  <a:cubicBezTo>
                    <a:pt x="27926" y="1546344"/>
                    <a:pt x="0" y="1518418"/>
                    <a:pt x="0" y="1483970"/>
                  </a:cubicBezTo>
                  <a:lnTo>
                    <a:pt x="0" y="62374"/>
                  </a:lnTo>
                  <a:cubicBezTo>
                    <a:pt x="0" y="45832"/>
                    <a:pt x="6572" y="29966"/>
                    <a:pt x="18269" y="18269"/>
                  </a:cubicBezTo>
                  <a:cubicBezTo>
                    <a:pt x="29966" y="6572"/>
                    <a:pt x="45832" y="0"/>
                    <a:pt x="62374" y="0"/>
                  </a:cubicBezTo>
                  <a:close/>
                </a:path>
              </a:pathLst>
            </a:custGeom>
            <a:ln w="38100" cap="rnd">
              <a:solidFill>
                <a:srgbClr val="000000"/>
              </a:solidFill>
              <a:prstDash val="solid"/>
              <a:round/>
            </a:ln>
          </p:spPr>
        </p:sp>
        <p:sp>
          <p:nvSpPr>
            <p:cNvPr name="TextBox 16" id="16"/>
            <p:cNvSpPr txBox="true"/>
            <p:nvPr/>
          </p:nvSpPr>
          <p:spPr>
            <a:xfrm>
              <a:off x="0" y="-28575"/>
              <a:ext cx="1667199" cy="1574919"/>
            </a:xfrm>
            <a:prstGeom prst="rect">
              <a:avLst/>
            </a:prstGeom>
          </p:spPr>
          <p:txBody>
            <a:bodyPr anchor="ctr" rtlCol="false" tIns="50800" lIns="50800" bIns="50800" rIns="50800"/>
            <a:lstStyle/>
            <a:p>
              <a:pPr algn="ctr">
                <a:lnSpc>
                  <a:spcPts val="1869"/>
                </a:lnSpc>
              </a:pPr>
            </a:p>
          </p:txBody>
        </p:sp>
      </p:grpSp>
      <p:sp>
        <p:nvSpPr>
          <p:cNvPr name="Freeform 17" id="17"/>
          <p:cNvSpPr/>
          <p:nvPr/>
        </p:nvSpPr>
        <p:spPr>
          <a:xfrm flipH="false" flipV="false" rot="0">
            <a:off x="-246768" y="-584512"/>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4">
              <a:alphaModFix amt="37000"/>
            </a:blip>
            <a:stretch>
              <a:fillRect l="0" t="0" r="0" b="0"/>
            </a:stretch>
          </a:blipFill>
        </p:spPr>
      </p:sp>
    </p:spTree>
  </p:cSld>
  <p:clrMapOvr>
    <a:masterClrMapping/>
  </p:clrMapOvr>
</p:sld>
</file>

<file path=ppt/slides/slide88.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5015114">
            <a:off x="9740863" y="2343404"/>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266567" y="1028700"/>
            <a:ext cx="15502154" cy="8665317"/>
            <a:chOff x="0" y="0"/>
            <a:chExt cx="4082872" cy="2282224"/>
          </a:xfrm>
        </p:grpSpPr>
        <p:sp>
          <p:nvSpPr>
            <p:cNvPr name="Freeform 4" id="4"/>
            <p:cNvSpPr/>
            <p:nvPr/>
          </p:nvSpPr>
          <p:spPr>
            <a:xfrm flipH="false" flipV="false" rot="0">
              <a:off x="0" y="0"/>
              <a:ext cx="4082872" cy="2282223"/>
            </a:xfrm>
            <a:custGeom>
              <a:avLst/>
              <a:gdLst/>
              <a:ahLst/>
              <a:cxnLst/>
              <a:rect r="r" b="b" t="t" l="l"/>
              <a:pathLst>
                <a:path h="2282223" w="4082872">
                  <a:moveTo>
                    <a:pt x="0" y="0"/>
                  </a:moveTo>
                  <a:lnTo>
                    <a:pt x="4082872" y="0"/>
                  </a:lnTo>
                  <a:lnTo>
                    <a:pt x="4082872" y="2282223"/>
                  </a:lnTo>
                  <a:lnTo>
                    <a:pt x="0" y="228222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82872" cy="2310799"/>
            </a:xfrm>
            <a:prstGeom prst="rect">
              <a:avLst/>
            </a:prstGeom>
          </p:spPr>
          <p:txBody>
            <a:bodyPr anchor="ctr" rtlCol="false" tIns="50800" lIns="50800" bIns="50800" rIns="50800"/>
            <a:lstStyle/>
            <a:p>
              <a:pPr algn="l">
                <a:lnSpc>
                  <a:spcPts val="1869"/>
                </a:lnSpc>
              </a:pPr>
            </a:p>
            <a:p>
              <a:pPr algn="l">
                <a:lnSpc>
                  <a:spcPts val="1869"/>
                </a:lnSpc>
              </a:pPr>
            </a:p>
          </p:txBody>
        </p:sp>
      </p:grpSp>
      <p:grpSp>
        <p:nvGrpSpPr>
          <p:cNvPr name="Group 6" id="6"/>
          <p:cNvGrpSpPr/>
          <p:nvPr/>
        </p:nvGrpSpPr>
        <p:grpSpPr>
          <a:xfrm rot="0">
            <a:off x="1703339" y="2704069"/>
            <a:ext cx="4750808" cy="3770994"/>
            <a:chOff x="0" y="0"/>
            <a:chExt cx="1251242" cy="993184"/>
          </a:xfrm>
        </p:grpSpPr>
        <p:sp>
          <p:nvSpPr>
            <p:cNvPr name="Freeform 7" id="7"/>
            <p:cNvSpPr/>
            <p:nvPr/>
          </p:nvSpPr>
          <p:spPr>
            <a:xfrm flipH="false" flipV="false" rot="0">
              <a:off x="0" y="0"/>
              <a:ext cx="1251242" cy="993184"/>
            </a:xfrm>
            <a:custGeom>
              <a:avLst/>
              <a:gdLst/>
              <a:ahLst/>
              <a:cxnLst/>
              <a:rect r="r" b="b" t="t" l="l"/>
              <a:pathLst>
                <a:path h="993184" w="1251242">
                  <a:moveTo>
                    <a:pt x="83110" y="0"/>
                  </a:moveTo>
                  <a:lnTo>
                    <a:pt x="1168132" y="0"/>
                  </a:lnTo>
                  <a:cubicBezTo>
                    <a:pt x="1190174" y="0"/>
                    <a:pt x="1211313" y="8756"/>
                    <a:pt x="1226899" y="24342"/>
                  </a:cubicBezTo>
                  <a:cubicBezTo>
                    <a:pt x="1242485" y="39928"/>
                    <a:pt x="1251242" y="61068"/>
                    <a:pt x="1251242" y="83110"/>
                  </a:cubicBezTo>
                  <a:lnTo>
                    <a:pt x="1251242" y="910074"/>
                  </a:lnTo>
                  <a:cubicBezTo>
                    <a:pt x="1251242" y="932116"/>
                    <a:pt x="1242485" y="953255"/>
                    <a:pt x="1226899" y="968841"/>
                  </a:cubicBezTo>
                  <a:cubicBezTo>
                    <a:pt x="1211313" y="984428"/>
                    <a:pt x="1190174" y="993184"/>
                    <a:pt x="1168132" y="993184"/>
                  </a:cubicBezTo>
                  <a:lnTo>
                    <a:pt x="83110" y="993184"/>
                  </a:lnTo>
                  <a:cubicBezTo>
                    <a:pt x="61068" y="993184"/>
                    <a:pt x="39928" y="984428"/>
                    <a:pt x="24342" y="968841"/>
                  </a:cubicBezTo>
                  <a:cubicBezTo>
                    <a:pt x="8756" y="953255"/>
                    <a:pt x="0" y="932116"/>
                    <a:pt x="0" y="910074"/>
                  </a:cubicBezTo>
                  <a:lnTo>
                    <a:pt x="0" y="83110"/>
                  </a:lnTo>
                  <a:cubicBezTo>
                    <a:pt x="0" y="61068"/>
                    <a:pt x="8756" y="39928"/>
                    <a:pt x="24342" y="24342"/>
                  </a:cubicBezTo>
                  <a:cubicBezTo>
                    <a:pt x="39928" y="8756"/>
                    <a:pt x="61068" y="0"/>
                    <a:pt x="83110" y="0"/>
                  </a:cubicBezTo>
                  <a:close/>
                </a:path>
              </a:pathLst>
            </a:custGeom>
            <a:ln w="38100" cap="rnd">
              <a:solidFill>
                <a:srgbClr val="000000"/>
              </a:solidFill>
              <a:prstDash val="solid"/>
              <a:round/>
            </a:ln>
          </p:spPr>
        </p:sp>
        <p:sp>
          <p:nvSpPr>
            <p:cNvPr name="TextBox 8" id="8"/>
            <p:cNvSpPr txBox="true"/>
            <p:nvPr/>
          </p:nvSpPr>
          <p:spPr>
            <a:xfrm>
              <a:off x="0" y="-28575"/>
              <a:ext cx="1251242" cy="1021759"/>
            </a:xfrm>
            <a:prstGeom prst="rect">
              <a:avLst/>
            </a:prstGeom>
          </p:spPr>
          <p:txBody>
            <a:bodyPr anchor="ctr" rtlCol="false" tIns="50800" lIns="50800" bIns="50800" rIns="50800"/>
            <a:lstStyle/>
            <a:p>
              <a:pPr algn="ctr">
                <a:lnSpc>
                  <a:spcPts val="1869"/>
                </a:lnSpc>
              </a:pPr>
            </a:p>
          </p:txBody>
        </p:sp>
      </p:grpSp>
      <p:sp>
        <p:nvSpPr>
          <p:cNvPr name="TextBox 9" id="9"/>
          <p:cNvSpPr txBox="true"/>
          <p:nvPr/>
        </p:nvSpPr>
        <p:spPr>
          <a:xfrm rot="0">
            <a:off x="1854633" y="1547308"/>
            <a:ext cx="10026919"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Bold"/>
                <a:ea typeface="Open Sauce Bold"/>
                <a:cs typeface="Open Sauce Bold"/>
                <a:sym typeface="Open Sauce Bold"/>
              </a:rPr>
              <a:t>Molecular Representation &amp; SMILES Basics</a:t>
            </a:r>
          </a:p>
        </p:txBody>
      </p:sp>
      <p:sp>
        <p:nvSpPr>
          <p:cNvPr name="TextBox 10" id="10"/>
          <p:cNvSpPr txBox="true"/>
          <p:nvPr/>
        </p:nvSpPr>
        <p:spPr>
          <a:xfrm rot="0">
            <a:off x="1968459" y="2817821"/>
            <a:ext cx="4034165" cy="3103879"/>
          </a:xfrm>
          <a:prstGeom prst="rect">
            <a:avLst/>
          </a:prstGeom>
        </p:spPr>
        <p:txBody>
          <a:bodyPr anchor="t" rtlCol="false" tIns="0" lIns="0" bIns="0" rIns="0">
            <a:spAutoFit/>
          </a:bodyPr>
          <a:lstStyle/>
          <a:p>
            <a:pPr algn="just">
              <a:lnSpc>
                <a:spcPts val="3500"/>
              </a:lnSpc>
            </a:pPr>
            <a:r>
              <a:rPr lang="en-US" b="true" sz="2500" spc="100">
                <a:solidFill>
                  <a:srgbClr val="000000"/>
                </a:solidFill>
                <a:latin typeface="Canva Sans Bold"/>
                <a:ea typeface="Canva Sans Bold"/>
                <a:cs typeface="Canva Sans Bold"/>
                <a:sym typeface="Canva Sans Bold"/>
              </a:rPr>
              <a:t>Aspirin Breakdown</a:t>
            </a:r>
          </a:p>
          <a:p>
            <a:pPr algn="just">
              <a:lnSpc>
                <a:spcPts val="3500"/>
              </a:lnSpc>
            </a:pPr>
          </a:p>
          <a:p>
            <a:pPr algn="just">
              <a:lnSpc>
                <a:spcPts val="2940"/>
              </a:lnSpc>
            </a:pPr>
            <a:r>
              <a:rPr lang="en-US" sz="2100" b="true">
                <a:solidFill>
                  <a:srgbClr val="000000"/>
                </a:solidFill>
                <a:latin typeface="Canva Sans Bold"/>
                <a:ea typeface="Canva Sans Bold"/>
                <a:cs typeface="Canva Sans Bold"/>
                <a:sym typeface="Canva Sans Bold"/>
              </a:rPr>
              <a:t>CC(=O)OC1=CC=CC=C1C(=O)O</a:t>
            </a:r>
            <a:r>
              <a:rPr lang="en-US" sz="2100">
                <a:solidFill>
                  <a:srgbClr val="000000"/>
                </a:solidFill>
                <a:latin typeface="Canva Sans"/>
                <a:ea typeface="Canva Sans"/>
                <a:cs typeface="Canva Sans"/>
                <a:sym typeface="Canva Sans"/>
              </a:rPr>
              <a:t> </a:t>
            </a:r>
          </a:p>
          <a:p>
            <a:pPr algn="just">
              <a:lnSpc>
                <a:spcPts val="2940"/>
              </a:lnSpc>
            </a:pPr>
          </a:p>
          <a:p>
            <a:pPr algn="just">
              <a:lnSpc>
                <a:spcPts val="2940"/>
              </a:lnSpc>
            </a:pPr>
            <a:r>
              <a:rPr lang="en-US" sz="2100">
                <a:solidFill>
                  <a:srgbClr val="000000"/>
                </a:solidFill>
                <a:latin typeface="Canva Sans"/>
                <a:ea typeface="Canva Sans"/>
                <a:cs typeface="Canva Sans"/>
                <a:sym typeface="Canva Sans"/>
              </a:rPr>
              <a:t>CC(=O) → acetyl group </a:t>
            </a:r>
          </a:p>
          <a:p>
            <a:pPr algn="just">
              <a:lnSpc>
                <a:spcPts val="2940"/>
              </a:lnSpc>
            </a:pPr>
            <a:r>
              <a:rPr lang="en-US" sz="2100">
                <a:solidFill>
                  <a:srgbClr val="000000"/>
                </a:solidFill>
                <a:latin typeface="Canva Sans"/>
                <a:ea typeface="Canva Sans"/>
                <a:cs typeface="Canva Sans"/>
                <a:sym typeface="Canva Sans"/>
              </a:rPr>
              <a:t>O → oxygen link </a:t>
            </a:r>
          </a:p>
          <a:p>
            <a:pPr algn="just">
              <a:lnSpc>
                <a:spcPts val="2940"/>
              </a:lnSpc>
            </a:pPr>
            <a:r>
              <a:rPr lang="en-US" sz="2100">
                <a:solidFill>
                  <a:srgbClr val="000000"/>
                </a:solidFill>
                <a:latin typeface="Canva Sans"/>
                <a:ea typeface="Canva Sans"/>
                <a:cs typeface="Canva Sans"/>
                <a:sym typeface="Canva Sans"/>
              </a:rPr>
              <a:t>C1=CC=CC=C1 → benzene ring C(=O)O → carboxylic acid</a:t>
            </a:r>
          </a:p>
        </p:txBody>
      </p:sp>
      <p:grpSp>
        <p:nvGrpSpPr>
          <p:cNvPr name="Group 11" id="11"/>
          <p:cNvGrpSpPr/>
          <p:nvPr/>
        </p:nvGrpSpPr>
        <p:grpSpPr>
          <a:xfrm rot="0">
            <a:off x="8037179" y="2704069"/>
            <a:ext cx="4750808" cy="3770994"/>
            <a:chOff x="0" y="0"/>
            <a:chExt cx="1251242" cy="993184"/>
          </a:xfrm>
        </p:grpSpPr>
        <p:sp>
          <p:nvSpPr>
            <p:cNvPr name="Freeform 12" id="12"/>
            <p:cNvSpPr/>
            <p:nvPr/>
          </p:nvSpPr>
          <p:spPr>
            <a:xfrm flipH="false" flipV="false" rot="0">
              <a:off x="0" y="0"/>
              <a:ext cx="1251242" cy="993184"/>
            </a:xfrm>
            <a:custGeom>
              <a:avLst/>
              <a:gdLst/>
              <a:ahLst/>
              <a:cxnLst/>
              <a:rect r="r" b="b" t="t" l="l"/>
              <a:pathLst>
                <a:path h="993184" w="1251242">
                  <a:moveTo>
                    <a:pt x="83110" y="0"/>
                  </a:moveTo>
                  <a:lnTo>
                    <a:pt x="1168132" y="0"/>
                  </a:lnTo>
                  <a:cubicBezTo>
                    <a:pt x="1190174" y="0"/>
                    <a:pt x="1211313" y="8756"/>
                    <a:pt x="1226899" y="24342"/>
                  </a:cubicBezTo>
                  <a:cubicBezTo>
                    <a:pt x="1242485" y="39928"/>
                    <a:pt x="1251242" y="61068"/>
                    <a:pt x="1251242" y="83110"/>
                  </a:cubicBezTo>
                  <a:lnTo>
                    <a:pt x="1251242" y="910074"/>
                  </a:lnTo>
                  <a:cubicBezTo>
                    <a:pt x="1251242" y="932116"/>
                    <a:pt x="1242485" y="953255"/>
                    <a:pt x="1226899" y="968841"/>
                  </a:cubicBezTo>
                  <a:cubicBezTo>
                    <a:pt x="1211313" y="984428"/>
                    <a:pt x="1190174" y="993184"/>
                    <a:pt x="1168132" y="993184"/>
                  </a:cubicBezTo>
                  <a:lnTo>
                    <a:pt x="83110" y="993184"/>
                  </a:lnTo>
                  <a:cubicBezTo>
                    <a:pt x="61068" y="993184"/>
                    <a:pt x="39928" y="984428"/>
                    <a:pt x="24342" y="968841"/>
                  </a:cubicBezTo>
                  <a:cubicBezTo>
                    <a:pt x="8756" y="953255"/>
                    <a:pt x="0" y="932116"/>
                    <a:pt x="0" y="910074"/>
                  </a:cubicBezTo>
                  <a:lnTo>
                    <a:pt x="0" y="83110"/>
                  </a:lnTo>
                  <a:cubicBezTo>
                    <a:pt x="0" y="61068"/>
                    <a:pt x="8756" y="39928"/>
                    <a:pt x="24342" y="24342"/>
                  </a:cubicBezTo>
                  <a:cubicBezTo>
                    <a:pt x="39928" y="8756"/>
                    <a:pt x="61068" y="0"/>
                    <a:pt x="83110" y="0"/>
                  </a:cubicBezTo>
                  <a:close/>
                </a:path>
              </a:pathLst>
            </a:custGeom>
            <a:ln w="38100" cap="rnd">
              <a:solidFill>
                <a:srgbClr val="000000"/>
              </a:solidFill>
              <a:prstDash val="solid"/>
              <a:round/>
            </a:ln>
          </p:spPr>
        </p:sp>
        <p:sp>
          <p:nvSpPr>
            <p:cNvPr name="TextBox 13" id="13"/>
            <p:cNvSpPr txBox="true"/>
            <p:nvPr/>
          </p:nvSpPr>
          <p:spPr>
            <a:xfrm>
              <a:off x="0" y="-28575"/>
              <a:ext cx="1251242" cy="1021759"/>
            </a:xfrm>
            <a:prstGeom prst="rect">
              <a:avLst/>
            </a:prstGeom>
          </p:spPr>
          <p:txBody>
            <a:bodyPr anchor="ctr" rtlCol="false" tIns="50800" lIns="50800" bIns="50800" rIns="50800"/>
            <a:lstStyle/>
            <a:p>
              <a:pPr algn="ctr">
                <a:lnSpc>
                  <a:spcPts val="1869"/>
                </a:lnSpc>
              </a:pPr>
            </a:p>
          </p:txBody>
        </p:sp>
      </p:grpSp>
      <p:sp>
        <p:nvSpPr>
          <p:cNvPr name="TextBox 14" id="14"/>
          <p:cNvSpPr txBox="true"/>
          <p:nvPr/>
        </p:nvSpPr>
        <p:spPr>
          <a:xfrm rot="0">
            <a:off x="8240237" y="2894021"/>
            <a:ext cx="4344692" cy="2210435"/>
          </a:xfrm>
          <a:prstGeom prst="rect">
            <a:avLst/>
          </a:prstGeom>
        </p:spPr>
        <p:txBody>
          <a:bodyPr anchor="t" rtlCol="false" tIns="0" lIns="0" bIns="0" rIns="0">
            <a:spAutoFit/>
          </a:bodyPr>
          <a:lstStyle/>
          <a:p>
            <a:pPr algn="l">
              <a:lnSpc>
                <a:spcPts val="2749"/>
              </a:lnSpc>
            </a:pPr>
            <a:r>
              <a:rPr lang="en-US" sz="2499" spc="99" b="true">
                <a:solidFill>
                  <a:srgbClr val="000000"/>
                </a:solidFill>
                <a:latin typeface="Canva Sans Bold"/>
                <a:ea typeface="Canva Sans Bold"/>
                <a:cs typeface="Canva Sans Bold"/>
                <a:sym typeface="Canva Sans Bold"/>
              </a:rPr>
              <a:t>Paracetamol Breakdown</a:t>
            </a:r>
          </a:p>
          <a:p>
            <a:pPr algn="l">
              <a:lnSpc>
                <a:spcPts val="2749"/>
              </a:lnSpc>
              <a:spcBef>
                <a:spcPct val="0"/>
              </a:spcBef>
            </a:pPr>
          </a:p>
          <a:p>
            <a:pPr algn="l">
              <a:lnSpc>
                <a:spcPts val="2309"/>
              </a:lnSpc>
              <a:spcBef>
                <a:spcPct val="0"/>
              </a:spcBef>
            </a:pPr>
            <a:r>
              <a:rPr lang="en-US" b="true" sz="2099" spc="83">
                <a:solidFill>
                  <a:srgbClr val="000000"/>
                </a:solidFill>
                <a:latin typeface="Canva Sans Bold"/>
                <a:ea typeface="Canva Sans Bold"/>
                <a:cs typeface="Canva Sans Bold"/>
                <a:sym typeface="Canva Sans Bold"/>
              </a:rPr>
              <a:t>CC(=O)NC1=CC=C(O)C=C1 </a:t>
            </a:r>
          </a:p>
          <a:p>
            <a:pPr algn="l">
              <a:lnSpc>
                <a:spcPts val="2939"/>
              </a:lnSpc>
            </a:pPr>
          </a:p>
          <a:p>
            <a:pPr algn="l">
              <a:lnSpc>
                <a:spcPts val="2309"/>
              </a:lnSpc>
              <a:spcBef>
                <a:spcPct val="0"/>
              </a:spcBef>
            </a:pPr>
            <a:r>
              <a:rPr lang="en-US" sz="2099" spc="83">
                <a:solidFill>
                  <a:srgbClr val="000000"/>
                </a:solidFill>
                <a:latin typeface="Canva Sans"/>
                <a:ea typeface="Canva Sans"/>
                <a:cs typeface="Canva Sans"/>
                <a:sym typeface="Canva Sans"/>
              </a:rPr>
              <a:t>CC(=O) → acetyl group </a:t>
            </a:r>
          </a:p>
          <a:p>
            <a:pPr algn="l">
              <a:lnSpc>
                <a:spcPts val="2309"/>
              </a:lnSpc>
              <a:spcBef>
                <a:spcPct val="0"/>
              </a:spcBef>
            </a:pPr>
            <a:r>
              <a:rPr lang="en-US" sz="2099">
                <a:solidFill>
                  <a:srgbClr val="000000"/>
                </a:solidFill>
                <a:latin typeface="Canva Sans"/>
                <a:ea typeface="Canva Sans"/>
                <a:cs typeface="Canva Sans"/>
                <a:sym typeface="Canva Sans"/>
              </a:rPr>
              <a:t>N → nitrogen link </a:t>
            </a:r>
          </a:p>
          <a:p>
            <a:pPr algn="l">
              <a:lnSpc>
                <a:spcPts val="2309"/>
              </a:lnSpc>
              <a:spcBef>
                <a:spcPct val="0"/>
              </a:spcBef>
            </a:pPr>
            <a:r>
              <a:rPr lang="en-US" sz="2099" spc="83">
                <a:solidFill>
                  <a:srgbClr val="000000"/>
                </a:solidFill>
                <a:latin typeface="Canva Sans"/>
                <a:ea typeface="Canva Sans"/>
                <a:cs typeface="Canva Sans"/>
                <a:sym typeface="Canva Sans"/>
              </a:rPr>
              <a:t>C1=CC=C(O)C=C1 → phenol ring</a:t>
            </a:r>
          </a:p>
        </p:txBody>
      </p:sp>
      <p:sp>
        <p:nvSpPr>
          <p:cNvPr name="Freeform 15" id="15"/>
          <p:cNvSpPr/>
          <p:nvPr/>
        </p:nvSpPr>
        <p:spPr>
          <a:xfrm flipH="false" flipV="false" rot="0">
            <a:off x="-246768" y="-584512"/>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4">
              <a:alphaModFix amt="37000"/>
            </a:blip>
            <a:stretch>
              <a:fillRect l="0" t="0" r="0" b="0"/>
            </a:stretch>
          </a:blipFill>
        </p:spPr>
      </p:sp>
    </p:spTree>
  </p:cSld>
  <p:clrMapOvr>
    <a:masterClrMapping/>
  </p:clrMapOvr>
</p:sld>
</file>

<file path=ppt/slides/slide89.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5015114">
            <a:off x="9740863" y="2343404"/>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427040" y="1543144"/>
            <a:ext cx="15433919" cy="7619050"/>
            <a:chOff x="0" y="0"/>
            <a:chExt cx="4064900" cy="2006663"/>
          </a:xfrm>
        </p:grpSpPr>
        <p:sp>
          <p:nvSpPr>
            <p:cNvPr name="Freeform 4" id="4"/>
            <p:cNvSpPr/>
            <p:nvPr/>
          </p:nvSpPr>
          <p:spPr>
            <a:xfrm flipH="false" flipV="false" rot="0">
              <a:off x="0" y="0"/>
              <a:ext cx="4064900" cy="2006663"/>
            </a:xfrm>
            <a:custGeom>
              <a:avLst/>
              <a:gdLst/>
              <a:ahLst/>
              <a:cxnLst/>
              <a:rect r="r" b="b" t="t" l="l"/>
              <a:pathLst>
                <a:path h="2006663" w="4064900">
                  <a:moveTo>
                    <a:pt x="0" y="0"/>
                  </a:moveTo>
                  <a:lnTo>
                    <a:pt x="4064900" y="0"/>
                  </a:lnTo>
                  <a:lnTo>
                    <a:pt x="4064900" y="2006663"/>
                  </a:lnTo>
                  <a:lnTo>
                    <a:pt x="0" y="200666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64900" cy="2035238"/>
            </a:xfrm>
            <a:prstGeom prst="rect">
              <a:avLst/>
            </a:prstGeom>
          </p:spPr>
          <p:txBody>
            <a:bodyPr anchor="ctr" rtlCol="false" tIns="50800" lIns="50800" bIns="50800" rIns="50800"/>
            <a:lstStyle/>
            <a:p>
              <a:pPr algn="ctr">
                <a:lnSpc>
                  <a:spcPts val="1869"/>
                </a:lnSpc>
              </a:pPr>
            </a:p>
          </p:txBody>
        </p:sp>
      </p:grpSp>
      <p:sp>
        <p:nvSpPr>
          <p:cNvPr name="AutoShape 6" id="6"/>
          <p:cNvSpPr/>
          <p:nvPr/>
        </p:nvSpPr>
        <p:spPr>
          <a:xfrm flipV="true">
            <a:off x="8654651" y="2652442"/>
            <a:ext cx="0" cy="5211720"/>
          </a:xfrm>
          <a:prstGeom prst="line">
            <a:avLst/>
          </a:prstGeom>
          <a:ln cap="flat" w="38100">
            <a:solidFill>
              <a:srgbClr val="192253"/>
            </a:solidFill>
            <a:prstDash val="solid"/>
            <a:headEnd type="none" len="sm" w="sm"/>
            <a:tailEnd type="none" len="sm" w="sm"/>
          </a:ln>
        </p:spPr>
      </p:sp>
      <p:grpSp>
        <p:nvGrpSpPr>
          <p:cNvPr name="Group 7" id="7"/>
          <p:cNvGrpSpPr>
            <a:grpSpLocks noChangeAspect="true"/>
          </p:cNvGrpSpPr>
          <p:nvPr/>
        </p:nvGrpSpPr>
        <p:grpSpPr>
          <a:xfrm rot="0">
            <a:off x="8469692" y="2467483"/>
            <a:ext cx="369918" cy="369918"/>
            <a:chOff x="6705600" y="1371600"/>
            <a:chExt cx="10972800" cy="10972800"/>
          </a:xfrm>
        </p:grpSpPr>
        <p:sp>
          <p:nvSpPr>
            <p:cNvPr name="Freeform 8" id="8"/>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9" id="9"/>
          <p:cNvGrpSpPr>
            <a:grpSpLocks noChangeAspect="true"/>
          </p:cNvGrpSpPr>
          <p:nvPr/>
        </p:nvGrpSpPr>
        <p:grpSpPr>
          <a:xfrm rot="0">
            <a:off x="8469692" y="4958541"/>
            <a:ext cx="369918" cy="369918"/>
            <a:chOff x="6705600" y="1371600"/>
            <a:chExt cx="10972800" cy="10972800"/>
          </a:xfrm>
        </p:grpSpPr>
        <p:sp>
          <p:nvSpPr>
            <p:cNvPr name="Freeform 10" id="10"/>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11" id="11"/>
          <p:cNvGrpSpPr>
            <a:grpSpLocks noChangeAspect="true"/>
          </p:cNvGrpSpPr>
          <p:nvPr/>
        </p:nvGrpSpPr>
        <p:grpSpPr>
          <a:xfrm rot="0">
            <a:off x="8469692" y="7679203"/>
            <a:ext cx="369918" cy="369918"/>
            <a:chOff x="6705600" y="1371600"/>
            <a:chExt cx="10972800" cy="10972800"/>
          </a:xfrm>
        </p:grpSpPr>
        <p:sp>
          <p:nvSpPr>
            <p:cNvPr name="Freeform 12" id="12"/>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sp>
        <p:nvSpPr>
          <p:cNvPr name="Freeform 13" id="13"/>
          <p:cNvSpPr/>
          <p:nvPr/>
        </p:nvSpPr>
        <p:spPr>
          <a:xfrm flipH="false" flipV="false" rot="0">
            <a:off x="1928260" y="4230635"/>
            <a:ext cx="5816285" cy="2195648"/>
          </a:xfrm>
          <a:custGeom>
            <a:avLst/>
            <a:gdLst/>
            <a:ahLst/>
            <a:cxnLst/>
            <a:rect r="r" b="b" t="t" l="l"/>
            <a:pathLst>
              <a:path h="2195648" w="5816285">
                <a:moveTo>
                  <a:pt x="0" y="0"/>
                </a:moveTo>
                <a:lnTo>
                  <a:pt x="5816285" y="0"/>
                </a:lnTo>
                <a:lnTo>
                  <a:pt x="5816285" y="2195648"/>
                </a:lnTo>
                <a:lnTo>
                  <a:pt x="0" y="2195648"/>
                </a:lnTo>
                <a:lnTo>
                  <a:pt x="0" y="0"/>
                </a:lnTo>
                <a:close/>
              </a:path>
            </a:pathLst>
          </a:custGeom>
          <a:blipFill>
            <a:blip r:embed="rId4"/>
            <a:stretch>
              <a:fillRect l="0" t="0" r="0" b="0"/>
            </a:stretch>
          </a:blipFill>
        </p:spPr>
      </p:sp>
      <p:sp>
        <p:nvSpPr>
          <p:cNvPr name="TextBox 14" id="14"/>
          <p:cNvSpPr txBox="true"/>
          <p:nvPr/>
        </p:nvSpPr>
        <p:spPr>
          <a:xfrm rot="0">
            <a:off x="9054139" y="2441888"/>
            <a:ext cx="5260448" cy="480060"/>
          </a:xfrm>
          <a:prstGeom prst="rect">
            <a:avLst/>
          </a:prstGeom>
        </p:spPr>
        <p:txBody>
          <a:bodyPr anchor="t" rtlCol="false" tIns="0" lIns="0" bIns="0" rIns="0">
            <a:spAutoFit/>
          </a:bodyPr>
          <a:lstStyle/>
          <a:p>
            <a:pPr algn="just">
              <a:lnSpc>
                <a:spcPts val="3630"/>
              </a:lnSpc>
            </a:pPr>
            <a:r>
              <a:rPr lang="en-US" sz="3300" spc="105">
                <a:solidFill>
                  <a:srgbClr val="000000"/>
                </a:solidFill>
                <a:latin typeface="Open Sauce"/>
                <a:ea typeface="Open Sauce"/>
                <a:cs typeface="Open Sauce"/>
                <a:sym typeface="Open Sauce"/>
              </a:rPr>
              <a:t>SMILES</a:t>
            </a:r>
          </a:p>
        </p:txBody>
      </p:sp>
      <p:sp>
        <p:nvSpPr>
          <p:cNvPr name="TextBox 15" id="15"/>
          <p:cNvSpPr txBox="true"/>
          <p:nvPr/>
        </p:nvSpPr>
        <p:spPr>
          <a:xfrm rot="0">
            <a:off x="9054139" y="4677528"/>
            <a:ext cx="6071459" cy="480060"/>
          </a:xfrm>
          <a:prstGeom prst="rect">
            <a:avLst/>
          </a:prstGeom>
        </p:spPr>
        <p:txBody>
          <a:bodyPr anchor="t" rtlCol="false" tIns="0" lIns="0" bIns="0" rIns="0">
            <a:spAutoFit/>
          </a:bodyPr>
          <a:lstStyle/>
          <a:p>
            <a:pPr algn="just">
              <a:lnSpc>
                <a:spcPts val="3630"/>
              </a:lnSpc>
            </a:pPr>
            <a:r>
              <a:rPr lang="en-US" sz="3300" spc="105">
                <a:solidFill>
                  <a:srgbClr val="000000"/>
                </a:solidFill>
                <a:latin typeface="Open Sauce"/>
                <a:ea typeface="Open Sauce"/>
                <a:cs typeface="Open Sauce"/>
                <a:sym typeface="Open Sauce"/>
              </a:rPr>
              <a:t>No Libraries required</a:t>
            </a:r>
          </a:p>
        </p:txBody>
      </p:sp>
      <p:sp>
        <p:nvSpPr>
          <p:cNvPr name="TextBox 16" id="16"/>
          <p:cNvSpPr txBox="true"/>
          <p:nvPr/>
        </p:nvSpPr>
        <p:spPr>
          <a:xfrm rot="0">
            <a:off x="9054139" y="3164444"/>
            <a:ext cx="7022611" cy="247269"/>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Encoded as strings in Python</a:t>
            </a:r>
          </a:p>
        </p:txBody>
      </p:sp>
      <p:sp>
        <p:nvSpPr>
          <p:cNvPr name="TextBox 17" id="17"/>
          <p:cNvSpPr txBox="true"/>
          <p:nvPr/>
        </p:nvSpPr>
        <p:spPr>
          <a:xfrm rot="0">
            <a:off x="9054139" y="5376663"/>
            <a:ext cx="6986316" cy="247269"/>
          </a:xfrm>
          <a:prstGeom prst="rect">
            <a:avLst/>
          </a:prstGeom>
        </p:spPr>
        <p:txBody>
          <a:bodyPr anchor="t" rtlCol="false" tIns="0" lIns="0" bIns="0" rIns="0">
            <a:spAutoFit/>
          </a:bodyPr>
          <a:lstStyle/>
          <a:p>
            <a:pPr algn="l">
              <a:lnSpc>
                <a:spcPts val="2058"/>
              </a:lnSpc>
            </a:pPr>
            <a:r>
              <a:rPr lang="en-US" sz="1400">
                <a:solidFill>
                  <a:srgbClr val="000000"/>
                </a:solidFill>
                <a:latin typeface="Open Sauce"/>
                <a:ea typeface="Open Sauce"/>
                <a:cs typeface="Open Sauce"/>
                <a:sym typeface="Open Sauce"/>
              </a:rPr>
              <a:t>At this point standard Python is all that’s required </a:t>
            </a:r>
          </a:p>
        </p:txBody>
      </p:sp>
      <p:sp>
        <p:nvSpPr>
          <p:cNvPr name="TextBox 18" id="18"/>
          <p:cNvSpPr txBox="true"/>
          <p:nvPr/>
        </p:nvSpPr>
        <p:spPr>
          <a:xfrm rot="0">
            <a:off x="9054139" y="7587167"/>
            <a:ext cx="5260448" cy="480060"/>
          </a:xfrm>
          <a:prstGeom prst="rect">
            <a:avLst/>
          </a:prstGeom>
        </p:spPr>
        <p:txBody>
          <a:bodyPr anchor="t" rtlCol="false" tIns="0" lIns="0" bIns="0" rIns="0">
            <a:spAutoFit/>
          </a:bodyPr>
          <a:lstStyle/>
          <a:p>
            <a:pPr algn="just">
              <a:lnSpc>
                <a:spcPts val="3630"/>
              </a:lnSpc>
            </a:pPr>
            <a:r>
              <a:rPr lang="en-US" sz="3300" spc="105">
                <a:solidFill>
                  <a:srgbClr val="000000"/>
                </a:solidFill>
                <a:latin typeface="Open Sauce"/>
                <a:ea typeface="Open Sauce"/>
                <a:cs typeface="Open Sauce"/>
                <a:sym typeface="Open Sauce"/>
              </a:rPr>
              <a:t>Other line notations</a:t>
            </a:r>
          </a:p>
        </p:txBody>
      </p:sp>
      <p:sp>
        <p:nvSpPr>
          <p:cNvPr name="TextBox 19" id="19"/>
          <p:cNvSpPr txBox="true"/>
          <p:nvPr/>
        </p:nvSpPr>
        <p:spPr>
          <a:xfrm rot="0">
            <a:off x="9054139" y="8286302"/>
            <a:ext cx="6986316" cy="247269"/>
          </a:xfrm>
          <a:prstGeom prst="rect">
            <a:avLst/>
          </a:prstGeom>
        </p:spPr>
        <p:txBody>
          <a:bodyPr anchor="t" rtlCol="false" tIns="0" lIns="0" bIns="0" rIns="0">
            <a:spAutoFit/>
          </a:bodyPr>
          <a:lstStyle/>
          <a:p>
            <a:pPr algn="l">
              <a:lnSpc>
                <a:spcPts val="2058"/>
              </a:lnSpc>
            </a:pPr>
            <a:r>
              <a:rPr lang="en-US" sz="1400">
                <a:solidFill>
                  <a:srgbClr val="000000"/>
                </a:solidFill>
                <a:latin typeface="Open Sauce"/>
                <a:ea typeface="Open Sauce"/>
                <a:cs typeface="Open Sauce"/>
                <a:sym typeface="Open Sauce"/>
              </a:rPr>
              <a:t>There are other line notations. INCHI, INCHI-key, WLN etc </a:t>
            </a:r>
          </a:p>
        </p:txBody>
      </p:sp>
      <p:sp>
        <p:nvSpPr>
          <p:cNvPr name="Freeform 20" id="20"/>
          <p:cNvSpPr/>
          <p:nvPr/>
        </p:nvSpPr>
        <p:spPr>
          <a:xfrm flipH="false" flipV="false" rot="0">
            <a:off x="-234227" y="-405825"/>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5">
              <a:alphaModFix amt="37000"/>
            </a:blip>
            <a:stretch>
              <a:fillRect l="0" t="0" r="0" b="0"/>
            </a:stretch>
          </a:blipFill>
        </p:spPr>
      </p:sp>
    </p:spTree>
  </p:cSld>
  <p:clrMapOvr>
    <a:masterClrMapping/>
  </p:clrMapOvr>
</p:sld>
</file>

<file path=ppt/slides/slide90.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5015114">
            <a:off x="9740863" y="2343404"/>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427040" y="1543144"/>
            <a:ext cx="15433919" cy="7619050"/>
            <a:chOff x="0" y="0"/>
            <a:chExt cx="4064900" cy="2006663"/>
          </a:xfrm>
        </p:grpSpPr>
        <p:sp>
          <p:nvSpPr>
            <p:cNvPr name="Freeform 4" id="4"/>
            <p:cNvSpPr/>
            <p:nvPr/>
          </p:nvSpPr>
          <p:spPr>
            <a:xfrm flipH="false" flipV="false" rot="0">
              <a:off x="0" y="0"/>
              <a:ext cx="4064900" cy="2006663"/>
            </a:xfrm>
            <a:custGeom>
              <a:avLst/>
              <a:gdLst/>
              <a:ahLst/>
              <a:cxnLst/>
              <a:rect r="r" b="b" t="t" l="l"/>
              <a:pathLst>
                <a:path h="2006663" w="4064900">
                  <a:moveTo>
                    <a:pt x="0" y="0"/>
                  </a:moveTo>
                  <a:lnTo>
                    <a:pt x="4064900" y="0"/>
                  </a:lnTo>
                  <a:lnTo>
                    <a:pt x="4064900" y="2006663"/>
                  </a:lnTo>
                  <a:lnTo>
                    <a:pt x="0" y="200666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64900" cy="2035238"/>
            </a:xfrm>
            <a:prstGeom prst="rect">
              <a:avLst/>
            </a:prstGeom>
          </p:spPr>
          <p:txBody>
            <a:bodyPr anchor="ctr" rtlCol="false" tIns="50800" lIns="50800" bIns="50800" rIns="50800"/>
            <a:lstStyle/>
            <a:p>
              <a:pPr algn="ctr">
                <a:lnSpc>
                  <a:spcPts val="1869"/>
                </a:lnSpc>
              </a:pPr>
            </a:p>
          </p:txBody>
        </p:sp>
      </p:grpSp>
      <p:sp>
        <p:nvSpPr>
          <p:cNvPr name="AutoShape 6" id="6"/>
          <p:cNvSpPr/>
          <p:nvPr/>
        </p:nvSpPr>
        <p:spPr>
          <a:xfrm flipV="true">
            <a:off x="8654651" y="2652442"/>
            <a:ext cx="0" cy="5211720"/>
          </a:xfrm>
          <a:prstGeom prst="line">
            <a:avLst/>
          </a:prstGeom>
          <a:ln cap="flat" w="38100">
            <a:solidFill>
              <a:srgbClr val="192253"/>
            </a:solidFill>
            <a:prstDash val="solid"/>
            <a:headEnd type="none" len="sm" w="sm"/>
            <a:tailEnd type="none" len="sm" w="sm"/>
          </a:ln>
        </p:spPr>
      </p:sp>
      <p:grpSp>
        <p:nvGrpSpPr>
          <p:cNvPr name="Group 7" id="7"/>
          <p:cNvGrpSpPr>
            <a:grpSpLocks noChangeAspect="true"/>
          </p:cNvGrpSpPr>
          <p:nvPr/>
        </p:nvGrpSpPr>
        <p:grpSpPr>
          <a:xfrm rot="0">
            <a:off x="8469692" y="2467483"/>
            <a:ext cx="369918" cy="369918"/>
            <a:chOff x="6705600" y="1371600"/>
            <a:chExt cx="10972800" cy="10972800"/>
          </a:xfrm>
        </p:grpSpPr>
        <p:sp>
          <p:nvSpPr>
            <p:cNvPr name="Freeform 8" id="8"/>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9" id="9"/>
          <p:cNvGrpSpPr>
            <a:grpSpLocks noChangeAspect="true"/>
          </p:cNvGrpSpPr>
          <p:nvPr/>
        </p:nvGrpSpPr>
        <p:grpSpPr>
          <a:xfrm rot="0">
            <a:off x="8469692" y="4958541"/>
            <a:ext cx="369918" cy="369918"/>
            <a:chOff x="6705600" y="1371600"/>
            <a:chExt cx="10972800" cy="10972800"/>
          </a:xfrm>
        </p:grpSpPr>
        <p:sp>
          <p:nvSpPr>
            <p:cNvPr name="Freeform 10" id="10"/>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11" id="11"/>
          <p:cNvGrpSpPr>
            <a:grpSpLocks noChangeAspect="true"/>
          </p:cNvGrpSpPr>
          <p:nvPr/>
        </p:nvGrpSpPr>
        <p:grpSpPr>
          <a:xfrm rot="0">
            <a:off x="8469692" y="7679203"/>
            <a:ext cx="369918" cy="369918"/>
            <a:chOff x="6705600" y="1371600"/>
            <a:chExt cx="10972800" cy="10972800"/>
          </a:xfrm>
        </p:grpSpPr>
        <p:sp>
          <p:nvSpPr>
            <p:cNvPr name="Freeform 12" id="12"/>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sp>
        <p:nvSpPr>
          <p:cNvPr name="Freeform 13" id="13"/>
          <p:cNvSpPr/>
          <p:nvPr/>
        </p:nvSpPr>
        <p:spPr>
          <a:xfrm flipH="false" flipV="false" rot="0">
            <a:off x="1896574" y="4451486"/>
            <a:ext cx="6017514" cy="1384028"/>
          </a:xfrm>
          <a:custGeom>
            <a:avLst/>
            <a:gdLst/>
            <a:ahLst/>
            <a:cxnLst/>
            <a:rect r="r" b="b" t="t" l="l"/>
            <a:pathLst>
              <a:path h="1384028" w="6017514">
                <a:moveTo>
                  <a:pt x="0" y="0"/>
                </a:moveTo>
                <a:lnTo>
                  <a:pt x="6017514" y="0"/>
                </a:lnTo>
                <a:lnTo>
                  <a:pt x="6017514" y="1384028"/>
                </a:lnTo>
                <a:lnTo>
                  <a:pt x="0" y="1384028"/>
                </a:lnTo>
                <a:lnTo>
                  <a:pt x="0" y="0"/>
                </a:lnTo>
                <a:close/>
              </a:path>
            </a:pathLst>
          </a:custGeom>
          <a:blipFill>
            <a:blip r:embed="rId4"/>
            <a:stretch>
              <a:fillRect l="0" t="0" r="0" b="0"/>
            </a:stretch>
          </a:blipFill>
        </p:spPr>
      </p:sp>
      <p:sp>
        <p:nvSpPr>
          <p:cNvPr name="TextBox 14" id="14"/>
          <p:cNvSpPr txBox="true"/>
          <p:nvPr/>
        </p:nvSpPr>
        <p:spPr>
          <a:xfrm rot="0">
            <a:off x="9054139" y="2441888"/>
            <a:ext cx="6697503" cy="480060"/>
          </a:xfrm>
          <a:prstGeom prst="rect">
            <a:avLst/>
          </a:prstGeom>
        </p:spPr>
        <p:txBody>
          <a:bodyPr anchor="t" rtlCol="false" tIns="0" lIns="0" bIns="0" rIns="0">
            <a:spAutoFit/>
          </a:bodyPr>
          <a:lstStyle/>
          <a:p>
            <a:pPr algn="just">
              <a:lnSpc>
                <a:spcPts val="3630"/>
              </a:lnSpc>
            </a:pPr>
            <a:r>
              <a:rPr lang="en-US" sz="3300" spc="105">
                <a:solidFill>
                  <a:srgbClr val="000000"/>
                </a:solidFill>
                <a:latin typeface="Open Sauce"/>
                <a:ea typeface="Open Sauce"/>
                <a:cs typeface="Open Sauce"/>
                <a:sym typeface="Open Sauce"/>
              </a:rPr>
              <a:t>Creating the molecular object</a:t>
            </a:r>
          </a:p>
        </p:txBody>
      </p:sp>
      <p:sp>
        <p:nvSpPr>
          <p:cNvPr name="TextBox 15" id="15"/>
          <p:cNvSpPr txBox="true"/>
          <p:nvPr/>
        </p:nvSpPr>
        <p:spPr>
          <a:xfrm rot="0">
            <a:off x="9054139" y="4869354"/>
            <a:ext cx="7522743" cy="937260"/>
          </a:xfrm>
          <a:prstGeom prst="rect">
            <a:avLst/>
          </a:prstGeom>
        </p:spPr>
        <p:txBody>
          <a:bodyPr anchor="t" rtlCol="false" tIns="0" lIns="0" bIns="0" rIns="0">
            <a:spAutoFit/>
          </a:bodyPr>
          <a:lstStyle/>
          <a:p>
            <a:pPr algn="l">
              <a:lnSpc>
                <a:spcPts val="3630"/>
              </a:lnSpc>
            </a:pPr>
            <a:r>
              <a:rPr lang="en-US" sz="3300" spc="105">
                <a:solidFill>
                  <a:srgbClr val="000000"/>
                </a:solidFill>
                <a:latin typeface="Open Sauce"/>
                <a:ea typeface="Open Sauce"/>
                <a:cs typeface="Open Sauce"/>
                <a:sym typeface="Open Sauce"/>
              </a:rPr>
              <a:t>Uses Chem module to convert SMILES into3D  structure</a:t>
            </a:r>
          </a:p>
        </p:txBody>
      </p:sp>
      <p:sp>
        <p:nvSpPr>
          <p:cNvPr name="TextBox 16" id="16"/>
          <p:cNvSpPr txBox="true"/>
          <p:nvPr/>
        </p:nvSpPr>
        <p:spPr>
          <a:xfrm rot="0">
            <a:off x="9054139" y="3164444"/>
            <a:ext cx="7022611" cy="504444"/>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Computational representation that contains all atomic coordinates, bond information, and molecular properties in a format the computer can manipulate</a:t>
            </a:r>
          </a:p>
        </p:txBody>
      </p:sp>
      <p:sp>
        <p:nvSpPr>
          <p:cNvPr name="TextBox 17" id="17"/>
          <p:cNvSpPr txBox="true"/>
          <p:nvPr/>
        </p:nvSpPr>
        <p:spPr>
          <a:xfrm rot="0">
            <a:off x="9054139" y="7587167"/>
            <a:ext cx="6697503" cy="480060"/>
          </a:xfrm>
          <a:prstGeom prst="rect">
            <a:avLst/>
          </a:prstGeom>
        </p:spPr>
        <p:txBody>
          <a:bodyPr anchor="t" rtlCol="false" tIns="0" lIns="0" bIns="0" rIns="0">
            <a:spAutoFit/>
          </a:bodyPr>
          <a:lstStyle/>
          <a:p>
            <a:pPr algn="just">
              <a:lnSpc>
                <a:spcPts val="3630"/>
              </a:lnSpc>
            </a:pPr>
            <a:r>
              <a:rPr lang="en-US" sz="3300" spc="105">
                <a:solidFill>
                  <a:srgbClr val="000000"/>
                </a:solidFill>
                <a:latin typeface="Open Sauce"/>
                <a:ea typeface="Open Sauce"/>
                <a:cs typeface="Open Sauce"/>
                <a:sym typeface="Open Sauce"/>
              </a:rPr>
              <a:t>Key step in cheminformatics</a:t>
            </a:r>
          </a:p>
        </p:txBody>
      </p:sp>
      <p:sp>
        <p:nvSpPr>
          <p:cNvPr name="TextBox 18" id="18"/>
          <p:cNvSpPr txBox="true"/>
          <p:nvPr/>
        </p:nvSpPr>
        <p:spPr>
          <a:xfrm rot="0">
            <a:off x="9054139" y="8286302"/>
            <a:ext cx="6986316" cy="761619"/>
          </a:xfrm>
          <a:prstGeom prst="rect">
            <a:avLst/>
          </a:prstGeom>
        </p:spPr>
        <p:txBody>
          <a:bodyPr anchor="t" rtlCol="false" tIns="0" lIns="0" bIns="0" rIns="0">
            <a:spAutoFit/>
          </a:bodyPr>
          <a:lstStyle/>
          <a:p>
            <a:pPr algn="l">
              <a:lnSpc>
                <a:spcPts val="2058"/>
              </a:lnSpc>
            </a:pPr>
            <a:r>
              <a:rPr lang="en-US" sz="1400">
                <a:solidFill>
                  <a:srgbClr val="000000"/>
                </a:solidFill>
                <a:latin typeface="Open Sauce"/>
                <a:ea typeface="Open Sauce"/>
                <a:cs typeface="Open Sauce"/>
                <a:sym typeface="Open Sauce"/>
              </a:rPr>
              <a:t>To perform calculations, generate 3D structures, or analyse molecular properties, we need the more detailed molecular object format that contains spatial and electronic information</a:t>
            </a:r>
          </a:p>
        </p:txBody>
      </p:sp>
      <p:sp>
        <p:nvSpPr>
          <p:cNvPr name="Freeform 19" id="19"/>
          <p:cNvSpPr/>
          <p:nvPr/>
        </p:nvSpPr>
        <p:spPr>
          <a:xfrm flipH="false" flipV="false" rot="0">
            <a:off x="-234227" y="-405825"/>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5">
              <a:alphaModFix amt="37000"/>
            </a:blip>
            <a:stretch>
              <a:fillRect l="0" t="0" r="0" b="0"/>
            </a:stretch>
          </a:blipFill>
        </p:spPr>
      </p:sp>
    </p:spTree>
  </p:cSld>
  <p:clrMapOvr>
    <a:masterClrMapping/>
  </p:clrMapOvr>
</p:sld>
</file>

<file path=ppt/slides/slide91.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5015114">
            <a:off x="9740863" y="2343404"/>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266567" y="1028700"/>
            <a:ext cx="15502154" cy="8665317"/>
            <a:chOff x="0" y="0"/>
            <a:chExt cx="4082872" cy="2282224"/>
          </a:xfrm>
        </p:grpSpPr>
        <p:sp>
          <p:nvSpPr>
            <p:cNvPr name="Freeform 4" id="4"/>
            <p:cNvSpPr/>
            <p:nvPr/>
          </p:nvSpPr>
          <p:spPr>
            <a:xfrm flipH="false" flipV="false" rot="0">
              <a:off x="0" y="0"/>
              <a:ext cx="4082872" cy="2282223"/>
            </a:xfrm>
            <a:custGeom>
              <a:avLst/>
              <a:gdLst/>
              <a:ahLst/>
              <a:cxnLst/>
              <a:rect r="r" b="b" t="t" l="l"/>
              <a:pathLst>
                <a:path h="2282223" w="4082872">
                  <a:moveTo>
                    <a:pt x="0" y="0"/>
                  </a:moveTo>
                  <a:lnTo>
                    <a:pt x="4082872" y="0"/>
                  </a:lnTo>
                  <a:lnTo>
                    <a:pt x="4082872" y="2282223"/>
                  </a:lnTo>
                  <a:lnTo>
                    <a:pt x="0" y="228222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82872" cy="2310799"/>
            </a:xfrm>
            <a:prstGeom prst="rect">
              <a:avLst/>
            </a:prstGeom>
          </p:spPr>
          <p:txBody>
            <a:bodyPr anchor="ctr" rtlCol="false" tIns="50800" lIns="50800" bIns="50800" rIns="50800"/>
            <a:lstStyle/>
            <a:p>
              <a:pPr algn="ctr">
                <a:lnSpc>
                  <a:spcPts val="1869"/>
                </a:lnSpc>
              </a:pPr>
            </a:p>
          </p:txBody>
        </p:sp>
      </p:grpSp>
      <p:sp>
        <p:nvSpPr>
          <p:cNvPr name="Freeform 6" id="6"/>
          <p:cNvSpPr/>
          <p:nvPr/>
        </p:nvSpPr>
        <p:spPr>
          <a:xfrm flipH="false" flipV="false" rot="0">
            <a:off x="5734901" y="2596353"/>
            <a:ext cx="7099014" cy="2280558"/>
          </a:xfrm>
          <a:custGeom>
            <a:avLst/>
            <a:gdLst/>
            <a:ahLst/>
            <a:cxnLst/>
            <a:rect r="r" b="b" t="t" l="l"/>
            <a:pathLst>
              <a:path h="2280558" w="7099014">
                <a:moveTo>
                  <a:pt x="0" y="0"/>
                </a:moveTo>
                <a:lnTo>
                  <a:pt x="7099013" y="0"/>
                </a:lnTo>
                <a:lnTo>
                  <a:pt x="7099013" y="2280559"/>
                </a:lnTo>
                <a:lnTo>
                  <a:pt x="0" y="2280559"/>
                </a:lnTo>
                <a:lnTo>
                  <a:pt x="0" y="0"/>
                </a:lnTo>
                <a:close/>
              </a:path>
            </a:pathLst>
          </a:custGeom>
          <a:blipFill>
            <a:blip r:embed="rId4"/>
            <a:stretch>
              <a:fillRect l="0" t="0" r="0" b="0"/>
            </a:stretch>
          </a:blipFill>
        </p:spPr>
      </p:sp>
      <p:sp>
        <p:nvSpPr>
          <p:cNvPr name="TextBox 7" id="7"/>
          <p:cNvSpPr txBox="true"/>
          <p:nvPr/>
        </p:nvSpPr>
        <p:spPr>
          <a:xfrm rot="0">
            <a:off x="5038723" y="1631846"/>
            <a:ext cx="8491369" cy="480060"/>
          </a:xfrm>
          <a:prstGeom prst="rect">
            <a:avLst/>
          </a:prstGeom>
        </p:spPr>
        <p:txBody>
          <a:bodyPr anchor="t" rtlCol="false" tIns="0" lIns="0" bIns="0" rIns="0">
            <a:spAutoFit/>
          </a:bodyPr>
          <a:lstStyle/>
          <a:p>
            <a:pPr algn="ctr">
              <a:lnSpc>
                <a:spcPts val="3630"/>
              </a:lnSpc>
            </a:pPr>
            <a:r>
              <a:rPr lang="en-US" b="true" sz="3300" spc="105">
                <a:solidFill>
                  <a:srgbClr val="000000"/>
                </a:solidFill>
                <a:latin typeface="Open Sauce Bold"/>
                <a:ea typeface="Open Sauce Bold"/>
                <a:cs typeface="Open Sauce Bold"/>
                <a:sym typeface="Open Sauce Bold"/>
              </a:rPr>
              <a:t>Visualising Molecules</a:t>
            </a:r>
          </a:p>
        </p:txBody>
      </p:sp>
      <p:grpSp>
        <p:nvGrpSpPr>
          <p:cNvPr name="Group 8" id="8"/>
          <p:cNvGrpSpPr/>
          <p:nvPr/>
        </p:nvGrpSpPr>
        <p:grpSpPr>
          <a:xfrm rot="0">
            <a:off x="3688454" y="5361359"/>
            <a:ext cx="11191908" cy="3178116"/>
            <a:chOff x="0" y="0"/>
            <a:chExt cx="14922543" cy="4237488"/>
          </a:xfrm>
        </p:grpSpPr>
        <p:sp>
          <p:nvSpPr>
            <p:cNvPr name="Freeform 9" id="9"/>
            <p:cNvSpPr/>
            <p:nvPr/>
          </p:nvSpPr>
          <p:spPr>
            <a:xfrm flipH="false" flipV="false" rot="0">
              <a:off x="0" y="6948"/>
              <a:ext cx="11658093" cy="4230540"/>
            </a:xfrm>
            <a:custGeom>
              <a:avLst/>
              <a:gdLst/>
              <a:ahLst/>
              <a:cxnLst/>
              <a:rect r="r" b="b" t="t" l="l"/>
              <a:pathLst>
                <a:path h="4230540" w="11658093">
                  <a:moveTo>
                    <a:pt x="0" y="0"/>
                  </a:moveTo>
                  <a:lnTo>
                    <a:pt x="11658093" y="0"/>
                  </a:lnTo>
                  <a:lnTo>
                    <a:pt x="11658093" y="4230540"/>
                  </a:lnTo>
                  <a:lnTo>
                    <a:pt x="0" y="4230540"/>
                  </a:lnTo>
                  <a:lnTo>
                    <a:pt x="0" y="0"/>
                  </a:lnTo>
                  <a:close/>
                </a:path>
              </a:pathLst>
            </a:custGeom>
            <a:blipFill>
              <a:blip r:embed="rId5"/>
              <a:stretch>
                <a:fillRect l="0" t="-544" r="0" b="-83054"/>
              </a:stretch>
            </a:blipFill>
          </p:spPr>
        </p:sp>
        <p:sp>
          <p:nvSpPr>
            <p:cNvPr name="Freeform 10" id="10"/>
            <p:cNvSpPr/>
            <p:nvPr/>
          </p:nvSpPr>
          <p:spPr>
            <a:xfrm flipH="false" flipV="false" rot="0">
              <a:off x="11658093" y="0"/>
              <a:ext cx="3264451" cy="3916980"/>
            </a:xfrm>
            <a:custGeom>
              <a:avLst/>
              <a:gdLst/>
              <a:ahLst/>
              <a:cxnLst/>
              <a:rect r="r" b="b" t="t" l="l"/>
              <a:pathLst>
                <a:path h="3916980" w="3264451">
                  <a:moveTo>
                    <a:pt x="0" y="0"/>
                  </a:moveTo>
                  <a:lnTo>
                    <a:pt x="3264450" y="0"/>
                  </a:lnTo>
                  <a:lnTo>
                    <a:pt x="3264450" y="3916980"/>
                  </a:lnTo>
                  <a:lnTo>
                    <a:pt x="0" y="3916980"/>
                  </a:lnTo>
                  <a:lnTo>
                    <a:pt x="0" y="0"/>
                  </a:lnTo>
                  <a:close/>
                </a:path>
              </a:pathLst>
            </a:custGeom>
            <a:blipFill>
              <a:blip r:embed="rId5"/>
              <a:stretch>
                <a:fillRect l="0" t="-98295" r="-257122" b="0"/>
              </a:stretch>
            </a:blipFill>
          </p:spPr>
        </p:sp>
      </p:grpSp>
      <p:sp>
        <p:nvSpPr>
          <p:cNvPr name="Freeform 11" id="11"/>
          <p:cNvSpPr/>
          <p:nvPr/>
        </p:nvSpPr>
        <p:spPr>
          <a:xfrm flipH="false" flipV="false" rot="0">
            <a:off x="-333825" y="-590792"/>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6">
              <a:alphaModFix amt="37000"/>
            </a:blip>
            <a:stretch>
              <a:fillRect l="0" t="0" r="0" b="0"/>
            </a:stretch>
          </a:blipFill>
        </p:spPr>
      </p:sp>
    </p:spTree>
  </p:cSld>
  <p:clrMapOvr>
    <a:masterClrMapping/>
  </p:clrMapOvr>
</p:sld>
</file>

<file path=ppt/slides/slide92.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5015114">
            <a:off x="9740863" y="2343404"/>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427040" y="1543144"/>
            <a:ext cx="15433919" cy="7619050"/>
            <a:chOff x="0" y="0"/>
            <a:chExt cx="4064900" cy="2006663"/>
          </a:xfrm>
        </p:grpSpPr>
        <p:sp>
          <p:nvSpPr>
            <p:cNvPr name="Freeform 4" id="4"/>
            <p:cNvSpPr/>
            <p:nvPr/>
          </p:nvSpPr>
          <p:spPr>
            <a:xfrm flipH="false" flipV="false" rot="0">
              <a:off x="0" y="0"/>
              <a:ext cx="4064900" cy="2006663"/>
            </a:xfrm>
            <a:custGeom>
              <a:avLst/>
              <a:gdLst/>
              <a:ahLst/>
              <a:cxnLst/>
              <a:rect r="r" b="b" t="t" l="l"/>
              <a:pathLst>
                <a:path h="2006663" w="4064900">
                  <a:moveTo>
                    <a:pt x="0" y="0"/>
                  </a:moveTo>
                  <a:lnTo>
                    <a:pt x="4064900" y="0"/>
                  </a:lnTo>
                  <a:lnTo>
                    <a:pt x="4064900" y="2006663"/>
                  </a:lnTo>
                  <a:lnTo>
                    <a:pt x="0" y="200666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64900" cy="2035238"/>
            </a:xfrm>
            <a:prstGeom prst="rect">
              <a:avLst/>
            </a:prstGeom>
          </p:spPr>
          <p:txBody>
            <a:bodyPr anchor="ctr" rtlCol="false" tIns="50800" lIns="50800" bIns="50800" rIns="50800"/>
            <a:lstStyle/>
            <a:p>
              <a:pPr algn="ctr">
                <a:lnSpc>
                  <a:spcPts val="1869"/>
                </a:lnSpc>
              </a:pPr>
            </a:p>
          </p:txBody>
        </p:sp>
      </p:grpSp>
      <p:sp>
        <p:nvSpPr>
          <p:cNvPr name="AutoShape 6" id="6"/>
          <p:cNvSpPr/>
          <p:nvPr/>
        </p:nvSpPr>
        <p:spPr>
          <a:xfrm flipV="true">
            <a:off x="8654651" y="2652442"/>
            <a:ext cx="0" cy="5211720"/>
          </a:xfrm>
          <a:prstGeom prst="line">
            <a:avLst/>
          </a:prstGeom>
          <a:ln cap="flat" w="38100">
            <a:solidFill>
              <a:srgbClr val="192253"/>
            </a:solidFill>
            <a:prstDash val="solid"/>
            <a:headEnd type="none" len="sm" w="sm"/>
            <a:tailEnd type="none" len="sm" w="sm"/>
          </a:ln>
        </p:spPr>
      </p:sp>
      <p:grpSp>
        <p:nvGrpSpPr>
          <p:cNvPr name="Group 7" id="7"/>
          <p:cNvGrpSpPr>
            <a:grpSpLocks noChangeAspect="true"/>
          </p:cNvGrpSpPr>
          <p:nvPr/>
        </p:nvGrpSpPr>
        <p:grpSpPr>
          <a:xfrm rot="0">
            <a:off x="8469692" y="2467483"/>
            <a:ext cx="369918" cy="369918"/>
            <a:chOff x="6705600" y="1371600"/>
            <a:chExt cx="10972800" cy="10972800"/>
          </a:xfrm>
        </p:grpSpPr>
        <p:sp>
          <p:nvSpPr>
            <p:cNvPr name="Freeform 8" id="8"/>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9" id="9"/>
          <p:cNvGrpSpPr>
            <a:grpSpLocks noChangeAspect="true"/>
          </p:cNvGrpSpPr>
          <p:nvPr/>
        </p:nvGrpSpPr>
        <p:grpSpPr>
          <a:xfrm rot="0">
            <a:off x="8469692" y="4958541"/>
            <a:ext cx="369918" cy="369918"/>
            <a:chOff x="6705600" y="1371600"/>
            <a:chExt cx="10972800" cy="10972800"/>
          </a:xfrm>
        </p:grpSpPr>
        <p:sp>
          <p:nvSpPr>
            <p:cNvPr name="Freeform 10" id="10"/>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11" id="11"/>
          <p:cNvGrpSpPr>
            <a:grpSpLocks noChangeAspect="true"/>
          </p:cNvGrpSpPr>
          <p:nvPr/>
        </p:nvGrpSpPr>
        <p:grpSpPr>
          <a:xfrm rot="0">
            <a:off x="8469692" y="7679203"/>
            <a:ext cx="369918" cy="369918"/>
            <a:chOff x="6705600" y="1371600"/>
            <a:chExt cx="10972800" cy="10972800"/>
          </a:xfrm>
        </p:grpSpPr>
        <p:sp>
          <p:nvSpPr>
            <p:cNvPr name="Freeform 12" id="12"/>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sp>
        <p:nvSpPr>
          <p:cNvPr name="TextBox 13" id="13"/>
          <p:cNvSpPr txBox="true"/>
          <p:nvPr/>
        </p:nvSpPr>
        <p:spPr>
          <a:xfrm rot="0">
            <a:off x="9054139" y="2441888"/>
            <a:ext cx="6697503" cy="480060"/>
          </a:xfrm>
          <a:prstGeom prst="rect">
            <a:avLst/>
          </a:prstGeom>
        </p:spPr>
        <p:txBody>
          <a:bodyPr anchor="t" rtlCol="false" tIns="0" lIns="0" bIns="0" rIns="0">
            <a:spAutoFit/>
          </a:bodyPr>
          <a:lstStyle/>
          <a:p>
            <a:pPr algn="just">
              <a:lnSpc>
                <a:spcPts val="3630"/>
              </a:lnSpc>
            </a:pPr>
            <a:r>
              <a:rPr lang="en-US" sz="3300" spc="105">
                <a:solidFill>
                  <a:srgbClr val="000000"/>
                </a:solidFill>
                <a:latin typeface="Open Sauce"/>
                <a:ea typeface="Open Sauce"/>
                <a:cs typeface="Open Sauce"/>
                <a:sym typeface="Open Sauce"/>
              </a:rPr>
              <a:t>Chemical Descriptors</a:t>
            </a:r>
          </a:p>
        </p:txBody>
      </p:sp>
      <p:sp>
        <p:nvSpPr>
          <p:cNvPr name="TextBox 14" id="14"/>
          <p:cNvSpPr txBox="true"/>
          <p:nvPr/>
        </p:nvSpPr>
        <p:spPr>
          <a:xfrm rot="0">
            <a:off x="9054139" y="4848399"/>
            <a:ext cx="7522743" cy="480060"/>
          </a:xfrm>
          <a:prstGeom prst="rect">
            <a:avLst/>
          </a:prstGeom>
        </p:spPr>
        <p:txBody>
          <a:bodyPr anchor="t" rtlCol="false" tIns="0" lIns="0" bIns="0" rIns="0">
            <a:spAutoFit/>
          </a:bodyPr>
          <a:lstStyle/>
          <a:p>
            <a:pPr algn="l">
              <a:lnSpc>
                <a:spcPts val="3630"/>
              </a:lnSpc>
            </a:pPr>
            <a:r>
              <a:rPr lang="en-US" sz="3300" spc="105">
                <a:solidFill>
                  <a:srgbClr val="000000"/>
                </a:solidFill>
                <a:latin typeface="Open Sauce"/>
                <a:ea typeface="Open Sauce"/>
                <a:cs typeface="Open Sauce"/>
                <a:sym typeface="Open Sauce"/>
              </a:rPr>
              <a:t>Using the mol object</a:t>
            </a:r>
          </a:p>
        </p:txBody>
      </p:sp>
      <p:sp>
        <p:nvSpPr>
          <p:cNvPr name="TextBox 15" id="15"/>
          <p:cNvSpPr txBox="true"/>
          <p:nvPr/>
        </p:nvSpPr>
        <p:spPr>
          <a:xfrm rot="0">
            <a:off x="9054139" y="3164444"/>
            <a:ext cx="7022611" cy="504444"/>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Numerical values that characterise specific properties of a molecule, such as molecular weight, number of rotatable bonds etc</a:t>
            </a:r>
          </a:p>
        </p:txBody>
      </p:sp>
      <p:sp>
        <p:nvSpPr>
          <p:cNvPr name="TextBox 16" id="16"/>
          <p:cNvSpPr txBox="true"/>
          <p:nvPr/>
        </p:nvSpPr>
        <p:spPr>
          <a:xfrm rot="0">
            <a:off x="9054139" y="7587167"/>
            <a:ext cx="6697503" cy="480060"/>
          </a:xfrm>
          <a:prstGeom prst="rect">
            <a:avLst/>
          </a:prstGeom>
        </p:spPr>
        <p:txBody>
          <a:bodyPr anchor="t" rtlCol="false" tIns="0" lIns="0" bIns="0" rIns="0">
            <a:spAutoFit/>
          </a:bodyPr>
          <a:lstStyle/>
          <a:p>
            <a:pPr algn="just">
              <a:lnSpc>
                <a:spcPts val="3630"/>
              </a:lnSpc>
            </a:pPr>
            <a:r>
              <a:rPr lang="en-US" sz="3300" spc="105">
                <a:solidFill>
                  <a:srgbClr val="000000"/>
                </a:solidFill>
                <a:latin typeface="Open Sauce"/>
                <a:ea typeface="Open Sauce"/>
                <a:cs typeface="Open Sauce"/>
                <a:sym typeface="Open Sauce"/>
              </a:rPr>
              <a:t>Descriptors class</a:t>
            </a:r>
          </a:p>
        </p:txBody>
      </p:sp>
      <p:sp>
        <p:nvSpPr>
          <p:cNvPr name="TextBox 17" id="17"/>
          <p:cNvSpPr txBox="true"/>
          <p:nvPr/>
        </p:nvSpPr>
        <p:spPr>
          <a:xfrm rot="0">
            <a:off x="9054139" y="8286302"/>
            <a:ext cx="6986316" cy="247269"/>
          </a:xfrm>
          <a:prstGeom prst="rect">
            <a:avLst/>
          </a:prstGeom>
        </p:spPr>
        <p:txBody>
          <a:bodyPr anchor="t" rtlCol="false" tIns="0" lIns="0" bIns="0" rIns="0">
            <a:spAutoFit/>
          </a:bodyPr>
          <a:lstStyle/>
          <a:p>
            <a:pPr algn="l">
              <a:lnSpc>
                <a:spcPts val="2058"/>
              </a:lnSpc>
            </a:pPr>
            <a:r>
              <a:rPr lang="en-US" sz="1400">
                <a:solidFill>
                  <a:srgbClr val="000000"/>
                </a:solidFill>
                <a:latin typeface="Open Sauce"/>
                <a:ea typeface="Open Sauce"/>
                <a:cs typeface="Open Sauce"/>
                <a:sym typeface="Open Sauce"/>
              </a:rPr>
              <a:t>RDKit descriptors class has many many descriptor calculations that it can perform</a:t>
            </a:r>
          </a:p>
        </p:txBody>
      </p:sp>
      <p:sp>
        <p:nvSpPr>
          <p:cNvPr name="Freeform 18" id="18"/>
          <p:cNvSpPr/>
          <p:nvPr/>
        </p:nvSpPr>
        <p:spPr>
          <a:xfrm flipH="false" flipV="false" rot="0">
            <a:off x="2060310" y="3668887"/>
            <a:ext cx="6028382" cy="3007359"/>
          </a:xfrm>
          <a:custGeom>
            <a:avLst/>
            <a:gdLst/>
            <a:ahLst/>
            <a:cxnLst/>
            <a:rect r="r" b="b" t="t" l="l"/>
            <a:pathLst>
              <a:path h="3007359" w="6028382">
                <a:moveTo>
                  <a:pt x="0" y="0"/>
                </a:moveTo>
                <a:lnTo>
                  <a:pt x="6028382" y="0"/>
                </a:lnTo>
                <a:lnTo>
                  <a:pt x="6028382" y="3007360"/>
                </a:lnTo>
                <a:lnTo>
                  <a:pt x="0" y="3007360"/>
                </a:lnTo>
                <a:lnTo>
                  <a:pt x="0" y="0"/>
                </a:lnTo>
                <a:close/>
              </a:path>
            </a:pathLst>
          </a:custGeom>
          <a:blipFill>
            <a:blip r:embed="rId4"/>
            <a:stretch>
              <a:fillRect l="0" t="0" r="-5024" b="0"/>
            </a:stretch>
          </a:blipFill>
        </p:spPr>
      </p:sp>
      <p:sp>
        <p:nvSpPr>
          <p:cNvPr name="TextBox 19" id="19"/>
          <p:cNvSpPr txBox="true"/>
          <p:nvPr/>
        </p:nvSpPr>
        <p:spPr>
          <a:xfrm rot="0">
            <a:off x="9054139" y="5566584"/>
            <a:ext cx="7022611" cy="504444"/>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Takes the mol object, created from the SMILEs, as an input. The structure of the molecule is required for determining its properties</a:t>
            </a:r>
          </a:p>
        </p:txBody>
      </p:sp>
      <p:sp>
        <p:nvSpPr>
          <p:cNvPr name="Freeform 20" id="20"/>
          <p:cNvSpPr/>
          <p:nvPr/>
        </p:nvSpPr>
        <p:spPr>
          <a:xfrm flipH="false" flipV="false" rot="0">
            <a:off x="-234227" y="-405825"/>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5">
              <a:alphaModFix amt="37000"/>
            </a:blip>
            <a:stretch>
              <a:fillRect l="0" t="0" r="0" b="0"/>
            </a:stretch>
          </a:blipFill>
        </p:spPr>
      </p:sp>
    </p:spTree>
  </p:cSld>
  <p:clrMapOvr>
    <a:masterClrMapping/>
  </p:clrMapOvr>
</p:sld>
</file>

<file path=ppt/slides/slide93.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5015114">
            <a:off x="9740863" y="2343404"/>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427040" y="1543144"/>
            <a:ext cx="15433919" cy="7619050"/>
            <a:chOff x="0" y="0"/>
            <a:chExt cx="4064900" cy="2006663"/>
          </a:xfrm>
        </p:grpSpPr>
        <p:sp>
          <p:nvSpPr>
            <p:cNvPr name="Freeform 4" id="4"/>
            <p:cNvSpPr/>
            <p:nvPr/>
          </p:nvSpPr>
          <p:spPr>
            <a:xfrm flipH="false" flipV="false" rot="0">
              <a:off x="0" y="0"/>
              <a:ext cx="4064900" cy="2006663"/>
            </a:xfrm>
            <a:custGeom>
              <a:avLst/>
              <a:gdLst/>
              <a:ahLst/>
              <a:cxnLst/>
              <a:rect r="r" b="b" t="t" l="l"/>
              <a:pathLst>
                <a:path h="2006663" w="4064900">
                  <a:moveTo>
                    <a:pt x="0" y="0"/>
                  </a:moveTo>
                  <a:lnTo>
                    <a:pt x="4064900" y="0"/>
                  </a:lnTo>
                  <a:lnTo>
                    <a:pt x="4064900" y="2006663"/>
                  </a:lnTo>
                  <a:lnTo>
                    <a:pt x="0" y="200666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64900" cy="2035238"/>
            </a:xfrm>
            <a:prstGeom prst="rect">
              <a:avLst/>
            </a:prstGeom>
          </p:spPr>
          <p:txBody>
            <a:bodyPr anchor="ctr" rtlCol="false" tIns="50800" lIns="50800" bIns="50800" rIns="50800"/>
            <a:lstStyle/>
            <a:p>
              <a:pPr algn="ctr">
                <a:lnSpc>
                  <a:spcPts val="1869"/>
                </a:lnSpc>
              </a:pPr>
            </a:p>
          </p:txBody>
        </p:sp>
      </p:grpSp>
      <p:sp>
        <p:nvSpPr>
          <p:cNvPr name="AutoShape 6" id="6"/>
          <p:cNvSpPr/>
          <p:nvPr/>
        </p:nvSpPr>
        <p:spPr>
          <a:xfrm flipV="true">
            <a:off x="8654651" y="2652442"/>
            <a:ext cx="0" cy="5211720"/>
          </a:xfrm>
          <a:prstGeom prst="line">
            <a:avLst/>
          </a:prstGeom>
          <a:ln cap="flat" w="38100">
            <a:solidFill>
              <a:srgbClr val="192253"/>
            </a:solidFill>
            <a:prstDash val="solid"/>
            <a:headEnd type="none" len="sm" w="sm"/>
            <a:tailEnd type="none" len="sm" w="sm"/>
          </a:ln>
        </p:spPr>
      </p:sp>
      <p:grpSp>
        <p:nvGrpSpPr>
          <p:cNvPr name="Group 7" id="7"/>
          <p:cNvGrpSpPr>
            <a:grpSpLocks noChangeAspect="true"/>
          </p:cNvGrpSpPr>
          <p:nvPr/>
        </p:nvGrpSpPr>
        <p:grpSpPr>
          <a:xfrm rot="0">
            <a:off x="8469692" y="2467483"/>
            <a:ext cx="369918" cy="369918"/>
            <a:chOff x="6705600" y="1371600"/>
            <a:chExt cx="10972800" cy="10972800"/>
          </a:xfrm>
        </p:grpSpPr>
        <p:sp>
          <p:nvSpPr>
            <p:cNvPr name="Freeform 8" id="8"/>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9" id="9"/>
          <p:cNvGrpSpPr>
            <a:grpSpLocks noChangeAspect="true"/>
          </p:cNvGrpSpPr>
          <p:nvPr/>
        </p:nvGrpSpPr>
        <p:grpSpPr>
          <a:xfrm rot="0">
            <a:off x="8469692" y="4958541"/>
            <a:ext cx="369918" cy="369918"/>
            <a:chOff x="6705600" y="1371600"/>
            <a:chExt cx="10972800" cy="10972800"/>
          </a:xfrm>
        </p:grpSpPr>
        <p:sp>
          <p:nvSpPr>
            <p:cNvPr name="Freeform 10" id="10"/>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11" id="11"/>
          <p:cNvGrpSpPr>
            <a:grpSpLocks noChangeAspect="true"/>
          </p:cNvGrpSpPr>
          <p:nvPr/>
        </p:nvGrpSpPr>
        <p:grpSpPr>
          <a:xfrm rot="0">
            <a:off x="8469692" y="7679203"/>
            <a:ext cx="369918" cy="369918"/>
            <a:chOff x="6705600" y="1371600"/>
            <a:chExt cx="10972800" cy="10972800"/>
          </a:xfrm>
        </p:grpSpPr>
        <p:sp>
          <p:nvSpPr>
            <p:cNvPr name="Freeform 12" id="12"/>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sp>
        <p:nvSpPr>
          <p:cNvPr name="Freeform 13" id="13"/>
          <p:cNvSpPr/>
          <p:nvPr/>
        </p:nvSpPr>
        <p:spPr>
          <a:xfrm flipH="false" flipV="false" rot="0">
            <a:off x="2076501" y="3453407"/>
            <a:ext cx="6012191" cy="3750104"/>
          </a:xfrm>
          <a:custGeom>
            <a:avLst/>
            <a:gdLst/>
            <a:ahLst/>
            <a:cxnLst/>
            <a:rect r="r" b="b" t="t" l="l"/>
            <a:pathLst>
              <a:path h="3750104" w="6012191">
                <a:moveTo>
                  <a:pt x="0" y="0"/>
                </a:moveTo>
                <a:lnTo>
                  <a:pt x="6012191" y="0"/>
                </a:lnTo>
                <a:lnTo>
                  <a:pt x="6012191" y="3750104"/>
                </a:lnTo>
                <a:lnTo>
                  <a:pt x="0" y="3750104"/>
                </a:lnTo>
                <a:lnTo>
                  <a:pt x="0" y="0"/>
                </a:lnTo>
                <a:close/>
              </a:path>
            </a:pathLst>
          </a:custGeom>
          <a:blipFill>
            <a:blip r:embed="rId4"/>
            <a:stretch>
              <a:fillRect l="0" t="0" r="0" b="0"/>
            </a:stretch>
          </a:blipFill>
        </p:spPr>
      </p:sp>
      <p:sp>
        <p:nvSpPr>
          <p:cNvPr name="TextBox 14" id="14"/>
          <p:cNvSpPr txBox="true"/>
          <p:nvPr/>
        </p:nvSpPr>
        <p:spPr>
          <a:xfrm rot="0">
            <a:off x="9054139" y="2441888"/>
            <a:ext cx="6697503"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Calculating Descriptors</a:t>
            </a:r>
          </a:p>
        </p:txBody>
      </p:sp>
      <p:sp>
        <p:nvSpPr>
          <p:cNvPr name="TextBox 15" id="15"/>
          <p:cNvSpPr txBox="true"/>
          <p:nvPr/>
        </p:nvSpPr>
        <p:spPr>
          <a:xfrm rot="0">
            <a:off x="9054139" y="4848399"/>
            <a:ext cx="7522743" cy="480060"/>
          </a:xfrm>
          <a:prstGeom prst="rect">
            <a:avLst/>
          </a:prstGeom>
        </p:spPr>
        <p:txBody>
          <a:bodyPr anchor="t" rtlCol="false" tIns="0" lIns="0" bIns="0" rIns="0">
            <a:spAutoFit/>
          </a:bodyPr>
          <a:lstStyle/>
          <a:p>
            <a:pPr algn="l">
              <a:lnSpc>
                <a:spcPts val="3630"/>
              </a:lnSpc>
            </a:pPr>
            <a:r>
              <a:rPr lang="en-US" sz="3300" spc="105">
                <a:solidFill>
                  <a:srgbClr val="000000"/>
                </a:solidFill>
                <a:latin typeface="Open Sauce"/>
                <a:ea typeface="Open Sauce"/>
                <a:cs typeface="Open Sauce"/>
                <a:sym typeface="Open Sauce"/>
              </a:rPr>
              <a:t>Creating DataFrame of descriptors</a:t>
            </a:r>
          </a:p>
        </p:txBody>
      </p:sp>
      <p:sp>
        <p:nvSpPr>
          <p:cNvPr name="TextBox 16" id="16"/>
          <p:cNvSpPr txBox="true"/>
          <p:nvPr/>
        </p:nvSpPr>
        <p:spPr>
          <a:xfrm rot="0">
            <a:off x="9054139" y="7587167"/>
            <a:ext cx="6697503" cy="937260"/>
          </a:xfrm>
          <a:prstGeom prst="rect">
            <a:avLst/>
          </a:prstGeom>
        </p:spPr>
        <p:txBody>
          <a:bodyPr anchor="t" rtlCol="false" tIns="0" lIns="0" bIns="0" rIns="0">
            <a:spAutoFit/>
          </a:bodyPr>
          <a:lstStyle/>
          <a:p>
            <a:pPr algn="just">
              <a:lnSpc>
                <a:spcPts val="3630"/>
              </a:lnSpc>
            </a:pPr>
            <a:r>
              <a:rPr lang="en-US" sz="3300" spc="105">
                <a:solidFill>
                  <a:srgbClr val="000000"/>
                </a:solidFill>
                <a:latin typeface="Open Sauce"/>
                <a:ea typeface="Open Sauce"/>
                <a:cs typeface="Open Sauce"/>
                <a:sym typeface="Open Sauce"/>
              </a:rPr>
              <a:t>Carrying out calculations on many mols</a:t>
            </a:r>
          </a:p>
        </p:txBody>
      </p:sp>
      <p:sp>
        <p:nvSpPr>
          <p:cNvPr name="Freeform 17" id="17"/>
          <p:cNvSpPr/>
          <p:nvPr/>
        </p:nvSpPr>
        <p:spPr>
          <a:xfrm flipH="false" flipV="false" rot="0">
            <a:off x="-234227" y="-405825"/>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5">
              <a:alphaModFix amt="37000"/>
            </a:blip>
            <a:stretch>
              <a:fillRect l="0" t="0" r="0" b="0"/>
            </a:stretch>
          </a:blipFill>
        </p:spPr>
      </p:sp>
    </p:spTree>
  </p:cSld>
  <p:clrMapOvr>
    <a:masterClrMapping/>
  </p:clrMapOvr>
</p:sld>
</file>

<file path=ppt/slides/slide94.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5015114">
            <a:off x="9740863" y="2343404"/>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58727" y="3678349"/>
            <a:ext cx="14283289" cy="2624554"/>
          </a:xfrm>
          <a:custGeom>
            <a:avLst/>
            <a:gdLst/>
            <a:ahLst/>
            <a:cxnLst/>
            <a:rect r="r" b="b" t="t" l="l"/>
            <a:pathLst>
              <a:path h="2624554" w="14283289">
                <a:moveTo>
                  <a:pt x="0" y="0"/>
                </a:moveTo>
                <a:lnTo>
                  <a:pt x="14283289" y="0"/>
                </a:lnTo>
                <a:lnTo>
                  <a:pt x="14283289" y="2624554"/>
                </a:lnTo>
                <a:lnTo>
                  <a:pt x="0" y="2624554"/>
                </a:lnTo>
                <a:lnTo>
                  <a:pt x="0" y="0"/>
                </a:lnTo>
                <a:close/>
              </a:path>
            </a:pathLst>
          </a:custGeom>
          <a:blipFill>
            <a:blip r:embed="rId4"/>
            <a:stretch>
              <a:fillRect l="0" t="0" r="0" b="0"/>
            </a:stretch>
          </a:blipFill>
        </p:spPr>
      </p:sp>
      <p:sp>
        <p:nvSpPr>
          <p:cNvPr name="Freeform 4" id="4"/>
          <p:cNvSpPr/>
          <p:nvPr/>
        </p:nvSpPr>
        <p:spPr>
          <a:xfrm flipH="false" flipV="false" rot="0">
            <a:off x="-234227" y="-405825"/>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5">
              <a:alphaModFix amt="37000"/>
            </a:blip>
            <a:stretch>
              <a:fillRect l="0" t="0" r="0" b="0"/>
            </a:stretch>
          </a:blipFill>
        </p:spPr>
      </p:sp>
    </p:spTree>
  </p:cSld>
  <p:clrMapOvr>
    <a:masterClrMapping/>
  </p:clrMapOvr>
</p:sld>
</file>

<file path=ppt/slides/slide95.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5015114">
            <a:off x="9740863" y="2343404"/>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427040" y="1543144"/>
            <a:ext cx="15433919" cy="7619050"/>
            <a:chOff x="0" y="0"/>
            <a:chExt cx="4064900" cy="2006663"/>
          </a:xfrm>
        </p:grpSpPr>
        <p:sp>
          <p:nvSpPr>
            <p:cNvPr name="Freeform 4" id="4"/>
            <p:cNvSpPr/>
            <p:nvPr/>
          </p:nvSpPr>
          <p:spPr>
            <a:xfrm flipH="false" flipV="false" rot="0">
              <a:off x="0" y="0"/>
              <a:ext cx="4064900" cy="2006663"/>
            </a:xfrm>
            <a:custGeom>
              <a:avLst/>
              <a:gdLst/>
              <a:ahLst/>
              <a:cxnLst/>
              <a:rect r="r" b="b" t="t" l="l"/>
              <a:pathLst>
                <a:path h="2006663" w="4064900">
                  <a:moveTo>
                    <a:pt x="0" y="0"/>
                  </a:moveTo>
                  <a:lnTo>
                    <a:pt x="4064900" y="0"/>
                  </a:lnTo>
                  <a:lnTo>
                    <a:pt x="4064900" y="2006663"/>
                  </a:lnTo>
                  <a:lnTo>
                    <a:pt x="0" y="200666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64900" cy="2035238"/>
            </a:xfrm>
            <a:prstGeom prst="rect">
              <a:avLst/>
            </a:prstGeom>
          </p:spPr>
          <p:txBody>
            <a:bodyPr anchor="ctr" rtlCol="false" tIns="50800" lIns="50800" bIns="50800" rIns="50800"/>
            <a:lstStyle/>
            <a:p>
              <a:pPr algn="ctr">
                <a:lnSpc>
                  <a:spcPts val="1869"/>
                </a:lnSpc>
              </a:pPr>
            </a:p>
          </p:txBody>
        </p:sp>
      </p:grpSp>
      <p:sp>
        <p:nvSpPr>
          <p:cNvPr name="AutoShape 6" id="6"/>
          <p:cNvSpPr/>
          <p:nvPr/>
        </p:nvSpPr>
        <p:spPr>
          <a:xfrm flipV="true">
            <a:off x="8654651" y="2652442"/>
            <a:ext cx="0" cy="5211720"/>
          </a:xfrm>
          <a:prstGeom prst="line">
            <a:avLst/>
          </a:prstGeom>
          <a:ln cap="flat" w="38100">
            <a:solidFill>
              <a:srgbClr val="192253"/>
            </a:solidFill>
            <a:prstDash val="solid"/>
            <a:headEnd type="none" len="sm" w="sm"/>
            <a:tailEnd type="none" len="sm" w="sm"/>
          </a:ln>
        </p:spPr>
      </p:sp>
      <p:grpSp>
        <p:nvGrpSpPr>
          <p:cNvPr name="Group 7" id="7"/>
          <p:cNvGrpSpPr>
            <a:grpSpLocks noChangeAspect="true"/>
          </p:cNvGrpSpPr>
          <p:nvPr/>
        </p:nvGrpSpPr>
        <p:grpSpPr>
          <a:xfrm rot="0">
            <a:off x="8469692" y="2467483"/>
            <a:ext cx="369918" cy="369918"/>
            <a:chOff x="6705600" y="1371600"/>
            <a:chExt cx="10972800" cy="10972800"/>
          </a:xfrm>
        </p:grpSpPr>
        <p:sp>
          <p:nvSpPr>
            <p:cNvPr name="Freeform 8" id="8"/>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9" id="9"/>
          <p:cNvGrpSpPr>
            <a:grpSpLocks noChangeAspect="true"/>
          </p:cNvGrpSpPr>
          <p:nvPr/>
        </p:nvGrpSpPr>
        <p:grpSpPr>
          <a:xfrm rot="0">
            <a:off x="8469692" y="4958541"/>
            <a:ext cx="369918" cy="369918"/>
            <a:chOff x="6705600" y="1371600"/>
            <a:chExt cx="10972800" cy="10972800"/>
          </a:xfrm>
        </p:grpSpPr>
        <p:sp>
          <p:nvSpPr>
            <p:cNvPr name="Freeform 10" id="10"/>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11" id="11"/>
          <p:cNvGrpSpPr>
            <a:grpSpLocks noChangeAspect="true"/>
          </p:cNvGrpSpPr>
          <p:nvPr/>
        </p:nvGrpSpPr>
        <p:grpSpPr>
          <a:xfrm rot="0">
            <a:off x="8469692" y="7679203"/>
            <a:ext cx="369918" cy="369918"/>
            <a:chOff x="6705600" y="1371600"/>
            <a:chExt cx="10972800" cy="10972800"/>
          </a:xfrm>
        </p:grpSpPr>
        <p:sp>
          <p:nvSpPr>
            <p:cNvPr name="Freeform 12" id="12"/>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sp>
        <p:nvSpPr>
          <p:cNvPr name="Freeform 13" id="13"/>
          <p:cNvSpPr/>
          <p:nvPr/>
        </p:nvSpPr>
        <p:spPr>
          <a:xfrm flipH="false" flipV="false" rot="0">
            <a:off x="1891721" y="2320728"/>
            <a:ext cx="5967594" cy="6356958"/>
          </a:xfrm>
          <a:custGeom>
            <a:avLst/>
            <a:gdLst/>
            <a:ahLst/>
            <a:cxnLst/>
            <a:rect r="r" b="b" t="t" l="l"/>
            <a:pathLst>
              <a:path h="6356958" w="5967594">
                <a:moveTo>
                  <a:pt x="0" y="0"/>
                </a:moveTo>
                <a:lnTo>
                  <a:pt x="5967594" y="0"/>
                </a:lnTo>
                <a:lnTo>
                  <a:pt x="5967594" y="6356958"/>
                </a:lnTo>
                <a:lnTo>
                  <a:pt x="0" y="6356958"/>
                </a:lnTo>
                <a:lnTo>
                  <a:pt x="0" y="0"/>
                </a:lnTo>
                <a:close/>
              </a:path>
            </a:pathLst>
          </a:custGeom>
          <a:blipFill>
            <a:blip r:embed="rId4"/>
            <a:stretch>
              <a:fillRect l="0" t="0" r="0" b="0"/>
            </a:stretch>
          </a:blipFill>
        </p:spPr>
      </p:sp>
      <p:sp>
        <p:nvSpPr>
          <p:cNvPr name="TextBox 14" id="14"/>
          <p:cNvSpPr txBox="true"/>
          <p:nvPr/>
        </p:nvSpPr>
        <p:spPr>
          <a:xfrm rot="0">
            <a:off x="9054139" y="2441888"/>
            <a:ext cx="6697503"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Lipsinkis Rule of 5</a:t>
            </a:r>
          </a:p>
        </p:txBody>
      </p:sp>
      <p:sp>
        <p:nvSpPr>
          <p:cNvPr name="TextBox 15" id="15"/>
          <p:cNvSpPr txBox="true"/>
          <p:nvPr/>
        </p:nvSpPr>
        <p:spPr>
          <a:xfrm rot="0">
            <a:off x="9054139" y="4848399"/>
            <a:ext cx="7522743" cy="480060"/>
          </a:xfrm>
          <a:prstGeom prst="rect">
            <a:avLst/>
          </a:prstGeom>
        </p:spPr>
        <p:txBody>
          <a:bodyPr anchor="t" rtlCol="false" tIns="0" lIns="0" bIns="0" rIns="0">
            <a:spAutoFit/>
          </a:bodyPr>
          <a:lstStyle/>
          <a:p>
            <a:pPr algn="l">
              <a:lnSpc>
                <a:spcPts val="3630"/>
              </a:lnSpc>
            </a:pPr>
            <a:r>
              <a:rPr lang="en-US" sz="3300" spc="105">
                <a:solidFill>
                  <a:srgbClr val="000000"/>
                </a:solidFill>
                <a:latin typeface="Open Sauce"/>
                <a:ea typeface="Open Sauce"/>
                <a:cs typeface="Open Sauce"/>
                <a:sym typeface="Open Sauce"/>
              </a:rPr>
              <a:t>The rules</a:t>
            </a:r>
          </a:p>
        </p:txBody>
      </p:sp>
      <p:sp>
        <p:nvSpPr>
          <p:cNvPr name="TextBox 16" id="16"/>
          <p:cNvSpPr txBox="true"/>
          <p:nvPr/>
        </p:nvSpPr>
        <p:spPr>
          <a:xfrm rot="0">
            <a:off x="9054139" y="7587167"/>
            <a:ext cx="6697503" cy="1394460"/>
          </a:xfrm>
          <a:prstGeom prst="rect">
            <a:avLst/>
          </a:prstGeom>
        </p:spPr>
        <p:txBody>
          <a:bodyPr anchor="t" rtlCol="false" tIns="0" lIns="0" bIns="0" rIns="0">
            <a:spAutoFit/>
          </a:bodyPr>
          <a:lstStyle/>
          <a:p>
            <a:pPr algn="just">
              <a:lnSpc>
                <a:spcPts val="3630"/>
              </a:lnSpc>
            </a:pPr>
            <a:r>
              <a:rPr lang="en-US" sz="3300" spc="105">
                <a:solidFill>
                  <a:srgbClr val="000000"/>
                </a:solidFill>
                <a:latin typeface="Open Sauce"/>
                <a:ea typeface="Open Sauce"/>
                <a:cs typeface="Open Sauce"/>
                <a:sym typeface="Open Sauce"/>
              </a:rPr>
              <a:t>If 3/4 rules are met, the molecule likely has good bio-availability</a:t>
            </a:r>
          </a:p>
        </p:txBody>
      </p:sp>
      <p:sp>
        <p:nvSpPr>
          <p:cNvPr name="TextBox 17" id="17"/>
          <p:cNvSpPr txBox="true"/>
          <p:nvPr/>
        </p:nvSpPr>
        <p:spPr>
          <a:xfrm rot="0">
            <a:off x="9054139" y="3164444"/>
            <a:ext cx="7022611" cy="761619"/>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Used for predicting drug-likeness and oral availability. Four physiochemical parameters that influence drug absorption. The rules are more like guidlines no flaws, however they are great for quickly filtering many compounds in drug discovery.</a:t>
            </a:r>
          </a:p>
        </p:txBody>
      </p:sp>
      <p:sp>
        <p:nvSpPr>
          <p:cNvPr name="TextBox 18" id="18"/>
          <p:cNvSpPr txBox="true"/>
          <p:nvPr/>
        </p:nvSpPr>
        <p:spPr>
          <a:xfrm rot="0">
            <a:off x="9054139" y="5461107"/>
            <a:ext cx="7022611" cy="1018794"/>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Molecular weight &lt; 500</a:t>
            </a:r>
          </a:p>
          <a:p>
            <a:pPr algn="l">
              <a:lnSpc>
                <a:spcPts val="2058"/>
              </a:lnSpc>
            </a:pPr>
            <a:r>
              <a:rPr lang="en-US" sz="1400">
                <a:solidFill>
                  <a:srgbClr val="000000"/>
                </a:solidFill>
                <a:latin typeface="Open Sauce Light"/>
                <a:ea typeface="Open Sauce Light"/>
                <a:cs typeface="Open Sauce Light"/>
                <a:sym typeface="Open Sauce Light"/>
              </a:rPr>
              <a:t>Log P ≤ 5</a:t>
            </a:r>
          </a:p>
          <a:p>
            <a:pPr algn="l">
              <a:lnSpc>
                <a:spcPts val="2058"/>
              </a:lnSpc>
            </a:pPr>
            <a:r>
              <a:rPr lang="en-US" sz="1400">
                <a:solidFill>
                  <a:srgbClr val="000000"/>
                </a:solidFill>
                <a:latin typeface="Open Sauce Light"/>
                <a:ea typeface="Open Sauce Light"/>
                <a:cs typeface="Open Sauce Light"/>
                <a:sym typeface="Open Sauce Light"/>
              </a:rPr>
              <a:t>H-Bond Donors ≤ 5</a:t>
            </a:r>
          </a:p>
          <a:p>
            <a:pPr algn="l">
              <a:lnSpc>
                <a:spcPts val="2058"/>
              </a:lnSpc>
            </a:pPr>
            <a:r>
              <a:rPr lang="en-US" sz="1400">
                <a:solidFill>
                  <a:srgbClr val="000000"/>
                </a:solidFill>
                <a:latin typeface="Open Sauce Light"/>
                <a:ea typeface="Open Sauce Light"/>
                <a:cs typeface="Open Sauce Light"/>
                <a:sym typeface="Open Sauce Light"/>
              </a:rPr>
              <a:t>H-Bond acceptors ≤ (5x2): 10 (bit of a fudge for this one!) </a:t>
            </a:r>
          </a:p>
        </p:txBody>
      </p:sp>
      <p:sp>
        <p:nvSpPr>
          <p:cNvPr name="Freeform 19" id="19"/>
          <p:cNvSpPr/>
          <p:nvPr/>
        </p:nvSpPr>
        <p:spPr>
          <a:xfrm flipH="false" flipV="false" rot="0">
            <a:off x="-234227" y="-405825"/>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5">
              <a:alphaModFix amt="37000"/>
            </a:blip>
            <a:stretch>
              <a:fillRect l="0" t="0" r="0" b="0"/>
            </a:stretch>
          </a:blipFill>
        </p:spPr>
      </p:sp>
    </p:spTree>
  </p:cSld>
  <p:clrMapOvr>
    <a:masterClrMapping/>
  </p:clrMapOvr>
</p:sld>
</file>

<file path=ppt/slides/slide96.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5015114">
            <a:off x="9740863" y="2343404"/>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427040" y="1543144"/>
            <a:ext cx="15433919" cy="7619050"/>
            <a:chOff x="0" y="0"/>
            <a:chExt cx="4064900" cy="2006663"/>
          </a:xfrm>
        </p:grpSpPr>
        <p:sp>
          <p:nvSpPr>
            <p:cNvPr name="Freeform 4" id="4"/>
            <p:cNvSpPr/>
            <p:nvPr/>
          </p:nvSpPr>
          <p:spPr>
            <a:xfrm flipH="false" flipV="false" rot="0">
              <a:off x="0" y="0"/>
              <a:ext cx="4064900" cy="2006663"/>
            </a:xfrm>
            <a:custGeom>
              <a:avLst/>
              <a:gdLst/>
              <a:ahLst/>
              <a:cxnLst/>
              <a:rect r="r" b="b" t="t" l="l"/>
              <a:pathLst>
                <a:path h="2006663" w="4064900">
                  <a:moveTo>
                    <a:pt x="0" y="0"/>
                  </a:moveTo>
                  <a:lnTo>
                    <a:pt x="4064900" y="0"/>
                  </a:lnTo>
                  <a:lnTo>
                    <a:pt x="4064900" y="2006663"/>
                  </a:lnTo>
                  <a:lnTo>
                    <a:pt x="0" y="200666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64900" cy="2035238"/>
            </a:xfrm>
            <a:prstGeom prst="rect">
              <a:avLst/>
            </a:prstGeom>
          </p:spPr>
          <p:txBody>
            <a:bodyPr anchor="ctr" rtlCol="false" tIns="50800" lIns="50800" bIns="50800" rIns="50800"/>
            <a:lstStyle/>
            <a:p>
              <a:pPr algn="ctr">
                <a:lnSpc>
                  <a:spcPts val="1869"/>
                </a:lnSpc>
              </a:pPr>
            </a:p>
          </p:txBody>
        </p:sp>
      </p:grpSp>
      <p:sp>
        <p:nvSpPr>
          <p:cNvPr name="Freeform 6" id="6"/>
          <p:cNvSpPr/>
          <p:nvPr/>
        </p:nvSpPr>
        <p:spPr>
          <a:xfrm flipH="false" flipV="false" rot="0">
            <a:off x="4246207" y="2742112"/>
            <a:ext cx="9336860" cy="4913523"/>
          </a:xfrm>
          <a:custGeom>
            <a:avLst/>
            <a:gdLst/>
            <a:ahLst/>
            <a:cxnLst/>
            <a:rect r="r" b="b" t="t" l="l"/>
            <a:pathLst>
              <a:path h="4913523" w="9336860">
                <a:moveTo>
                  <a:pt x="0" y="0"/>
                </a:moveTo>
                <a:lnTo>
                  <a:pt x="9336860" y="0"/>
                </a:lnTo>
                <a:lnTo>
                  <a:pt x="9336860" y="4913523"/>
                </a:lnTo>
                <a:lnTo>
                  <a:pt x="0" y="4913523"/>
                </a:lnTo>
                <a:lnTo>
                  <a:pt x="0" y="0"/>
                </a:lnTo>
                <a:close/>
              </a:path>
            </a:pathLst>
          </a:custGeom>
          <a:blipFill>
            <a:blip r:embed="rId4"/>
            <a:stretch>
              <a:fillRect l="0" t="0" r="0" b="0"/>
            </a:stretch>
          </a:blipFill>
        </p:spPr>
      </p:sp>
      <p:sp>
        <p:nvSpPr>
          <p:cNvPr name="Freeform 7" id="7"/>
          <p:cNvSpPr/>
          <p:nvPr/>
        </p:nvSpPr>
        <p:spPr>
          <a:xfrm flipH="false" flipV="false" rot="0">
            <a:off x="-234227" y="-405825"/>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5">
              <a:alphaModFix amt="37000"/>
            </a:blip>
            <a:stretch>
              <a:fillRect l="0" t="0" r="0" b="0"/>
            </a:stretch>
          </a:blipFill>
        </p:spPr>
      </p:sp>
    </p:spTree>
  </p:cSld>
  <p:clrMapOvr>
    <a:masterClrMapping/>
  </p:clrMapOvr>
</p:sld>
</file>

<file path=ppt/slides/slide97.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5015114">
            <a:off x="9740863" y="2343404"/>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427040" y="1543144"/>
            <a:ext cx="15433919" cy="7619050"/>
            <a:chOff x="0" y="0"/>
            <a:chExt cx="4064900" cy="2006663"/>
          </a:xfrm>
        </p:grpSpPr>
        <p:sp>
          <p:nvSpPr>
            <p:cNvPr name="Freeform 4" id="4"/>
            <p:cNvSpPr/>
            <p:nvPr/>
          </p:nvSpPr>
          <p:spPr>
            <a:xfrm flipH="false" flipV="false" rot="0">
              <a:off x="0" y="0"/>
              <a:ext cx="4064900" cy="2006663"/>
            </a:xfrm>
            <a:custGeom>
              <a:avLst/>
              <a:gdLst/>
              <a:ahLst/>
              <a:cxnLst/>
              <a:rect r="r" b="b" t="t" l="l"/>
              <a:pathLst>
                <a:path h="2006663" w="4064900">
                  <a:moveTo>
                    <a:pt x="0" y="0"/>
                  </a:moveTo>
                  <a:lnTo>
                    <a:pt x="4064900" y="0"/>
                  </a:lnTo>
                  <a:lnTo>
                    <a:pt x="4064900" y="2006663"/>
                  </a:lnTo>
                  <a:lnTo>
                    <a:pt x="0" y="200666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64900" cy="2035238"/>
            </a:xfrm>
            <a:prstGeom prst="rect">
              <a:avLst/>
            </a:prstGeom>
          </p:spPr>
          <p:txBody>
            <a:bodyPr anchor="ctr" rtlCol="false" tIns="50800" lIns="50800" bIns="50800" rIns="50800"/>
            <a:lstStyle/>
            <a:p>
              <a:pPr algn="ctr">
                <a:lnSpc>
                  <a:spcPts val="1869"/>
                </a:lnSpc>
              </a:pPr>
            </a:p>
          </p:txBody>
        </p:sp>
      </p:grpSp>
      <p:sp>
        <p:nvSpPr>
          <p:cNvPr name="Freeform 6" id="6"/>
          <p:cNvSpPr/>
          <p:nvPr/>
        </p:nvSpPr>
        <p:spPr>
          <a:xfrm flipH="false" flipV="false" rot="0">
            <a:off x="3408001" y="5840435"/>
            <a:ext cx="11301259" cy="2429771"/>
          </a:xfrm>
          <a:custGeom>
            <a:avLst/>
            <a:gdLst/>
            <a:ahLst/>
            <a:cxnLst/>
            <a:rect r="r" b="b" t="t" l="l"/>
            <a:pathLst>
              <a:path h="2429771" w="11301259">
                <a:moveTo>
                  <a:pt x="0" y="0"/>
                </a:moveTo>
                <a:lnTo>
                  <a:pt x="11301259" y="0"/>
                </a:lnTo>
                <a:lnTo>
                  <a:pt x="11301259" y="2429771"/>
                </a:lnTo>
                <a:lnTo>
                  <a:pt x="0" y="2429771"/>
                </a:lnTo>
                <a:lnTo>
                  <a:pt x="0" y="0"/>
                </a:lnTo>
                <a:close/>
              </a:path>
            </a:pathLst>
          </a:custGeom>
          <a:blipFill>
            <a:blip r:embed="rId4"/>
            <a:stretch>
              <a:fillRect l="0" t="0" r="0" b="0"/>
            </a:stretch>
          </a:blipFill>
        </p:spPr>
      </p:sp>
      <p:sp>
        <p:nvSpPr>
          <p:cNvPr name="TextBox 7" id="7"/>
          <p:cNvSpPr txBox="true"/>
          <p:nvPr/>
        </p:nvSpPr>
        <p:spPr>
          <a:xfrm rot="0">
            <a:off x="2693404" y="2527730"/>
            <a:ext cx="13243707" cy="2600544"/>
          </a:xfrm>
          <a:prstGeom prst="rect">
            <a:avLst/>
          </a:prstGeom>
        </p:spPr>
        <p:txBody>
          <a:bodyPr anchor="t" rtlCol="false" tIns="0" lIns="0" bIns="0" rIns="0">
            <a:spAutoFit/>
          </a:bodyPr>
          <a:lstStyle/>
          <a:p>
            <a:pPr algn="just">
              <a:lnSpc>
                <a:spcPts val="4187"/>
              </a:lnSpc>
            </a:pPr>
            <a:r>
              <a:rPr lang="en-US" sz="2991">
                <a:solidFill>
                  <a:srgbClr val="000000"/>
                </a:solidFill>
                <a:latin typeface="Canva Sans"/>
                <a:ea typeface="Canva Sans"/>
                <a:cs typeface="Canva Sans"/>
                <a:sym typeface="Canva Sans"/>
              </a:rPr>
              <a:t>All 4 molecules are bioavailable. Finding this out using lab based methods would have taken months, teams of people, and thousands of pounds!! </a:t>
            </a:r>
          </a:p>
          <a:p>
            <a:pPr algn="just">
              <a:lnSpc>
                <a:spcPts val="4187"/>
              </a:lnSpc>
            </a:pPr>
          </a:p>
          <a:p>
            <a:pPr algn="just">
              <a:lnSpc>
                <a:spcPts val="4187"/>
              </a:lnSpc>
            </a:pPr>
            <a:r>
              <a:rPr lang="en-US" sz="2991">
                <a:solidFill>
                  <a:srgbClr val="000000"/>
                </a:solidFill>
                <a:latin typeface="Canva Sans"/>
                <a:ea typeface="Canva Sans"/>
                <a:cs typeface="Canva Sans"/>
                <a:sym typeface="Canva Sans"/>
              </a:rPr>
              <a:t>Does anything surprise you about the results below?</a:t>
            </a:r>
          </a:p>
        </p:txBody>
      </p:sp>
      <p:sp>
        <p:nvSpPr>
          <p:cNvPr name="Freeform 8" id="8"/>
          <p:cNvSpPr/>
          <p:nvPr/>
        </p:nvSpPr>
        <p:spPr>
          <a:xfrm flipH="false" flipV="false" rot="0">
            <a:off x="-234227" y="-405825"/>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5">
              <a:alphaModFix amt="37000"/>
            </a:blip>
            <a:stretch>
              <a:fillRect l="0" t="0" r="0" b="0"/>
            </a:stretch>
          </a:blipFill>
        </p:spPr>
      </p:sp>
    </p:spTree>
  </p:cSld>
  <p:clrMapOvr>
    <a:masterClrMapping/>
  </p:clrMapOvr>
</p:sld>
</file>

<file path=ppt/slides/slide98.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5015114">
            <a:off x="9740863" y="2343404"/>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427040" y="1543144"/>
            <a:ext cx="15433919" cy="7619050"/>
            <a:chOff x="0" y="0"/>
            <a:chExt cx="4064900" cy="2006663"/>
          </a:xfrm>
        </p:grpSpPr>
        <p:sp>
          <p:nvSpPr>
            <p:cNvPr name="Freeform 4" id="4"/>
            <p:cNvSpPr/>
            <p:nvPr/>
          </p:nvSpPr>
          <p:spPr>
            <a:xfrm flipH="false" flipV="false" rot="0">
              <a:off x="0" y="0"/>
              <a:ext cx="4064900" cy="2006663"/>
            </a:xfrm>
            <a:custGeom>
              <a:avLst/>
              <a:gdLst/>
              <a:ahLst/>
              <a:cxnLst/>
              <a:rect r="r" b="b" t="t" l="l"/>
              <a:pathLst>
                <a:path h="2006663" w="4064900">
                  <a:moveTo>
                    <a:pt x="0" y="0"/>
                  </a:moveTo>
                  <a:lnTo>
                    <a:pt x="4064900" y="0"/>
                  </a:lnTo>
                  <a:lnTo>
                    <a:pt x="4064900" y="2006663"/>
                  </a:lnTo>
                  <a:lnTo>
                    <a:pt x="0" y="200666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64900" cy="2035238"/>
            </a:xfrm>
            <a:prstGeom prst="rect">
              <a:avLst/>
            </a:prstGeom>
          </p:spPr>
          <p:txBody>
            <a:bodyPr anchor="ctr" rtlCol="false" tIns="50800" lIns="50800" bIns="50800" rIns="50800"/>
            <a:lstStyle/>
            <a:p>
              <a:pPr algn="ctr">
                <a:lnSpc>
                  <a:spcPts val="1869"/>
                </a:lnSpc>
              </a:pPr>
            </a:p>
          </p:txBody>
        </p:sp>
      </p:grpSp>
      <p:sp>
        <p:nvSpPr>
          <p:cNvPr name="AutoShape 6" id="6"/>
          <p:cNvSpPr/>
          <p:nvPr/>
        </p:nvSpPr>
        <p:spPr>
          <a:xfrm flipV="true">
            <a:off x="8654651" y="2652442"/>
            <a:ext cx="0" cy="5211720"/>
          </a:xfrm>
          <a:prstGeom prst="line">
            <a:avLst/>
          </a:prstGeom>
          <a:ln cap="flat" w="38100">
            <a:solidFill>
              <a:srgbClr val="192253"/>
            </a:solidFill>
            <a:prstDash val="solid"/>
            <a:headEnd type="none" len="sm" w="sm"/>
            <a:tailEnd type="none" len="sm" w="sm"/>
          </a:ln>
        </p:spPr>
      </p:sp>
      <p:grpSp>
        <p:nvGrpSpPr>
          <p:cNvPr name="Group 7" id="7"/>
          <p:cNvGrpSpPr>
            <a:grpSpLocks noChangeAspect="true"/>
          </p:cNvGrpSpPr>
          <p:nvPr/>
        </p:nvGrpSpPr>
        <p:grpSpPr>
          <a:xfrm rot="0">
            <a:off x="8469692" y="2467483"/>
            <a:ext cx="369918" cy="369918"/>
            <a:chOff x="6705600" y="1371600"/>
            <a:chExt cx="10972800" cy="10972800"/>
          </a:xfrm>
        </p:grpSpPr>
        <p:sp>
          <p:nvSpPr>
            <p:cNvPr name="Freeform 8" id="8"/>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9" id="9"/>
          <p:cNvGrpSpPr>
            <a:grpSpLocks noChangeAspect="true"/>
          </p:cNvGrpSpPr>
          <p:nvPr/>
        </p:nvGrpSpPr>
        <p:grpSpPr>
          <a:xfrm rot="0">
            <a:off x="8469692" y="4958541"/>
            <a:ext cx="369918" cy="369918"/>
            <a:chOff x="6705600" y="1371600"/>
            <a:chExt cx="10972800" cy="10972800"/>
          </a:xfrm>
        </p:grpSpPr>
        <p:sp>
          <p:nvSpPr>
            <p:cNvPr name="Freeform 10" id="10"/>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11" id="11"/>
          <p:cNvGrpSpPr>
            <a:grpSpLocks noChangeAspect="true"/>
          </p:cNvGrpSpPr>
          <p:nvPr/>
        </p:nvGrpSpPr>
        <p:grpSpPr>
          <a:xfrm rot="0">
            <a:off x="8469692" y="7679203"/>
            <a:ext cx="369918" cy="369918"/>
            <a:chOff x="6705600" y="1371600"/>
            <a:chExt cx="10972800" cy="10972800"/>
          </a:xfrm>
        </p:grpSpPr>
        <p:sp>
          <p:nvSpPr>
            <p:cNvPr name="Freeform 12" id="12"/>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sp>
        <p:nvSpPr>
          <p:cNvPr name="Freeform 13" id="13"/>
          <p:cNvSpPr/>
          <p:nvPr/>
        </p:nvSpPr>
        <p:spPr>
          <a:xfrm flipH="false" flipV="false" rot="0">
            <a:off x="1867174" y="3703169"/>
            <a:ext cx="6317170" cy="2882209"/>
          </a:xfrm>
          <a:custGeom>
            <a:avLst/>
            <a:gdLst/>
            <a:ahLst/>
            <a:cxnLst/>
            <a:rect r="r" b="b" t="t" l="l"/>
            <a:pathLst>
              <a:path h="2882209" w="6317170">
                <a:moveTo>
                  <a:pt x="0" y="0"/>
                </a:moveTo>
                <a:lnTo>
                  <a:pt x="6317170" y="0"/>
                </a:lnTo>
                <a:lnTo>
                  <a:pt x="6317170" y="2882209"/>
                </a:lnTo>
                <a:lnTo>
                  <a:pt x="0" y="2882209"/>
                </a:lnTo>
                <a:lnTo>
                  <a:pt x="0" y="0"/>
                </a:lnTo>
                <a:close/>
              </a:path>
            </a:pathLst>
          </a:custGeom>
          <a:blipFill>
            <a:blip r:embed="rId4"/>
            <a:stretch>
              <a:fillRect l="0" t="0" r="0" b="0"/>
            </a:stretch>
          </a:blipFill>
        </p:spPr>
      </p:sp>
      <p:sp>
        <p:nvSpPr>
          <p:cNvPr name="TextBox 14" id="14"/>
          <p:cNvSpPr txBox="true"/>
          <p:nvPr/>
        </p:nvSpPr>
        <p:spPr>
          <a:xfrm rot="0">
            <a:off x="9054139" y="2441888"/>
            <a:ext cx="6697503" cy="480060"/>
          </a:xfrm>
          <a:prstGeom prst="rect">
            <a:avLst/>
          </a:prstGeom>
        </p:spPr>
        <p:txBody>
          <a:bodyPr anchor="t" rtlCol="false" tIns="0" lIns="0" bIns="0" rIns="0">
            <a:spAutoFit/>
          </a:bodyPr>
          <a:lstStyle/>
          <a:p>
            <a:pPr algn="just">
              <a:lnSpc>
                <a:spcPts val="3630"/>
              </a:lnSpc>
            </a:pPr>
            <a:r>
              <a:rPr lang="en-US" sz="3300" spc="105">
                <a:solidFill>
                  <a:srgbClr val="000000"/>
                </a:solidFill>
                <a:latin typeface="Open Sauce"/>
                <a:ea typeface="Open Sauce"/>
                <a:cs typeface="Open Sauce"/>
                <a:sym typeface="Open Sauce"/>
              </a:rPr>
              <a:t>Checking for Similarity</a:t>
            </a:r>
          </a:p>
        </p:txBody>
      </p:sp>
      <p:sp>
        <p:nvSpPr>
          <p:cNvPr name="TextBox 15" id="15"/>
          <p:cNvSpPr txBox="true"/>
          <p:nvPr/>
        </p:nvSpPr>
        <p:spPr>
          <a:xfrm rot="0">
            <a:off x="9054139" y="4848399"/>
            <a:ext cx="7522743" cy="480060"/>
          </a:xfrm>
          <a:prstGeom prst="rect">
            <a:avLst/>
          </a:prstGeom>
        </p:spPr>
        <p:txBody>
          <a:bodyPr anchor="t" rtlCol="false" tIns="0" lIns="0" bIns="0" rIns="0">
            <a:spAutoFit/>
          </a:bodyPr>
          <a:lstStyle/>
          <a:p>
            <a:pPr algn="l">
              <a:lnSpc>
                <a:spcPts val="3630"/>
              </a:lnSpc>
            </a:pPr>
            <a:r>
              <a:rPr lang="en-US" sz="3300" spc="105">
                <a:solidFill>
                  <a:srgbClr val="000000"/>
                </a:solidFill>
                <a:latin typeface="Open Sauce"/>
                <a:ea typeface="Open Sauce"/>
                <a:cs typeface="Open Sauce"/>
                <a:sym typeface="Open Sauce"/>
              </a:rPr>
              <a:t>The morgan fingerprint</a:t>
            </a:r>
          </a:p>
        </p:txBody>
      </p:sp>
      <p:sp>
        <p:nvSpPr>
          <p:cNvPr name="TextBox 16" id="16"/>
          <p:cNvSpPr txBox="true"/>
          <p:nvPr/>
        </p:nvSpPr>
        <p:spPr>
          <a:xfrm rot="0">
            <a:off x="9054139" y="3164444"/>
            <a:ext cx="7022611" cy="504444"/>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Finding out how ‘similar’ a set of molecules is can be useful in drug discovery. Similarity isn’t an easy thing to quantify in chemistry in chemistry though.</a:t>
            </a:r>
          </a:p>
        </p:txBody>
      </p:sp>
      <p:sp>
        <p:nvSpPr>
          <p:cNvPr name="TextBox 17" id="17"/>
          <p:cNvSpPr txBox="true"/>
          <p:nvPr/>
        </p:nvSpPr>
        <p:spPr>
          <a:xfrm rot="0">
            <a:off x="9054139" y="7587167"/>
            <a:ext cx="6697503" cy="480060"/>
          </a:xfrm>
          <a:prstGeom prst="rect">
            <a:avLst/>
          </a:prstGeom>
        </p:spPr>
        <p:txBody>
          <a:bodyPr anchor="t" rtlCol="false" tIns="0" lIns="0" bIns="0" rIns="0">
            <a:spAutoFit/>
          </a:bodyPr>
          <a:lstStyle/>
          <a:p>
            <a:pPr algn="just">
              <a:lnSpc>
                <a:spcPts val="3630"/>
              </a:lnSpc>
            </a:pPr>
            <a:r>
              <a:rPr lang="en-US" sz="3300" spc="105">
                <a:solidFill>
                  <a:srgbClr val="000000"/>
                </a:solidFill>
                <a:latin typeface="Open Sauce"/>
                <a:ea typeface="Open Sauce"/>
                <a:cs typeface="Open Sauce"/>
                <a:sym typeface="Open Sauce"/>
              </a:rPr>
              <a:t>A barcode for molecules?</a:t>
            </a:r>
          </a:p>
        </p:txBody>
      </p:sp>
      <p:sp>
        <p:nvSpPr>
          <p:cNvPr name="TextBox 18" id="18"/>
          <p:cNvSpPr txBox="true"/>
          <p:nvPr/>
        </p:nvSpPr>
        <p:spPr>
          <a:xfrm rot="0">
            <a:off x="9054139" y="8286302"/>
            <a:ext cx="6986316" cy="247269"/>
          </a:xfrm>
          <a:prstGeom prst="rect">
            <a:avLst/>
          </a:prstGeom>
        </p:spPr>
        <p:txBody>
          <a:bodyPr anchor="t" rtlCol="false" tIns="0" lIns="0" bIns="0" rIns="0">
            <a:spAutoFit/>
          </a:bodyPr>
          <a:lstStyle/>
          <a:p>
            <a:pPr algn="l">
              <a:lnSpc>
                <a:spcPts val="2058"/>
              </a:lnSpc>
            </a:pPr>
            <a:r>
              <a:rPr lang="en-US" sz="1400">
                <a:solidFill>
                  <a:srgbClr val="000000"/>
                </a:solidFill>
                <a:latin typeface="Open Sauce"/>
                <a:ea typeface="Open Sauce"/>
                <a:cs typeface="Open Sauce"/>
                <a:sym typeface="Open Sauce"/>
              </a:rPr>
              <a:t>Morgan fingerprints are unique for each molecule</a:t>
            </a:r>
          </a:p>
        </p:txBody>
      </p:sp>
      <p:sp>
        <p:nvSpPr>
          <p:cNvPr name="TextBox 19" id="19"/>
          <p:cNvSpPr txBox="true"/>
          <p:nvPr/>
        </p:nvSpPr>
        <p:spPr>
          <a:xfrm rot="0">
            <a:off x="9054139" y="5566584"/>
            <a:ext cx="7022611" cy="1018794"/>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Binary vector represting the molecular structure and features. Calculated using Morgans algorithm, which captures the local molecular environment. Used in similarity searching, machine learning, compression etc. Uniquely descibes a molecule</a:t>
            </a:r>
          </a:p>
        </p:txBody>
      </p:sp>
      <p:sp>
        <p:nvSpPr>
          <p:cNvPr name="Freeform 20" id="20"/>
          <p:cNvSpPr/>
          <p:nvPr/>
        </p:nvSpPr>
        <p:spPr>
          <a:xfrm flipH="false" flipV="false" rot="0">
            <a:off x="-234227" y="-405825"/>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5">
              <a:alphaModFix amt="37000"/>
            </a:blip>
            <a:stretch>
              <a:fillRect l="0" t="0" r="0" b="0"/>
            </a:stretch>
          </a:blipFill>
        </p:spPr>
      </p:sp>
    </p:spTree>
  </p:cSld>
  <p:clrMapOvr>
    <a:masterClrMapping/>
  </p:clrMapOvr>
</p:sld>
</file>

<file path=ppt/slides/slide99.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5015114">
            <a:off x="9740863" y="2343404"/>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427040" y="1543144"/>
            <a:ext cx="15433919" cy="7619050"/>
            <a:chOff x="0" y="0"/>
            <a:chExt cx="4064900" cy="2006663"/>
          </a:xfrm>
        </p:grpSpPr>
        <p:sp>
          <p:nvSpPr>
            <p:cNvPr name="Freeform 4" id="4"/>
            <p:cNvSpPr/>
            <p:nvPr/>
          </p:nvSpPr>
          <p:spPr>
            <a:xfrm flipH="false" flipV="false" rot="0">
              <a:off x="0" y="0"/>
              <a:ext cx="4064900" cy="2006663"/>
            </a:xfrm>
            <a:custGeom>
              <a:avLst/>
              <a:gdLst/>
              <a:ahLst/>
              <a:cxnLst/>
              <a:rect r="r" b="b" t="t" l="l"/>
              <a:pathLst>
                <a:path h="2006663" w="4064900">
                  <a:moveTo>
                    <a:pt x="0" y="0"/>
                  </a:moveTo>
                  <a:lnTo>
                    <a:pt x="4064900" y="0"/>
                  </a:lnTo>
                  <a:lnTo>
                    <a:pt x="4064900" y="2006663"/>
                  </a:lnTo>
                  <a:lnTo>
                    <a:pt x="0" y="200666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64900" cy="2035238"/>
            </a:xfrm>
            <a:prstGeom prst="rect">
              <a:avLst/>
            </a:prstGeom>
          </p:spPr>
          <p:txBody>
            <a:bodyPr anchor="ctr" rtlCol="false" tIns="50800" lIns="50800" bIns="50800" rIns="50800"/>
            <a:lstStyle/>
            <a:p>
              <a:pPr algn="ctr">
                <a:lnSpc>
                  <a:spcPts val="1869"/>
                </a:lnSpc>
              </a:pPr>
            </a:p>
          </p:txBody>
        </p:sp>
      </p:grpSp>
      <p:sp>
        <p:nvSpPr>
          <p:cNvPr name="AutoShape 6" id="6"/>
          <p:cNvSpPr/>
          <p:nvPr/>
        </p:nvSpPr>
        <p:spPr>
          <a:xfrm flipV="true">
            <a:off x="8654651" y="2652442"/>
            <a:ext cx="0" cy="5211720"/>
          </a:xfrm>
          <a:prstGeom prst="line">
            <a:avLst/>
          </a:prstGeom>
          <a:ln cap="flat" w="38100">
            <a:solidFill>
              <a:srgbClr val="192253"/>
            </a:solidFill>
            <a:prstDash val="solid"/>
            <a:headEnd type="none" len="sm" w="sm"/>
            <a:tailEnd type="none" len="sm" w="sm"/>
          </a:ln>
        </p:spPr>
      </p:sp>
      <p:grpSp>
        <p:nvGrpSpPr>
          <p:cNvPr name="Group 7" id="7"/>
          <p:cNvGrpSpPr>
            <a:grpSpLocks noChangeAspect="true"/>
          </p:cNvGrpSpPr>
          <p:nvPr/>
        </p:nvGrpSpPr>
        <p:grpSpPr>
          <a:xfrm rot="0">
            <a:off x="8469692" y="2467483"/>
            <a:ext cx="369918" cy="369918"/>
            <a:chOff x="6705600" y="1371600"/>
            <a:chExt cx="10972800" cy="10972800"/>
          </a:xfrm>
        </p:grpSpPr>
        <p:sp>
          <p:nvSpPr>
            <p:cNvPr name="Freeform 8" id="8"/>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9" id="9"/>
          <p:cNvGrpSpPr>
            <a:grpSpLocks noChangeAspect="true"/>
          </p:cNvGrpSpPr>
          <p:nvPr/>
        </p:nvGrpSpPr>
        <p:grpSpPr>
          <a:xfrm rot="0">
            <a:off x="8469692" y="4958541"/>
            <a:ext cx="369918" cy="369918"/>
            <a:chOff x="6705600" y="1371600"/>
            <a:chExt cx="10972800" cy="10972800"/>
          </a:xfrm>
        </p:grpSpPr>
        <p:sp>
          <p:nvSpPr>
            <p:cNvPr name="Freeform 10" id="10"/>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grpSp>
        <p:nvGrpSpPr>
          <p:cNvPr name="Group 11" id="11"/>
          <p:cNvGrpSpPr>
            <a:grpSpLocks noChangeAspect="true"/>
          </p:cNvGrpSpPr>
          <p:nvPr/>
        </p:nvGrpSpPr>
        <p:grpSpPr>
          <a:xfrm rot="0">
            <a:off x="8469692" y="7679203"/>
            <a:ext cx="369918" cy="369918"/>
            <a:chOff x="6705600" y="1371600"/>
            <a:chExt cx="10972800" cy="10972800"/>
          </a:xfrm>
        </p:grpSpPr>
        <p:sp>
          <p:nvSpPr>
            <p:cNvPr name="Freeform 12" id="12"/>
            <p:cNvSpPr/>
            <p:nvPr/>
          </p:nvSpPr>
          <p:spPr>
            <a:xfrm flipH="false" flipV="false" rot="0">
              <a:off x="6705545" y="1347009"/>
              <a:ext cx="10972910" cy="11021982"/>
            </a:xfrm>
            <a:custGeom>
              <a:avLst/>
              <a:gdLst/>
              <a:ahLst/>
              <a:cxnLst/>
              <a:rect r="r" b="b" t="t" l="l"/>
              <a:pathLst>
                <a:path h="11021982" w="10972910">
                  <a:moveTo>
                    <a:pt x="55" y="5510991"/>
                  </a:moveTo>
                  <a:cubicBezTo>
                    <a:pt x="-8737" y="7476938"/>
                    <a:pt x="1035038" y="9297321"/>
                    <a:pt x="2736148" y="10282842"/>
                  </a:cubicBezTo>
                  <a:cubicBezTo>
                    <a:pt x="4437258" y="11268362"/>
                    <a:pt x="6535653" y="11268362"/>
                    <a:pt x="8236763" y="10282842"/>
                  </a:cubicBezTo>
                  <a:cubicBezTo>
                    <a:pt x="9937872" y="9297321"/>
                    <a:pt x="10981647" y="7476938"/>
                    <a:pt x="10972855" y="5510991"/>
                  </a:cubicBezTo>
                  <a:cubicBezTo>
                    <a:pt x="10981647" y="3545044"/>
                    <a:pt x="9937872" y="1724661"/>
                    <a:pt x="8236763" y="739140"/>
                  </a:cubicBezTo>
                  <a:cubicBezTo>
                    <a:pt x="6535653" y="-246380"/>
                    <a:pt x="4437258" y="-246380"/>
                    <a:pt x="2736148" y="739140"/>
                  </a:cubicBezTo>
                  <a:cubicBezTo>
                    <a:pt x="1035038" y="1724661"/>
                    <a:pt x="-8737" y="3545044"/>
                    <a:pt x="55" y="5510991"/>
                  </a:cubicBezTo>
                  <a:close/>
                </a:path>
              </a:pathLst>
            </a:custGeom>
            <a:gradFill rotWithShape="true">
              <a:gsLst>
                <a:gs pos="0">
                  <a:srgbClr val="B34593">
                    <a:alpha val="100000"/>
                  </a:srgbClr>
                </a:gs>
                <a:gs pos="100000">
                  <a:srgbClr val="151F52">
                    <a:alpha val="100000"/>
                  </a:srgbClr>
                </a:gs>
              </a:gsLst>
              <a:lin ang="5400000"/>
            </a:gradFill>
          </p:spPr>
        </p:sp>
      </p:grpSp>
      <p:sp>
        <p:nvSpPr>
          <p:cNvPr name="Freeform 13" id="13"/>
          <p:cNvSpPr/>
          <p:nvPr/>
        </p:nvSpPr>
        <p:spPr>
          <a:xfrm flipH="false" flipV="false" rot="0">
            <a:off x="1760685" y="3478443"/>
            <a:ext cx="6328007" cy="3330114"/>
          </a:xfrm>
          <a:custGeom>
            <a:avLst/>
            <a:gdLst/>
            <a:ahLst/>
            <a:cxnLst/>
            <a:rect r="r" b="b" t="t" l="l"/>
            <a:pathLst>
              <a:path h="3330114" w="6328007">
                <a:moveTo>
                  <a:pt x="0" y="0"/>
                </a:moveTo>
                <a:lnTo>
                  <a:pt x="6328007" y="0"/>
                </a:lnTo>
                <a:lnTo>
                  <a:pt x="6328007" y="3330114"/>
                </a:lnTo>
                <a:lnTo>
                  <a:pt x="0" y="3330114"/>
                </a:lnTo>
                <a:lnTo>
                  <a:pt x="0" y="0"/>
                </a:lnTo>
                <a:close/>
              </a:path>
            </a:pathLst>
          </a:custGeom>
          <a:blipFill>
            <a:blip r:embed="rId4"/>
            <a:stretch>
              <a:fillRect l="0" t="0" r="0" b="0"/>
            </a:stretch>
          </a:blipFill>
        </p:spPr>
      </p:sp>
      <p:sp>
        <p:nvSpPr>
          <p:cNvPr name="TextBox 14" id="14"/>
          <p:cNvSpPr txBox="true"/>
          <p:nvPr/>
        </p:nvSpPr>
        <p:spPr>
          <a:xfrm rot="0">
            <a:off x="9054139" y="2441888"/>
            <a:ext cx="6697503" cy="480060"/>
          </a:xfrm>
          <a:prstGeom prst="rect">
            <a:avLst/>
          </a:prstGeom>
        </p:spPr>
        <p:txBody>
          <a:bodyPr anchor="t" rtlCol="false" tIns="0" lIns="0" bIns="0" rIns="0">
            <a:spAutoFit/>
          </a:bodyPr>
          <a:lstStyle/>
          <a:p>
            <a:pPr algn="just">
              <a:lnSpc>
                <a:spcPts val="3630"/>
              </a:lnSpc>
            </a:pPr>
            <a:r>
              <a:rPr lang="en-US" b="true" sz="3300" spc="105">
                <a:solidFill>
                  <a:srgbClr val="000000"/>
                </a:solidFill>
                <a:latin typeface="Open Sauce Medium"/>
                <a:ea typeface="Open Sauce Medium"/>
                <a:cs typeface="Open Sauce Medium"/>
                <a:sym typeface="Open Sauce Medium"/>
              </a:rPr>
              <a:t>PCA with Morgan fingerprints</a:t>
            </a:r>
          </a:p>
        </p:txBody>
      </p:sp>
      <p:sp>
        <p:nvSpPr>
          <p:cNvPr name="TextBox 15" id="15"/>
          <p:cNvSpPr txBox="true"/>
          <p:nvPr/>
        </p:nvSpPr>
        <p:spPr>
          <a:xfrm rot="0">
            <a:off x="9054139" y="4848399"/>
            <a:ext cx="7522743" cy="480060"/>
          </a:xfrm>
          <a:prstGeom prst="rect">
            <a:avLst/>
          </a:prstGeom>
        </p:spPr>
        <p:txBody>
          <a:bodyPr anchor="t" rtlCol="false" tIns="0" lIns="0" bIns="0" rIns="0">
            <a:spAutoFit/>
          </a:bodyPr>
          <a:lstStyle/>
          <a:p>
            <a:pPr algn="l">
              <a:lnSpc>
                <a:spcPts val="3630"/>
              </a:lnSpc>
            </a:pPr>
            <a:r>
              <a:rPr lang="en-US" sz="3300" spc="105">
                <a:solidFill>
                  <a:srgbClr val="000000"/>
                </a:solidFill>
                <a:latin typeface="Open Sauce"/>
                <a:ea typeface="Open Sauce"/>
                <a:cs typeface="Open Sauce"/>
                <a:sym typeface="Open Sauce"/>
              </a:rPr>
              <a:t>PCA</a:t>
            </a:r>
          </a:p>
        </p:txBody>
      </p:sp>
      <p:sp>
        <p:nvSpPr>
          <p:cNvPr name="TextBox 16" id="16"/>
          <p:cNvSpPr txBox="true"/>
          <p:nvPr/>
        </p:nvSpPr>
        <p:spPr>
          <a:xfrm rot="0">
            <a:off x="9054139" y="3164444"/>
            <a:ext cx="7022611" cy="761619"/>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PCA enable dimensionaltiy reduction. By carrying out one of a fingerprint that is made from the structure of a molecule we can check for similarity between those molecules</a:t>
            </a:r>
          </a:p>
        </p:txBody>
      </p:sp>
      <p:sp>
        <p:nvSpPr>
          <p:cNvPr name="TextBox 17" id="17"/>
          <p:cNvSpPr txBox="true"/>
          <p:nvPr/>
        </p:nvSpPr>
        <p:spPr>
          <a:xfrm rot="0">
            <a:off x="9054139" y="7587167"/>
            <a:ext cx="6697503" cy="480060"/>
          </a:xfrm>
          <a:prstGeom prst="rect">
            <a:avLst/>
          </a:prstGeom>
        </p:spPr>
        <p:txBody>
          <a:bodyPr anchor="t" rtlCol="false" tIns="0" lIns="0" bIns="0" rIns="0">
            <a:spAutoFit/>
          </a:bodyPr>
          <a:lstStyle/>
          <a:p>
            <a:pPr algn="just">
              <a:lnSpc>
                <a:spcPts val="3630"/>
              </a:lnSpc>
            </a:pPr>
            <a:r>
              <a:rPr lang="en-US" sz="3300" spc="105">
                <a:solidFill>
                  <a:srgbClr val="000000"/>
                </a:solidFill>
                <a:latin typeface="Open Sauce"/>
                <a:ea typeface="Open Sauce"/>
                <a:cs typeface="Open Sauce"/>
                <a:sym typeface="Open Sauce"/>
              </a:rPr>
              <a:t>Visual representation</a:t>
            </a:r>
          </a:p>
        </p:txBody>
      </p:sp>
      <p:sp>
        <p:nvSpPr>
          <p:cNvPr name="TextBox 18" id="18"/>
          <p:cNvSpPr txBox="true"/>
          <p:nvPr/>
        </p:nvSpPr>
        <p:spPr>
          <a:xfrm rot="0">
            <a:off x="9054139" y="8286302"/>
            <a:ext cx="6986316" cy="504444"/>
          </a:xfrm>
          <a:prstGeom prst="rect">
            <a:avLst/>
          </a:prstGeom>
        </p:spPr>
        <p:txBody>
          <a:bodyPr anchor="t" rtlCol="false" tIns="0" lIns="0" bIns="0" rIns="0">
            <a:spAutoFit/>
          </a:bodyPr>
          <a:lstStyle/>
          <a:p>
            <a:pPr algn="l">
              <a:lnSpc>
                <a:spcPts val="2058"/>
              </a:lnSpc>
            </a:pPr>
            <a:r>
              <a:rPr lang="en-US" sz="1400">
                <a:solidFill>
                  <a:srgbClr val="000000"/>
                </a:solidFill>
                <a:latin typeface="Open Sauce"/>
                <a:ea typeface="Open Sauce"/>
                <a:cs typeface="Open Sauce"/>
                <a:sym typeface="Open Sauce"/>
              </a:rPr>
              <a:t>Our example only has 4 molecules. But imaging have 4 million. You could quickly see clusters.</a:t>
            </a:r>
          </a:p>
        </p:txBody>
      </p:sp>
      <p:sp>
        <p:nvSpPr>
          <p:cNvPr name="TextBox 19" id="19"/>
          <p:cNvSpPr txBox="true"/>
          <p:nvPr/>
        </p:nvSpPr>
        <p:spPr>
          <a:xfrm rot="0">
            <a:off x="9054139" y="5566584"/>
            <a:ext cx="7022611" cy="1018794"/>
          </a:xfrm>
          <a:prstGeom prst="rect">
            <a:avLst/>
          </a:prstGeom>
        </p:spPr>
        <p:txBody>
          <a:bodyPr anchor="t" rtlCol="false" tIns="0" lIns="0" bIns="0" rIns="0">
            <a:spAutoFit/>
          </a:bodyPr>
          <a:lstStyle/>
          <a:p>
            <a:pPr algn="l">
              <a:lnSpc>
                <a:spcPts val="2058"/>
              </a:lnSpc>
            </a:pPr>
            <a:r>
              <a:rPr lang="en-US" sz="1400">
                <a:solidFill>
                  <a:srgbClr val="000000"/>
                </a:solidFill>
                <a:latin typeface="Open Sauce Light"/>
                <a:ea typeface="Open Sauce Light"/>
                <a:cs typeface="Open Sauce Light"/>
                <a:sym typeface="Open Sauce Light"/>
              </a:rPr>
              <a:t>Principle component analysis transforms high-dimensional data into a new coordinate system where the axes (principal components) represent directions of maximum variance in the data. It works by finding linear combinations of the original features that capture the most important patterns while minimizing information loss.</a:t>
            </a:r>
          </a:p>
        </p:txBody>
      </p:sp>
      <p:sp>
        <p:nvSpPr>
          <p:cNvPr name="Freeform 20" id="20"/>
          <p:cNvSpPr/>
          <p:nvPr/>
        </p:nvSpPr>
        <p:spPr>
          <a:xfrm flipH="false" flipV="false" rot="0">
            <a:off x="-234227" y="-405825"/>
            <a:ext cx="4202802" cy="2362325"/>
          </a:xfrm>
          <a:custGeom>
            <a:avLst/>
            <a:gdLst/>
            <a:ahLst/>
            <a:cxnLst/>
            <a:rect r="r" b="b" t="t" l="l"/>
            <a:pathLst>
              <a:path h="2362325" w="4202802">
                <a:moveTo>
                  <a:pt x="0" y="0"/>
                </a:moveTo>
                <a:lnTo>
                  <a:pt x="4202802" y="0"/>
                </a:lnTo>
                <a:lnTo>
                  <a:pt x="4202802" y="2362325"/>
                </a:lnTo>
                <a:lnTo>
                  <a:pt x="0" y="2362325"/>
                </a:lnTo>
                <a:lnTo>
                  <a:pt x="0" y="0"/>
                </a:lnTo>
                <a:close/>
              </a:path>
            </a:pathLst>
          </a:custGeom>
          <a:blipFill>
            <a:blip r:embed="rId5">
              <a:alphaModFix amt="37000"/>
            </a:blip>
            <a:stretch>
              <a:fillRect l="0" t="0" r="0" b="0"/>
            </a:stretch>
          </a:blipFill>
        </p:spPr>
      </p:sp>
    </p:spTree>
  </p:cSld>
  <p:clrMapOvr>
    <a:masterClrMapping/>
  </p:clrMapOvr>
</p:sld>
</file>

<file path=ppt/slides/slide100.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5015114">
            <a:off x="9740863" y="2343404"/>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266567" y="1028700"/>
            <a:ext cx="15502154" cy="8665317"/>
            <a:chOff x="0" y="0"/>
            <a:chExt cx="4082872" cy="2282224"/>
          </a:xfrm>
        </p:grpSpPr>
        <p:sp>
          <p:nvSpPr>
            <p:cNvPr name="Freeform 4" id="4"/>
            <p:cNvSpPr/>
            <p:nvPr/>
          </p:nvSpPr>
          <p:spPr>
            <a:xfrm flipH="false" flipV="false" rot="0">
              <a:off x="0" y="0"/>
              <a:ext cx="4082872" cy="2282223"/>
            </a:xfrm>
            <a:custGeom>
              <a:avLst/>
              <a:gdLst/>
              <a:ahLst/>
              <a:cxnLst/>
              <a:rect r="r" b="b" t="t" l="l"/>
              <a:pathLst>
                <a:path h="2282223" w="4082872">
                  <a:moveTo>
                    <a:pt x="0" y="0"/>
                  </a:moveTo>
                  <a:lnTo>
                    <a:pt x="4082872" y="0"/>
                  </a:lnTo>
                  <a:lnTo>
                    <a:pt x="4082872" y="2282223"/>
                  </a:lnTo>
                  <a:lnTo>
                    <a:pt x="0" y="228222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82872" cy="2310799"/>
            </a:xfrm>
            <a:prstGeom prst="rect">
              <a:avLst/>
            </a:prstGeom>
          </p:spPr>
          <p:txBody>
            <a:bodyPr anchor="ctr" rtlCol="false" tIns="50800" lIns="50800" bIns="50800" rIns="50800"/>
            <a:lstStyle/>
            <a:p>
              <a:pPr algn="ctr">
                <a:lnSpc>
                  <a:spcPts val="1869"/>
                </a:lnSpc>
              </a:pPr>
            </a:p>
          </p:txBody>
        </p:sp>
      </p:grpSp>
      <p:sp>
        <p:nvSpPr>
          <p:cNvPr name="Freeform 6" id="6"/>
          <p:cNvSpPr/>
          <p:nvPr/>
        </p:nvSpPr>
        <p:spPr>
          <a:xfrm flipH="false" flipV="false" rot="0">
            <a:off x="5215065" y="2802188"/>
            <a:ext cx="7857870" cy="5991626"/>
          </a:xfrm>
          <a:custGeom>
            <a:avLst/>
            <a:gdLst/>
            <a:ahLst/>
            <a:cxnLst/>
            <a:rect r="r" b="b" t="t" l="l"/>
            <a:pathLst>
              <a:path h="5991626" w="7857870">
                <a:moveTo>
                  <a:pt x="0" y="0"/>
                </a:moveTo>
                <a:lnTo>
                  <a:pt x="7857870" y="0"/>
                </a:lnTo>
                <a:lnTo>
                  <a:pt x="7857870" y="5991625"/>
                </a:lnTo>
                <a:lnTo>
                  <a:pt x="0" y="5991625"/>
                </a:lnTo>
                <a:lnTo>
                  <a:pt x="0" y="0"/>
                </a:lnTo>
                <a:close/>
              </a:path>
            </a:pathLst>
          </a:custGeom>
          <a:blipFill>
            <a:blip r:embed="rId4"/>
            <a:stretch>
              <a:fillRect l="0" t="0" r="0" b="0"/>
            </a:stretch>
          </a:blipFill>
        </p:spPr>
      </p:sp>
      <p:sp>
        <p:nvSpPr>
          <p:cNvPr name="TextBox 7" id="7"/>
          <p:cNvSpPr txBox="true"/>
          <p:nvPr/>
        </p:nvSpPr>
        <p:spPr>
          <a:xfrm rot="0">
            <a:off x="5038723" y="1631846"/>
            <a:ext cx="8491369" cy="480060"/>
          </a:xfrm>
          <a:prstGeom prst="rect">
            <a:avLst/>
          </a:prstGeom>
        </p:spPr>
        <p:txBody>
          <a:bodyPr anchor="t" rtlCol="false" tIns="0" lIns="0" bIns="0" rIns="0">
            <a:spAutoFit/>
          </a:bodyPr>
          <a:lstStyle/>
          <a:p>
            <a:pPr algn="ctr">
              <a:lnSpc>
                <a:spcPts val="3630"/>
              </a:lnSpc>
            </a:pPr>
            <a:r>
              <a:rPr lang="en-US" b="true" sz="3300" spc="105">
                <a:solidFill>
                  <a:srgbClr val="000000"/>
                </a:solidFill>
                <a:latin typeface="Open Sauce Bold"/>
                <a:ea typeface="Open Sauce Bold"/>
                <a:cs typeface="Open Sauce Bold"/>
                <a:sym typeface="Open Sauce Bold"/>
              </a:rPr>
              <a:t>Visualising the PCA</a:t>
            </a:r>
          </a:p>
        </p:txBody>
      </p:sp>
      <p:sp>
        <p:nvSpPr>
          <p:cNvPr name="Freeform 8" id="8"/>
          <p:cNvSpPr/>
          <p:nvPr/>
        </p:nvSpPr>
        <p:spPr>
          <a:xfrm flipH="false" flipV="false" rot="0">
            <a:off x="-262684" y="-633477"/>
            <a:ext cx="4202802" cy="2362325"/>
          </a:xfrm>
          <a:custGeom>
            <a:avLst/>
            <a:gdLst/>
            <a:ahLst/>
            <a:cxnLst/>
            <a:rect r="r" b="b" t="t" l="l"/>
            <a:pathLst>
              <a:path h="2362325" w="4202802">
                <a:moveTo>
                  <a:pt x="0" y="0"/>
                </a:moveTo>
                <a:lnTo>
                  <a:pt x="4202803" y="0"/>
                </a:lnTo>
                <a:lnTo>
                  <a:pt x="4202803" y="2362325"/>
                </a:lnTo>
                <a:lnTo>
                  <a:pt x="0" y="2362325"/>
                </a:lnTo>
                <a:lnTo>
                  <a:pt x="0" y="0"/>
                </a:lnTo>
                <a:close/>
              </a:path>
            </a:pathLst>
          </a:custGeom>
          <a:blipFill>
            <a:blip r:embed="rId5">
              <a:alphaModFix amt="37000"/>
            </a:blip>
            <a:stretch>
              <a:fillRect l="0" t="0" r="0" b="0"/>
            </a:stretch>
          </a:blipFill>
        </p:spPr>
      </p:sp>
    </p:spTree>
  </p:cSld>
  <p:clrMapOvr>
    <a:masterClrMapping/>
  </p:clrMapOvr>
</p:sld>
</file>

<file path=ppt/slides/slide101.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8100000">
            <a:off x="-5281063" y="-2431920"/>
            <a:ext cx="16893429" cy="10074627"/>
          </a:xfrm>
          <a:custGeom>
            <a:avLst/>
            <a:gdLst/>
            <a:ahLst/>
            <a:cxnLst/>
            <a:rect r="r" b="b" t="t" l="l"/>
            <a:pathLst>
              <a:path h="10074627" w="16893429">
                <a:moveTo>
                  <a:pt x="0" y="0"/>
                </a:moveTo>
                <a:lnTo>
                  <a:pt x="16893430" y="0"/>
                </a:lnTo>
                <a:lnTo>
                  <a:pt x="16893430" y="10074627"/>
                </a:lnTo>
                <a:lnTo>
                  <a:pt x="0" y="100746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66398" y="1333975"/>
            <a:ext cx="15433919" cy="7619050"/>
            <a:chOff x="0" y="0"/>
            <a:chExt cx="4064900" cy="2006663"/>
          </a:xfrm>
        </p:grpSpPr>
        <p:sp>
          <p:nvSpPr>
            <p:cNvPr name="Freeform 4" id="4">
              <a:hlinkClick r:id="rId4" tooltip="https://www.rdkit.org/docs/source/rdkit.Chem.Descriptors.html"/>
            </p:cNvPr>
            <p:cNvSpPr/>
            <p:nvPr/>
          </p:nvSpPr>
          <p:spPr>
            <a:xfrm flipH="false" flipV="false" rot="0">
              <a:off x="0" y="0"/>
              <a:ext cx="4064900" cy="2006663"/>
            </a:xfrm>
            <a:custGeom>
              <a:avLst/>
              <a:gdLst/>
              <a:ahLst/>
              <a:cxnLst/>
              <a:rect r="r" b="b" t="t" l="l"/>
              <a:pathLst>
                <a:path h="2006663" w="4064900">
                  <a:moveTo>
                    <a:pt x="0" y="0"/>
                  </a:moveTo>
                  <a:lnTo>
                    <a:pt x="4064900" y="0"/>
                  </a:lnTo>
                  <a:lnTo>
                    <a:pt x="4064900" y="2006663"/>
                  </a:lnTo>
                  <a:lnTo>
                    <a:pt x="0" y="200666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64900" cy="2035238"/>
            </a:xfrm>
            <a:prstGeom prst="rect">
              <a:avLst/>
            </a:prstGeom>
          </p:spPr>
          <p:txBody>
            <a:bodyPr anchor="ctr" rtlCol="false" tIns="50800" lIns="50800" bIns="50800" rIns="50800"/>
            <a:lstStyle/>
            <a:p>
              <a:pPr algn="ctr">
                <a:lnSpc>
                  <a:spcPts val="1869"/>
                </a:lnSpc>
              </a:pPr>
            </a:p>
          </p:txBody>
        </p:sp>
      </p:grpSp>
      <p:sp>
        <p:nvSpPr>
          <p:cNvPr name="TextBox 6" id="6"/>
          <p:cNvSpPr txBox="true"/>
          <p:nvPr/>
        </p:nvSpPr>
        <p:spPr>
          <a:xfrm rot="0">
            <a:off x="4966375" y="1947795"/>
            <a:ext cx="8355249" cy="1296667"/>
          </a:xfrm>
          <a:prstGeom prst="rect">
            <a:avLst/>
          </a:prstGeom>
        </p:spPr>
        <p:txBody>
          <a:bodyPr anchor="t" rtlCol="false" tIns="0" lIns="0" bIns="0" rIns="0">
            <a:spAutoFit/>
          </a:bodyPr>
          <a:lstStyle/>
          <a:p>
            <a:pPr algn="ctr">
              <a:lnSpc>
                <a:spcPts val="5059"/>
              </a:lnSpc>
              <a:spcBef>
                <a:spcPct val="0"/>
              </a:spcBef>
            </a:pPr>
            <a:r>
              <a:rPr lang="en-US" b="true" sz="4599" spc="147" u="sng">
                <a:solidFill>
                  <a:srgbClr val="000000"/>
                </a:solidFill>
                <a:latin typeface="Open Sauce Bold"/>
                <a:ea typeface="Open Sauce Bold"/>
                <a:cs typeface="Open Sauce Bold"/>
                <a:sym typeface="Open Sauce Bold"/>
              </a:rPr>
              <a:t>End to End Project Complete</a:t>
            </a:r>
          </a:p>
        </p:txBody>
      </p:sp>
      <p:sp>
        <p:nvSpPr>
          <p:cNvPr name="TextBox 7" id="7"/>
          <p:cNvSpPr txBox="true"/>
          <p:nvPr/>
        </p:nvSpPr>
        <p:spPr>
          <a:xfrm rot="0">
            <a:off x="2619290" y="3877998"/>
            <a:ext cx="13328135" cy="2980690"/>
          </a:xfrm>
          <a:prstGeom prst="rect">
            <a:avLst/>
          </a:prstGeom>
        </p:spPr>
        <p:txBody>
          <a:bodyPr anchor="t" rtlCol="false" tIns="0" lIns="0" bIns="0" rIns="0">
            <a:spAutoFit/>
          </a:bodyPr>
          <a:lstStyle/>
          <a:p>
            <a:pPr algn="l">
              <a:lnSpc>
                <a:spcPts val="4759"/>
              </a:lnSpc>
            </a:pPr>
            <a:r>
              <a:rPr lang="en-US" sz="3399">
                <a:solidFill>
                  <a:srgbClr val="000000"/>
                </a:solidFill>
                <a:latin typeface="Canva Sans"/>
                <a:ea typeface="Canva Sans"/>
                <a:cs typeface="Canva Sans"/>
                <a:sym typeface="Canva Sans"/>
              </a:rPr>
              <a:t>We’ve read in some molecules into RDKit, calculated descriptors for them in order to check their bioavailability and then checked to see how similar they are. Put all this on git/github if you want to properly complete this project. You could use your own list of molecules (maybe generate 10k?).</a:t>
            </a:r>
          </a:p>
        </p:txBody>
      </p:sp>
      <p:sp>
        <p:nvSpPr>
          <p:cNvPr name="Freeform 8" id="8"/>
          <p:cNvSpPr/>
          <p:nvPr/>
        </p:nvSpPr>
        <p:spPr>
          <a:xfrm flipH="false" flipV="false" rot="0">
            <a:off x="14449351" y="-647706"/>
            <a:ext cx="4202802" cy="2362325"/>
          </a:xfrm>
          <a:custGeom>
            <a:avLst/>
            <a:gdLst/>
            <a:ahLst/>
            <a:cxnLst/>
            <a:rect r="r" b="b" t="t" l="l"/>
            <a:pathLst>
              <a:path h="2362325" w="4202802">
                <a:moveTo>
                  <a:pt x="0" y="0"/>
                </a:moveTo>
                <a:lnTo>
                  <a:pt x="4202802" y="0"/>
                </a:lnTo>
                <a:lnTo>
                  <a:pt x="4202802" y="2362326"/>
                </a:lnTo>
                <a:lnTo>
                  <a:pt x="0" y="2362326"/>
                </a:lnTo>
                <a:lnTo>
                  <a:pt x="0" y="0"/>
                </a:lnTo>
                <a:close/>
              </a:path>
            </a:pathLst>
          </a:custGeom>
          <a:blipFill>
            <a:blip r:embed="rId5">
              <a:alphaModFix amt="37000"/>
            </a:blip>
            <a:stretch>
              <a:fillRect l="0" t="0" r="0" b="0"/>
            </a:stretch>
          </a:blipFill>
        </p:spPr>
      </p:sp>
    </p:spTree>
  </p:cSld>
  <p:clrMapOvr>
    <a:masterClrMapping/>
  </p:clrMapOvr>
</p:sld>
</file>

<file path=ppt/slides/slide102.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8100000">
            <a:off x="-5281063" y="-2431920"/>
            <a:ext cx="16893429" cy="10074627"/>
          </a:xfrm>
          <a:custGeom>
            <a:avLst/>
            <a:gdLst/>
            <a:ahLst/>
            <a:cxnLst/>
            <a:rect r="r" b="b" t="t" l="l"/>
            <a:pathLst>
              <a:path h="10074627" w="16893429">
                <a:moveTo>
                  <a:pt x="0" y="0"/>
                </a:moveTo>
                <a:lnTo>
                  <a:pt x="16893430" y="0"/>
                </a:lnTo>
                <a:lnTo>
                  <a:pt x="16893430" y="10074627"/>
                </a:lnTo>
                <a:lnTo>
                  <a:pt x="0" y="100746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66398" y="1333975"/>
            <a:ext cx="15433919" cy="7619050"/>
            <a:chOff x="0" y="0"/>
            <a:chExt cx="4064900" cy="2006663"/>
          </a:xfrm>
        </p:grpSpPr>
        <p:sp>
          <p:nvSpPr>
            <p:cNvPr name="Freeform 4" id="4">
              <a:hlinkClick r:id="rId4" tooltip="https://www.rdkit.org/docs/source/rdkit.Chem.Descriptors.html"/>
            </p:cNvPr>
            <p:cNvSpPr/>
            <p:nvPr/>
          </p:nvSpPr>
          <p:spPr>
            <a:xfrm flipH="false" flipV="false" rot="0">
              <a:off x="0" y="0"/>
              <a:ext cx="4064900" cy="2006663"/>
            </a:xfrm>
            <a:custGeom>
              <a:avLst/>
              <a:gdLst/>
              <a:ahLst/>
              <a:cxnLst/>
              <a:rect r="r" b="b" t="t" l="l"/>
              <a:pathLst>
                <a:path h="2006663" w="4064900">
                  <a:moveTo>
                    <a:pt x="0" y="0"/>
                  </a:moveTo>
                  <a:lnTo>
                    <a:pt x="4064900" y="0"/>
                  </a:lnTo>
                  <a:lnTo>
                    <a:pt x="4064900" y="2006663"/>
                  </a:lnTo>
                  <a:lnTo>
                    <a:pt x="0" y="2006663"/>
                  </a:lnTo>
                  <a:close/>
                </a:path>
              </a:pathLst>
            </a:custGeom>
            <a:solidFill>
              <a:srgbClr val="F5F5F5"/>
            </a:solidFill>
            <a:ln w="38100" cap="sq">
              <a:solidFill>
                <a:srgbClr val="202354"/>
              </a:solidFill>
              <a:prstDash val="solid"/>
              <a:miter/>
            </a:ln>
          </p:spPr>
        </p:sp>
        <p:sp>
          <p:nvSpPr>
            <p:cNvPr name="TextBox 5" id="5"/>
            <p:cNvSpPr txBox="true"/>
            <p:nvPr/>
          </p:nvSpPr>
          <p:spPr>
            <a:xfrm>
              <a:off x="0" y="-28575"/>
              <a:ext cx="4064900" cy="2035238"/>
            </a:xfrm>
            <a:prstGeom prst="rect">
              <a:avLst/>
            </a:prstGeom>
          </p:spPr>
          <p:txBody>
            <a:bodyPr anchor="ctr" rtlCol="false" tIns="50800" lIns="50800" bIns="50800" rIns="50800"/>
            <a:lstStyle/>
            <a:p>
              <a:pPr algn="ctr">
                <a:lnSpc>
                  <a:spcPts val="1869"/>
                </a:lnSpc>
              </a:pPr>
            </a:p>
          </p:txBody>
        </p:sp>
      </p:grpSp>
      <p:sp>
        <p:nvSpPr>
          <p:cNvPr name="TextBox 6" id="6"/>
          <p:cNvSpPr txBox="true"/>
          <p:nvPr/>
        </p:nvSpPr>
        <p:spPr>
          <a:xfrm rot="0">
            <a:off x="2544910" y="3351846"/>
            <a:ext cx="13198179" cy="4774936"/>
          </a:xfrm>
          <a:prstGeom prst="rect">
            <a:avLst/>
          </a:prstGeom>
        </p:spPr>
        <p:txBody>
          <a:bodyPr anchor="t" rtlCol="false" tIns="0" lIns="0" bIns="0" rIns="0">
            <a:spAutoFit/>
          </a:bodyPr>
          <a:lstStyle/>
          <a:p>
            <a:pPr algn="ctr">
              <a:lnSpc>
                <a:spcPts val="4726"/>
              </a:lnSpc>
            </a:pPr>
            <a:r>
              <a:rPr lang="en-US" sz="3938" b="true">
                <a:solidFill>
                  <a:srgbClr val="000000"/>
                </a:solidFill>
                <a:latin typeface="Open Sauce Medium"/>
                <a:ea typeface="Open Sauce Medium"/>
                <a:cs typeface="Open Sauce Medium"/>
                <a:sym typeface="Open Sauce Medium"/>
              </a:rPr>
              <a:t>Create and plot dataframes contain molecules with ring systems - can you colour this by TPSA?</a:t>
            </a:r>
          </a:p>
          <a:p>
            <a:pPr algn="ctr">
              <a:lnSpc>
                <a:spcPts val="4726"/>
              </a:lnSpc>
            </a:pPr>
          </a:p>
          <a:p>
            <a:pPr algn="ctr">
              <a:lnSpc>
                <a:spcPts val="4726"/>
              </a:lnSpc>
            </a:pPr>
            <a:r>
              <a:rPr lang="en-US" sz="3938">
                <a:solidFill>
                  <a:srgbClr val="000000"/>
                </a:solidFill>
                <a:latin typeface="Open Sauce"/>
                <a:ea typeface="Open Sauce"/>
                <a:cs typeface="Open Sauce"/>
                <a:sym typeface="Open Sauce"/>
              </a:rPr>
              <a:t>Can you generate all the descriptors for all the SMILES in the dataframe - output this to a new file</a:t>
            </a:r>
          </a:p>
          <a:p>
            <a:pPr algn="ctr">
              <a:lnSpc>
                <a:spcPts val="4726"/>
              </a:lnSpc>
            </a:pPr>
          </a:p>
          <a:p>
            <a:pPr algn="ctr">
              <a:lnSpc>
                <a:spcPts val="4726"/>
              </a:lnSpc>
            </a:pPr>
            <a:r>
              <a:rPr lang="en-US" sz="3938">
                <a:solidFill>
                  <a:srgbClr val="000000"/>
                </a:solidFill>
                <a:latin typeface="Open Sauce"/>
                <a:ea typeface="Open Sauce"/>
                <a:cs typeface="Open Sauce"/>
                <a:sym typeface="Open Sauce"/>
              </a:rPr>
              <a:t>Explore the scikit learn libary - can you model solubility?</a:t>
            </a:r>
          </a:p>
        </p:txBody>
      </p:sp>
      <p:sp>
        <p:nvSpPr>
          <p:cNvPr name="TextBox 7" id="7"/>
          <p:cNvSpPr txBox="true"/>
          <p:nvPr/>
        </p:nvSpPr>
        <p:spPr>
          <a:xfrm rot="0">
            <a:off x="4966375" y="1947795"/>
            <a:ext cx="8355249" cy="658492"/>
          </a:xfrm>
          <a:prstGeom prst="rect">
            <a:avLst/>
          </a:prstGeom>
        </p:spPr>
        <p:txBody>
          <a:bodyPr anchor="t" rtlCol="false" tIns="0" lIns="0" bIns="0" rIns="0">
            <a:spAutoFit/>
          </a:bodyPr>
          <a:lstStyle/>
          <a:p>
            <a:pPr algn="ctr">
              <a:lnSpc>
                <a:spcPts val="5059"/>
              </a:lnSpc>
              <a:spcBef>
                <a:spcPct val="0"/>
              </a:spcBef>
            </a:pPr>
            <a:r>
              <a:rPr lang="en-US" b="true" sz="4599" spc="147" u="sng">
                <a:solidFill>
                  <a:srgbClr val="000000"/>
                </a:solidFill>
                <a:latin typeface="Open Sauce Bold"/>
                <a:ea typeface="Open Sauce Bold"/>
                <a:cs typeface="Open Sauce Bold"/>
                <a:sym typeface="Open Sauce Bold"/>
              </a:rPr>
              <a:t>Some project ideas</a:t>
            </a:r>
          </a:p>
        </p:txBody>
      </p:sp>
      <p:sp>
        <p:nvSpPr>
          <p:cNvPr name="Freeform 8" id="8"/>
          <p:cNvSpPr/>
          <p:nvPr/>
        </p:nvSpPr>
        <p:spPr>
          <a:xfrm flipH="false" flipV="false" rot="0">
            <a:off x="14449351" y="-647706"/>
            <a:ext cx="4202802" cy="2362325"/>
          </a:xfrm>
          <a:custGeom>
            <a:avLst/>
            <a:gdLst/>
            <a:ahLst/>
            <a:cxnLst/>
            <a:rect r="r" b="b" t="t" l="l"/>
            <a:pathLst>
              <a:path h="2362325" w="4202802">
                <a:moveTo>
                  <a:pt x="0" y="0"/>
                </a:moveTo>
                <a:lnTo>
                  <a:pt x="4202802" y="0"/>
                </a:lnTo>
                <a:lnTo>
                  <a:pt x="4202802" y="2362326"/>
                </a:lnTo>
                <a:lnTo>
                  <a:pt x="0" y="2362326"/>
                </a:lnTo>
                <a:lnTo>
                  <a:pt x="0" y="0"/>
                </a:lnTo>
                <a:close/>
              </a:path>
            </a:pathLst>
          </a:custGeom>
          <a:blipFill>
            <a:blip r:embed="rId5">
              <a:alphaModFix amt="37000"/>
            </a:blip>
            <a:stretch>
              <a:fillRect l="0" t="0" r="0" b="0"/>
            </a:stretch>
          </a:blipFill>
        </p:spPr>
      </p:sp>
    </p:spTree>
  </p:cSld>
  <p:clrMapOvr>
    <a:masterClrMapping/>
  </p:clrMapOvr>
</p:sld>
</file>

<file path=ppt/slides/slide103.xml><?xml version="1.0" encoding="utf-8"?>
<p:sld xmlns:p="http://schemas.openxmlformats.org/presentationml/2006/main" xmlns:a="http://schemas.openxmlformats.org/drawingml/2006/main">
  <p:cSld>
    <p:bg>
      <p:bgPr>
        <a:solidFill>
          <a:srgbClr val="F5F5F5"/>
        </a:solidFill>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DAHKSbrlcdE</dc:identifier>
  <dcterms:modified xsi:type="dcterms:W3CDTF">2011-08-01T06:04:30Z</dcterms:modified>
  <cp:revision>1</cp:revision>
  <dc:title>CICAG_python</dc:title>
</cp:coreProperties>
</file>